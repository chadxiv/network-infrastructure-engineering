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y="6858000" cx="12192000"/>
  <p:notesSz cx="6858000" cy="9144000"/>
  <p:embeddedFontLst>
    <p:embeddedFont>
      <p:font typeface="Nunito"/>
      <p:regular r:id="rId31"/>
      <p:bold r:id="rId32"/>
      <p:italic r:id="rId33"/>
      <p:boldItalic r:id="rId34"/>
    </p:embeddedFont>
    <p:embeddedFont>
      <p:font typeface="Montserrat"/>
      <p:regular r:id="rId35"/>
      <p:bold r:id="rId36"/>
      <p:italic r:id="rId37"/>
      <p:boldItalic r:id="rId38"/>
    </p:embeddedFont>
    <p:embeddedFont>
      <p:font typeface="Lato"/>
      <p:regular r:id="rId39"/>
      <p:bold r:id="rId40"/>
      <p:italic r:id="rId41"/>
      <p:boldItalic r:id="rId42"/>
    </p:embeddedFont>
    <p:embeddedFont>
      <p:font typeface="Urbanist"/>
      <p:regular r:id="rId43"/>
      <p:bold r:id="rId44"/>
      <p:italic r:id="rId45"/>
      <p:boldItalic r:id="rId46"/>
    </p:embeddedFont>
    <p:embeddedFont>
      <p:font typeface="Nunito Medium"/>
      <p:regular r:id="rId47"/>
      <p:bold r:id="rId48"/>
      <p:italic r:id="rId49"/>
      <p:boldItalic r:id="rId50"/>
    </p:embeddedFont>
    <p:embeddedFont>
      <p:font typeface="Red Hat Display"/>
      <p:regular r:id="rId51"/>
      <p:bold r:id="rId52"/>
      <p:italic r:id="rId53"/>
      <p:boldItalic r:id="rId54"/>
    </p:embeddedFont>
    <p:embeddedFont>
      <p:font typeface="Roboto Mono"/>
      <p:regular r:id="rId55"/>
      <p:bold r:id="rId56"/>
      <p:italic r:id="rId57"/>
      <p:boldItalic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D9941DB-C5CA-4354-9814-030D0BF2D622}">
  <a:tblStyle styleId="{2D9941DB-C5CA-4354-9814-030D0BF2D62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ato-bold.fntdata"/><Relationship Id="rId42" Type="http://schemas.openxmlformats.org/officeDocument/2006/relationships/font" Target="fonts/Lato-boldItalic.fntdata"/><Relationship Id="rId41" Type="http://schemas.openxmlformats.org/officeDocument/2006/relationships/font" Target="fonts/Lato-italic.fntdata"/><Relationship Id="rId44" Type="http://schemas.openxmlformats.org/officeDocument/2006/relationships/font" Target="fonts/Urbanist-bold.fntdata"/><Relationship Id="rId43" Type="http://schemas.openxmlformats.org/officeDocument/2006/relationships/font" Target="fonts/Urbanist-regular.fntdata"/><Relationship Id="rId46" Type="http://schemas.openxmlformats.org/officeDocument/2006/relationships/font" Target="fonts/Urbanist-boldItalic.fntdata"/><Relationship Id="rId45" Type="http://schemas.openxmlformats.org/officeDocument/2006/relationships/font" Target="fonts/Urbanist-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NunitoMedium-bold.fntdata"/><Relationship Id="rId47" Type="http://schemas.openxmlformats.org/officeDocument/2006/relationships/font" Target="fonts/NunitoMedium-regular.fntdata"/><Relationship Id="rId49" Type="http://schemas.openxmlformats.org/officeDocument/2006/relationships/font" Target="fonts/NunitoMedium-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Nunito-regular.fntdata"/><Relationship Id="rId30" Type="http://schemas.openxmlformats.org/officeDocument/2006/relationships/slide" Target="slides/slide24.xml"/><Relationship Id="rId33" Type="http://schemas.openxmlformats.org/officeDocument/2006/relationships/font" Target="fonts/Nunito-italic.fntdata"/><Relationship Id="rId32" Type="http://schemas.openxmlformats.org/officeDocument/2006/relationships/font" Target="fonts/Nunito-bold.fntdata"/><Relationship Id="rId35" Type="http://schemas.openxmlformats.org/officeDocument/2006/relationships/font" Target="fonts/Montserrat-regular.fntdata"/><Relationship Id="rId34" Type="http://schemas.openxmlformats.org/officeDocument/2006/relationships/font" Target="fonts/Nunito-boldItalic.fntdata"/><Relationship Id="rId37" Type="http://schemas.openxmlformats.org/officeDocument/2006/relationships/font" Target="fonts/Montserrat-italic.fntdata"/><Relationship Id="rId36" Type="http://schemas.openxmlformats.org/officeDocument/2006/relationships/font" Target="fonts/Montserrat-bold.fntdata"/><Relationship Id="rId39" Type="http://schemas.openxmlformats.org/officeDocument/2006/relationships/font" Target="fonts/Lato-regular.fntdata"/><Relationship Id="rId38" Type="http://schemas.openxmlformats.org/officeDocument/2006/relationships/font" Target="fonts/Montserrat-bold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RedHatDisplay-regular.fntdata"/><Relationship Id="rId50" Type="http://schemas.openxmlformats.org/officeDocument/2006/relationships/font" Target="fonts/NunitoMedium-boldItalic.fntdata"/><Relationship Id="rId53" Type="http://schemas.openxmlformats.org/officeDocument/2006/relationships/font" Target="fonts/RedHatDisplay-italic.fntdata"/><Relationship Id="rId52" Type="http://schemas.openxmlformats.org/officeDocument/2006/relationships/font" Target="fonts/RedHatDisplay-bold.fntdata"/><Relationship Id="rId11" Type="http://schemas.openxmlformats.org/officeDocument/2006/relationships/slide" Target="slides/slide5.xml"/><Relationship Id="rId55" Type="http://schemas.openxmlformats.org/officeDocument/2006/relationships/font" Target="fonts/RobotoMono-regular.fntdata"/><Relationship Id="rId10" Type="http://schemas.openxmlformats.org/officeDocument/2006/relationships/slide" Target="slides/slide4.xml"/><Relationship Id="rId54" Type="http://schemas.openxmlformats.org/officeDocument/2006/relationships/font" Target="fonts/RedHatDisplay-boldItalic.fntdata"/><Relationship Id="rId13" Type="http://schemas.openxmlformats.org/officeDocument/2006/relationships/slide" Target="slides/slide7.xml"/><Relationship Id="rId57" Type="http://schemas.openxmlformats.org/officeDocument/2006/relationships/font" Target="fonts/RobotoMono-italic.fntdata"/><Relationship Id="rId12" Type="http://schemas.openxmlformats.org/officeDocument/2006/relationships/slide" Target="slides/slide6.xml"/><Relationship Id="rId56" Type="http://schemas.openxmlformats.org/officeDocument/2006/relationships/font" Target="fonts/RobotoMono-bold.fntdata"/><Relationship Id="rId15" Type="http://schemas.openxmlformats.org/officeDocument/2006/relationships/slide" Target="slides/slide9.xml"/><Relationship Id="rId14" Type="http://schemas.openxmlformats.org/officeDocument/2006/relationships/slide" Target="slides/slide8.xml"/><Relationship Id="rId58" Type="http://schemas.openxmlformats.org/officeDocument/2006/relationships/font" Target="fonts/RobotoMono-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990b1f0d75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“Good day everyone. We are presenting our final network design for MotorPH. This network was developed to support multiple departments, enable secure communication, and provide a scalable foundation for future expansion.”</a:t>
            </a:r>
            <a:endParaRPr/>
          </a:p>
        </p:txBody>
      </p:sp>
      <p:sp>
        <p:nvSpPr>
          <p:cNvPr id="82" name="Google Shape;82;g3990b1f0d75_0_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990b1f0d75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g3990b1f0d75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990b1f0d75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g3990b1f0d75_0_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“This project demonstrates a complete end-to-end network design using a Core–Access architecture.</a:t>
            </a:r>
            <a:endParaRPr/>
          </a:p>
          <a:p>
            <a:pPr indent="0" lvl="0" marL="0" rtl="0" algn="l">
              <a:spcBef>
                <a:spcPts val="0"/>
              </a:spcBef>
              <a:spcAft>
                <a:spcPts val="0"/>
              </a:spcAft>
              <a:buClr>
                <a:schemeClr val="dk1"/>
              </a:buClr>
              <a:buSzPts val="1100"/>
              <a:buFont typeface="Arial"/>
              <a:buNone/>
            </a:pPr>
            <a:r>
              <a:rPr lang="en-US"/>
              <a:t>We implemented VLAN segmentation for security, a Layer 3 Core Switch for inter-VLAN routing, and a structured hierarchical layout to maintain performance and manageability.</a:t>
            </a:r>
            <a:endParaRPr/>
          </a:p>
          <a:p>
            <a:pPr indent="0" lvl="0" marL="0" rtl="0" algn="l">
              <a:spcBef>
                <a:spcPts val="0"/>
              </a:spcBef>
              <a:spcAft>
                <a:spcPts val="0"/>
              </a:spcAft>
              <a:buNone/>
            </a:pPr>
            <a:r>
              <a:rPr lang="en-US"/>
              <a:t>The final network has been fully tested in Packet Tracer, and all connectivity requirements were met.”</a:t>
            </a:r>
            <a:endParaRPr/>
          </a:p>
        </p:txBody>
      </p:sp>
      <p:sp>
        <p:nvSpPr>
          <p:cNvPr id="120" name="Google Shape;12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990c6db270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“This project demonstrates a complete end-to-end network design using a Core–Access architecture.</a:t>
            </a:r>
            <a:endParaRPr/>
          </a:p>
          <a:p>
            <a:pPr indent="0" lvl="0" marL="0" rtl="0" algn="l">
              <a:spcBef>
                <a:spcPts val="0"/>
              </a:spcBef>
              <a:spcAft>
                <a:spcPts val="0"/>
              </a:spcAft>
              <a:buClr>
                <a:schemeClr val="dk1"/>
              </a:buClr>
              <a:buSzPts val="1100"/>
              <a:buFont typeface="Arial"/>
              <a:buNone/>
            </a:pPr>
            <a:r>
              <a:rPr lang="en-US"/>
              <a:t>We implemented VLAN segmentation for security, a Layer 3 Core Switch for inter-VLAN routing, and a structured hierarchical layout to maintain performance and manageability.</a:t>
            </a:r>
            <a:endParaRPr/>
          </a:p>
          <a:p>
            <a:pPr indent="0" lvl="0" marL="0" rtl="0" algn="l">
              <a:spcBef>
                <a:spcPts val="0"/>
              </a:spcBef>
              <a:spcAft>
                <a:spcPts val="0"/>
              </a:spcAft>
              <a:buNone/>
            </a:pPr>
            <a:r>
              <a:rPr lang="en-US"/>
              <a:t>The final network has been fully tested in Packet Tracer, and all connectivity requirements were met.”</a:t>
            </a:r>
            <a:endParaRPr/>
          </a:p>
        </p:txBody>
      </p:sp>
      <p:sp>
        <p:nvSpPr>
          <p:cNvPr id="129" name="Google Shape;129;g3990c6db270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a0751abda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“We selected a Layer 3 switched design because the organization needs both segmentation and controlled connectivity.</a:t>
            </a:r>
            <a:endParaRPr/>
          </a:p>
          <a:p>
            <a:pPr indent="0" lvl="0" marL="0" rtl="0" algn="l">
              <a:spcBef>
                <a:spcPts val="0"/>
              </a:spcBef>
              <a:spcAft>
                <a:spcPts val="0"/>
              </a:spcAft>
              <a:buClr>
                <a:schemeClr val="dk1"/>
              </a:buClr>
              <a:buSzPts val="1100"/>
              <a:buFont typeface="Arial"/>
              <a:buNone/>
            </a:pPr>
            <a:r>
              <a:rPr lang="en-US"/>
              <a:t>Scalability, performance, and future growth were key considerations.</a:t>
            </a:r>
            <a:endParaRPr/>
          </a:p>
          <a:p>
            <a:pPr indent="0" lvl="0" marL="0" rtl="0" algn="l">
              <a:spcBef>
                <a:spcPts val="0"/>
              </a:spcBef>
              <a:spcAft>
                <a:spcPts val="0"/>
              </a:spcAft>
              <a:buNone/>
            </a:pPr>
            <a:r>
              <a:rPr lang="en-US"/>
              <a:t>VLANs isolate departments, and the Core Switch acts as the routing point, so communication only occurs where allowed.”</a:t>
            </a:r>
            <a:endParaRPr/>
          </a:p>
        </p:txBody>
      </p:sp>
      <p:sp>
        <p:nvSpPr>
          <p:cNvPr id="138" name="Google Shape;138;g3a0751abda0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“We used a hierarchical star topology.</a:t>
            </a:r>
            <a:endParaRPr/>
          </a:p>
          <a:p>
            <a:pPr indent="0" lvl="0" marL="0" rtl="0" algn="l">
              <a:spcBef>
                <a:spcPts val="0"/>
              </a:spcBef>
              <a:spcAft>
                <a:spcPts val="0"/>
              </a:spcAft>
              <a:buClr>
                <a:schemeClr val="dk1"/>
              </a:buClr>
              <a:buSzPts val="1100"/>
              <a:buFont typeface="Arial"/>
              <a:buNone/>
            </a:pPr>
            <a:r>
              <a:rPr lang="en-US"/>
              <a:t>All end devices connect to departmental Access Switches, and those switches connect to the Core Switch.</a:t>
            </a:r>
            <a:endParaRPr/>
          </a:p>
          <a:p>
            <a:pPr indent="0" lvl="0" marL="0" rtl="0" algn="l">
              <a:spcBef>
                <a:spcPts val="0"/>
              </a:spcBef>
              <a:spcAft>
                <a:spcPts val="0"/>
              </a:spcAft>
              <a:buNone/>
            </a:pPr>
            <a:r>
              <a:rPr lang="en-US"/>
              <a:t>This makes the network easier to expand and troubleshoot, because each department is handled as a separate block.”</a:t>
            </a:r>
            <a:endParaRPr/>
          </a:p>
        </p:txBody>
      </p:sp>
      <p:sp>
        <p:nvSpPr>
          <p:cNvPr id="149" name="Google Shape;149;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9f54da3523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“Here we can see the main components.</a:t>
            </a:r>
            <a:endParaRPr/>
          </a:p>
          <a:p>
            <a:pPr indent="0" lvl="0" marL="0" rtl="0" algn="l">
              <a:spcBef>
                <a:spcPts val="0"/>
              </a:spcBef>
              <a:spcAft>
                <a:spcPts val="0"/>
              </a:spcAft>
              <a:buClr>
                <a:schemeClr val="dk1"/>
              </a:buClr>
              <a:buSzPts val="1100"/>
              <a:buFont typeface="Arial"/>
              <a:buNone/>
            </a:pPr>
            <a:r>
              <a:rPr lang="en-US"/>
              <a:t>The Core Switch provides routing and DHCP services.</a:t>
            </a:r>
            <a:endParaRPr/>
          </a:p>
          <a:p>
            <a:pPr indent="0" lvl="0" marL="0" rtl="0" algn="l">
              <a:spcBef>
                <a:spcPts val="0"/>
              </a:spcBef>
              <a:spcAft>
                <a:spcPts val="0"/>
              </a:spcAft>
              <a:buNone/>
            </a:pPr>
            <a:r>
              <a:rPr lang="en-US"/>
              <a:t>The Access Switches provide device connectivity, and the Edge Router is responsible for external connectivity.”</a:t>
            </a:r>
            <a:endParaRPr/>
          </a:p>
        </p:txBody>
      </p:sp>
      <p:sp>
        <p:nvSpPr>
          <p:cNvPr id="161" name="Google Shape;161;g39f54da3523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98bcdc0f70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“The Core Switch handles routing between VLANs.</a:t>
            </a:r>
            <a:endParaRPr/>
          </a:p>
          <a:p>
            <a:pPr indent="0" lvl="0" marL="0" rtl="0" algn="l">
              <a:spcBef>
                <a:spcPts val="0"/>
              </a:spcBef>
              <a:spcAft>
                <a:spcPts val="0"/>
              </a:spcAft>
              <a:buClr>
                <a:schemeClr val="dk1"/>
              </a:buClr>
              <a:buSzPts val="1100"/>
              <a:buFont typeface="Arial"/>
              <a:buNone/>
            </a:pPr>
            <a:r>
              <a:rPr lang="en-US"/>
              <a:t>The Router acts as the main gateway for traffic leaving the network.</a:t>
            </a:r>
            <a:endParaRPr/>
          </a:p>
          <a:p>
            <a:pPr indent="0" lvl="0" marL="0" rtl="0" algn="l">
              <a:spcBef>
                <a:spcPts val="0"/>
              </a:spcBef>
              <a:spcAft>
                <a:spcPts val="0"/>
              </a:spcAft>
              <a:buNone/>
            </a:pPr>
            <a:r>
              <a:rPr lang="en-US"/>
              <a:t>This division allows internal routing to stay fast and hardware-based, while WAN routing is controlled and secured.”</a:t>
            </a:r>
            <a:endParaRPr/>
          </a:p>
        </p:txBody>
      </p:sp>
      <p:sp>
        <p:nvSpPr>
          <p:cNvPr id="171" name="Google Shape;171;g398bcdc0f70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“Each department is assigned its own VLAN and subnet.</a:t>
            </a:r>
            <a:endParaRPr/>
          </a:p>
          <a:p>
            <a:pPr indent="0" lvl="0" marL="0" rtl="0" algn="l">
              <a:spcBef>
                <a:spcPts val="0"/>
              </a:spcBef>
              <a:spcAft>
                <a:spcPts val="0"/>
              </a:spcAft>
              <a:buClr>
                <a:schemeClr val="dk1"/>
              </a:buClr>
              <a:buSzPts val="1100"/>
              <a:buFont typeface="Arial"/>
              <a:buNone/>
            </a:pPr>
            <a:r>
              <a:rPr lang="en-US"/>
              <a:t>This reduces broadcast traffic and keeps departmental traffic separated.</a:t>
            </a:r>
            <a:endParaRPr/>
          </a:p>
          <a:p>
            <a:pPr indent="0" lvl="0" marL="0" rtl="0" algn="l">
              <a:spcBef>
                <a:spcPts val="0"/>
              </a:spcBef>
              <a:spcAft>
                <a:spcPts val="0"/>
              </a:spcAft>
              <a:buNone/>
            </a:pPr>
            <a:r>
              <a:rPr lang="en-US"/>
              <a:t>Inter-VLAN routing happens at the Core Switch using SVIs, allowing authorized inter-department communication.”</a:t>
            </a:r>
            <a:endParaRPr/>
          </a:p>
        </p:txBody>
      </p:sp>
      <p:sp>
        <p:nvSpPr>
          <p:cNvPr id="185" name="Google Shape;18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“Each department has its own Access Switch.</a:t>
            </a:r>
            <a:endParaRPr/>
          </a:p>
          <a:p>
            <a:pPr indent="0" lvl="0" marL="0" rtl="0" algn="l">
              <a:spcBef>
                <a:spcPts val="0"/>
              </a:spcBef>
              <a:spcAft>
                <a:spcPts val="0"/>
              </a:spcAft>
              <a:buClr>
                <a:schemeClr val="dk1"/>
              </a:buClr>
              <a:buSzPts val="1100"/>
              <a:buFont typeface="Arial"/>
              <a:buNone/>
            </a:pPr>
            <a:r>
              <a:rPr lang="en-US"/>
              <a:t>Devices within the same VLAN communicate locally at Layer 2.</a:t>
            </a:r>
            <a:endParaRPr/>
          </a:p>
          <a:p>
            <a:pPr indent="0" lvl="0" marL="0" rtl="0" algn="l">
              <a:spcBef>
                <a:spcPts val="0"/>
              </a:spcBef>
              <a:spcAft>
                <a:spcPts val="0"/>
              </a:spcAft>
              <a:buClr>
                <a:schemeClr val="dk1"/>
              </a:buClr>
              <a:buSzPts val="1100"/>
              <a:buFont typeface="Arial"/>
              <a:buNone/>
            </a:pPr>
            <a:r>
              <a:rPr lang="en-US"/>
              <a:t>Only when communication is needed across departments does traffic go to the Core Layer 3 switch.</a:t>
            </a:r>
            <a:endParaRPr/>
          </a:p>
          <a:p>
            <a:pPr indent="0" lvl="0" marL="0" rtl="0" algn="l">
              <a:spcBef>
                <a:spcPts val="0"/>
              </a:spcBef>
              <a:spcAft>
                <a:spcPts val="0"/>
              </a:spcAft>
              <a:buNone/>
            </a:pPr>
            <a:r>
              <a:rPr lang="en-US"/>
              <a:t>This reduces unnecessary load and improves performance.”</a:t>
            </a:r>
            <a:endParaRPr/>
          </a:p>
        </p:txBody>
      </p:sp>
      <p:sp>
        <p:nvSpPr>
          <p:cNvPr id="194" name="Google Shape;19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“VLAN segmentation provides security by restricting traffic, improves performance by containing broadcasts, and simplifies network policy management.</a:t>
            </a:r>
            <a:endParaRPr/>
          </a:p>
          <a:p>
            <a:pPr indent="0" lvl="0" marL="0" rtl="0" algn="l">
              <a:spcBef>
                <a:spcPts val="0"/>
              </a:spcBef>
              <a:spcAft>
                <a:spcPts val="0"/>
              </a:spcAft>
              <a:buNone/>
            </a:pPr>
            <a:r>
              <a:rPr lang="en-US"/>
              <a:t>We can apply rules per department from the Core instead of configuring individual devices.”</a:t>
            </a:r>
            <a:endParaRPr/>
          </a:p>
        </p:txBody>
      </p:sp>
      <p:sp>
        <p:nvSpPr>
          <p:cNvPr id="210" name="Google Shape;21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“Printers remain local to each department for convenience.</a:t>
            </a:r>
            <a:endParaRPr/>
          </a:p>
          <a:p>
            <a:pPr indent="0" lvl="0" marL="0" rtl="0" algn="l">
              <a:spcBef>
                <a:spcPts val="0"/>
              </a:spcBef>
              <a:spcAft>
                <a:spcPts val="0"/>
              </a:spcAft>
              <a:buClr>
                <a:schemeClr val="dk1"/>
              </a:buClr>
              <a:buSzPts val="1100"/>
              <a:buFont typeface="Arial"/>
              <a:buNone/>
            </a:pPr>
            <a:r>
              <a:rPr lang="en-US"/>
              <a:t>Internet access is centralized and controlled through the Edge Router.</a:t>
            </a:r>
            <a:endParaRPr/>
          </a:p>
          <a:p>
            <a:pPr indent="0" lvl="0" marL="0" rtl="0" algn="l">
              <a:spcBef>
                <a:spcPts val="0"/>
              </a:spcBef>
              <a:spcAft>
                <a:spcPts val="0"/>
              </a:spcAft>
              <a:buNone/>
            </a:pPr>
            <a:r>
              <a:rPr lang="en-US"/>
              <a:t>The Core Switch runs DHCP, allowing devices to auto-configure their IP addresses with no manual setup required.”</a:t>
            </a:r>
            <a:endParaRPr/>
          </a:p>
        </p:txBody>
      </p:sp>
      <p:sp>
        <p:nvSpPr>
          <p:cNvPr id="230" name="Google Shape;23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“The solution grows smoothly by adding switches or devices.</a:t>
            </a:r>
            <a:endParaRPr/>
          </a:p>
          <a:p>
            <a:pPr indent="0" lvl="0" marL="0" rtl="0" algn="l">
              <a:spcBef>
                <a:spcPts val="0"/>
              </a:spcBef>
              <a:spcAft>
                <a:spcPts val="0"/>
              </a:spcAft>
              <a:buClr>
                <a:schemeClr val="dk1"/>
              </a:buClr>
              <a:buSzPts val="1100"/>
              <a:buFont typeface="Arial"/>
              <a:buNone/>
            </a:pPr>
            <a:r>
              <a:rPr lang="en-US"/>
              <a:t>Performance is stable due to traffic segmentation.</a:t>
            </a:r>
            <a:endParaRPr/>
          </a:p>
          <a:p>
            <a:pPr indent="0" lvl="0" marL="0" rtl="0" algn="l">
              <a:spcBef>
                <a:spcPts val="0"/>
              </a:spcBef>
              <a:spcAft>
                <a:spcPts val="0"/>
              </a:spcAft>
              <a:buClr>
                <a:schemeClr val="dk1"/>
              </a:buClr>
              <a:buSzPts val="1100"/>
              <a:buFont typeface="Arial"/>
              <a:buNone/>
            </a:pPr>
            <a:r>
              <a:rPr lang="en-US"/>
              <a:t>Troubleshooting is simplified because issues stay contained to one VLAN or switch.</a:t>
            </a:r>
            <a:endParaRPr/>
          </a:p>
          <a:p>
            <a:pPr indent="0" lvl="0" marL="0" rtl="0" algn="l">
              <a:spcBef>
                <a:spcPts val="0"/>
              </a:spcBef>
              <a:spcAft>
                <a:spcPts val="0"/>
              </a:spcAft>
              <a:buNone/>
            </a:pPr>
            <a:r>
              <a:rPr lang="en-US"/>
              <a:t>Security is built-in through logical separation.”</a:t>
            </a:r>
            <a:endParaRPr/>
          </a:p>
        </p:txBody>
      </p:sp>
      <p:sp>
        <p:nvSpPr>
          <p:cNvPr id="250" name="Google Shape;250;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“This network is not only functional—it is engineered for future improvements.</a:t>
            </a:r>
            <a:endParaRPr/>
          </a:p>
          <a:p>
            <a:pPr indent="0" lvl="0" marL="0" rtl="0" algn="l">
              <a:spcBef>
                <a:spcPts val="0"/>
              </a:spcBef>
              <a:spcAft>
                <a:spcPts val="0"/>
              </a:spcAft>
              <a:buNone/>
            </a:pPr>
            <a:r>
              <a:rPr lang="en-US"/>
              <a:t>We can add redundancy, security appliances, wireless networks, or monitoring systems without redesigning from scratch.”</a:t>
            </a:r>
            <a:endParaRPr/>
          </a:p>
        </p:txBody>
      </p:sp>
      <p:sp>
        <p:nvSpPr>
          <p:cNvPr id="266" name="Google Shape;266;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9f6d8da81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g39f6d8da811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9f6d8da811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t>“We validated the network with three key tests:</a:t>
            </a:r>
            <a:endParaRPr/>
          </a:p>
          <a:p>
            <a:pPr indent="-298450" lvl="0" marL="457200" rtl="0" algn="l">
              <a:lnSpc>
                <a:spcPct val="115000"/>
              </a:lnSpc>
              <a:spcBef>
                <a:spcPts val="1200"/>
              </a:spcBef>
              <a:spcAft>
                <a:spcPts val="0"/>
              </a:spcAft>
              <a:buClr>
                <a:schemeClr val="dk1"/>
              </a:buClr>
              <a:buSzPts val="1100"/>
              <a:buAutoNum type="arabicPeriod"/>
            </a:pPr>
            <a:r>
              <a:rPr lang="en-US"/>
              <a:t>Local VLAN communication</a:t>
            </a:r>
            <a:br>
              <a:rPr lang="en-US"/>
            </a:br>
            <a:endParaRPr/>
          </a:p>
          <a:p>
            <a:pPr indent="-298450" lvl="0" marL="457200" rtl="0" algn="l">
              <a:lnSpc>
                <a:spcPct val="115000"/>
              </a:lnSpc>
              <a:spcBef>
                <a:spcPts val="0"/>
              </a:spcBef>
              <a:spcAft>
                <a:spcPts val="0"/>
              </a:spcAft>
              <a:buClr>
                <a:schemeClr val="dk1"/>
              </a:buClr>
              <a:buSzPts val="1100"/>
              <a:buAutoNum type="arabicPeriod"/>
            </a:pPr>
            <a:r>
              <a:rPr lang="en-US"/>
              <a:t>Inter-VLAN routing</a:t>
            </a:r>
            <a:br>
              <a:rPr lang="en-US"/>
            </a:br>
            <a:endParaRPr/>
          </a:p>
          <a:p>
            <a:pPr indent="-298450" lvl="0" marL="457200" rtl="0" algn="l">
              <a:lnSpc>
                <a:spcPct val="115000"/>
              </a:lnSpc>
              <a:spcBef>
                <a:spcPts val="0"/>
              </a:spcBef>
              <a:spcAft>
                <a:spcPts val="0"/>
              </a:spcAft>
              <a:buClr>
                <a:schemeClr val="dk1"/>
              </a:buClr>
              <a:buSzPts val="1100"/>
              <a:buAutoNum type="arabicPeriod"/>
            </a:pPr>
            <a:r>
              <a:rPr lang="en-US"/>
              <a:t>External connectivity through the router</a:t>
            </a:r>
            <a:br>
              <a:rPr lang="en-US"/>
            </a:br>
            <a:r>
              <a:rPr lang="en-US"/>
              <a:t> All tests resulted in 0% packet loss.”</a:t>
            </a:r>
            <a:endParaRPr/>
          </a:p>
        </p:txBody>
      </p:sp>
      <p:sp>
        <p:nvSpPr>
          <p:cNvPr id="283" name="Google Shape;283;g39f6d8da811_0_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98bcdc0f70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“This confirms VLAN membership and switch port configuration were done correctly.”</a:t>
            </a:r>
            <a:endParaRPr/>
          </a:p>
        </p:txBody>
      </p:sp>
      <p:sp>
        <p:nvSpPr>
          <p:cNvPr id="307" name="Google Shape;307;g398bcdc0f70_0_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98b2fccf6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81000" marR="381000" rtl="0" algn="l">
              <a:lnSpc>
                <a:spcPct val="115000"/>
              </a:lnSpc>
              <a:spcBef>
                <a:spcPts val="1200"/>
              </a:spcBef>
              <a:spcAft>
                <a:spcPts val="1200"/>
              </a:spcAft>
              <a:buNone/>
            </a:pPr>
            <a:r>
              <a:rPr lang="en-US">
                <a:solidFill>
                  <a:schemeClr val="dk1"/>
                </a:solidFill>
              </a:rPr>
              <a:t>“This confirms SVIs are correct and </a:t>
            </a:r>
            <a:r>
              <a:rPr lang="en-US">
                <a:solidFill>
                  <a:srgbClr val="188038"/>
                </a:solidFill>
                <a:latin typeface="Roboto Mono"/>
                <a:ea typeface="Roboto Mono"/>
                <a:cs typeface="Roboto Mono"/>
                <a:sym typeface="Roboto Mono"/>
              </a:rPr>
              <a:t>ip routing</a:t>
            </a:r>
            <a:r>
              <a:rPr lang="en-US">
                <a:solidFill>
                  <a:schemeClr val="dk1"/>
                </a:solidFill>
              </a:rPr>
              <a:t> is functioning properly on the Core-SW.”</a:t>
            </a:r>
            <a:endParaRPr/>
          </a:p>
        </p:txBody>
      </p:sp>
      <p:sp>
        <p:nvSpPr>
          <p:cNvPr id="315" name="Google Shape;315;g398b2fccf68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98b2fccf68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81000" marR="381000" rtl="0" algn="l">
              <a:lnSpc>
                <a:spcPct val="115000"/>
              </a:lnSpc>
              <a:spcBef>
                <a:spcPts val="1200"/>
              </a:spcBef>
              <a:spcAft>
                <a:spcPts val="1200"/>
              </a:spcAft>
              <a:buNone/>
            </a:pPr>
            <a:r>
              <a:rPr lang="en-US"/>
              <a:t>“This validates our default route configuration and confirms the full routing path to external networks.”</a:t>
            </a:r>
            <a:endParaRPr/>
          </a:p>
        </p:txBody>
      </p:sp>
      <p:sp>
        <p:nvSpPr>
          <p:cNvPr id="325" name="Google Shape;325;g398b2fccf68_0_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98b2fccf68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“Each VLAN successfully receives unique IP assignments from the Core Switch.</a:t>
            </a:r>
            <a:endParaRPr/>
          </a:p>
          <a:p>
            <a:pPr indent="0" lvl="0" marL="0" rtl="0" algn="l">
              <a:spcBef>
                <a:spcPts val="0"/>
              </a:spcBef>
              <a:spcAft>
                <a:spcPts val="0"/>
              </a:spcAft>
              <a:buNone/>
            </a:pPr>
            <a:r>
              <a:rPr lang="en-US"/>
              <a:t>This proves the trunks carry VLAN tags correctly and DHCP pools are configured properly.”</a:t>
            </a:r>
            <a:endParaRPr/>
          </a:p>
        </p:txBody>
      </p:sp>
      <p:sp>
        <p:nvSpPr>
          <p:cNvPr id="334" name="Google Shape;334;g398b2fccf68_0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9f6d8da811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g39f6d8da811_0_8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98b2fccf68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rPr>
              <a:t>“Most issues came from missing VLAN entries and misconfigured trunk ports.</a:t>
            </a:r>
            <a:endParaRPr>
              <a:solidFill>
                <a:schemeClr val="dk1"/>
              </a:solidFill>
            </a:endParaRPr>
          </a:p>
          <a:p>
            <a:pPr indent="0" lvl="0" marL="0" rtl="0" algn="l">
              <a:spcBef>
                <a:spcPts val="0"/>
              </a:spcBef>
              <a:spcAft>
                <a:spcPts val="0"/>
              </a:spcAft>
              <a:buNone/>
            </a:pPr>
            <a:r>
              <a:rPr lang="en-US">
                <a:solidFill>
                  <a:schemeClr val="dk1"/>
                </a:solidFill>
              </a:rPr>
              <a:t>Using structured troubleshooting allowed us to isolate root causes quickly using show commands such as </a:t>
            </a:r>
            <a:r>
              <a:rPr lang="en-US">
                <a:solidFill>
                  <a:srgbClr val="188038"/>
                </a:solidFill>
                <a:latin typeface="Roboto Mono"/>
                <a:ea typeface="Roboto Mono"/>
                <a:cs typeface="Roboto Mono"/>
                <a:sym typeface="Roboto Mono"/>
              </a:rPr>
              <a:t>show vlan brief</a:t>
            </a:r>
            <a:r>
              <a:rPr lang="en-US">
                <a:solidFill>
                  <a:schemeClr val="dk1"/>
                </a:solidFill>
              </a:rPr>
              <a:t> and </a:t>
            </a:r>
            <a:r>
              <a:rPr lang="en-US">
                <a:solidFill>
                  <a:srgbClr val="188038"/>
                </a:solidFill>
                <a:latin typeface="Roboto Mono"/>
                <a:ea typeface="Roboto Mono"/>
                <a:cs typeface="Roboto Mono"/>
                <a:sym typeface="Roboto Mono"/>
              </a:rPr>
              <a:t>show ip route</a:t>
            </a:r>
            <a:r>
              <a:rPr lang="en-US">
                <a:solidFill>
                  <a:schemeClr val="dk1"/>
                </a:solidFill>
              </a:rPr>
              <a:t>.”</a:t>
            </a:r>
            <a:endParaRPr/>
          </a:p>
        </p:txBody>
      </p:sp>
      <p:sp>
        <p:nvSpPr>
          <p:cNvPr id="350" name="Google Shape;350;g398b2fccf68_0_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9f6d8da811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81000" marR="381000" rtl="0" algn="l">
              <a:lnSpc>
                <a:spcPct val="115000"/>
              </a:lnSpc>
              <a:spcBef>
                <a:spcPts val="1200"/>
              </a:spcBef>
              <a:spcAft>
                <a:spcPts val="1200"/>
              </a:spcAft>
              <a:buNone/>
            </a:pPr>
            <a:r>
              <a:rPr lang="en-US"/>
              <a:t>“Thank you for listening. “</a:t>
            </a:r>
            <a:endParaRPr/>
          </a:p>
        </p:txBody>
      </p:sp>
      <p:sp>
        <p:nvSpPr>
          <p:cNvPr id="358" name="Google Shape;358;g39f6d8da811_0_1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4.jp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6.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 Id="rId6"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25.png"/><Relationship Id="rId5" Type="http://schemas.openxmlformats.org/officeDocument/2006/relationships/image" Target="../media/image13.png"/><Relationship Id="rId6"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21.png"/><Relationship Id="rId6"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11.png"/><Relationship Id="rId10" Type="http://schemas.openxmlformats.org/officeDocument/2006/relationships/image" Target="../media/image1.png"/><Relationship Id="rId9" Type="http://schemas.openxmlformats.org/officeDocument/2006/relationships/image" Target="../media/image15.png"/><Relationship Id="rId5" Type="http://schemas.openxmlformats.org/officeDocument/2006/relationships/image" Target="../media/image27.png"/><Relationship Id="rId6" Type="http://schemas.openxmlformats.org/officeDocument/2006/relationships/image" Target="../media/image35.png"/><Relationship Id="rId7" Type="http://schemas.openxmlformats.org/officeDocument/2006/relationships/image" Target="../media/image12.png"/><Relationship Id="rId8" Type="http://schemas.openxmlformats.org/officeDocument/2006/relationships/image" Target="../media/image3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26.png"/><Relationship Id="rId10" Type="http://schemas.openxmlformats.org/officeDocument/2006/relationships/image" Target="../media/image1.png"/><Relationship Id="rId9" Type="http://schemas.openxmlformats.org/officeDocument/2006/relationships/image" Target="../media/image22.jpg"/><Relationship Id="rId5" Type="http://schemas.openxmlformats.org/officeDocument/2006/relationships/image" Target="../media/image19.png"/><Relationship Id="rId6" Type="http://schemas.openxmlformats.org/officeDocument/2006/relationships/image" Target="../media/image17.png"/><Relationship Id="rId7" Type="http://schemas.openxmlformats.org/officeDocument/2006/relationships/image" Target="../media/image10.jpg"/><Relationship Id="rId8" Type="http://schemas.openxmlformats.org/officeDocument/2006/relationships/image" Target="../media/image2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18.png"/><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image" Target="../media/image20.png"/><Relationship Id="rId8"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8.jp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8.jp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png"/><Relationship Id="rId4" Type="http://schemas.openxmlformats.org/officeDocument/2006/relationships/image" Target="../media/image11.png"/><Relationship Id="rId10" Type="http://schemas.openxmlformats.org/officeDocument/2006/relationships/image" Target="../media/image1.png"/><Relationship Id="rId9" Type="http://schemas.openxmlformats.org/officeDocument/2006/relationships/image" Target="../media/image23.jpg"/><Relationship Id="rId5" Type="http://schemas.openxmlformats.org/officeDocument/2006/relationships/image" Target="../media/image27.png"/><Relationship Id="rId6" Type="http://schemas.openxmlformats.org/officeDocument/2006/relationships/image" Target="../media/image35.png"/><Relationship Id="rId7" Type="http://schemas.openxmlformats.org/officeDocument/2006/relationships/image" Target="../media/image32.jpg"/><Relationship Id="rId8" Type="http://schemas.openxmlformats.org/officeDocument/2006/relationships/image" Target="../media/image33.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7.pn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png"/><Relationship Id="rId4" Type="http://schemas.openxmlformats.org/officeDocument/2006/relationships/image" Target="../media/image39.png"/><Relationship Id="rId5"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4.png"/><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4.png"/><Relationship Id="rId4" Type="http://schemas.openxmlformats.org/officeDocument/2006/relationships/image" Target="../media/image31.png"/><Relationship Id="rId5"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4.png"/><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4.jp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3" name="Shape 83"/>
        <p:cNvGrpSpPr/>
        <p:nvPr/>
      </p:nvGrpSpPr>
      <p:grpSpPr>
        <a:xfrm>
          <a:off x="0" y="0"/>
          <a:ext cx="0" cy="0"/>
          <a:chOff x="0" y="0"/>
          <a:chExt cx="0" cy="0"/>
        </a:xfrm>
      </p:grpSpPr>
      <p:pic>
        <p:nvPicPr>
          <p:cNvPr id="84" name="Google Shape;84;p13"/>
          <p:cNvPicPr preferRelativeResize="0"/>
          <p:nvPr/>
        </p:nvPicPr>
        <p:blipFill rotWithShape="1">
          <a:blip r:embed="rId3">
            <a:alphaModFix amt="6000"/>
          </a:blip>
          <a:srcRect b="0" l="0" r="0" t="0"/>
          <a:stretch/>
        </p:blipFill>
        <p:spPr>
          <a:xfrm>
            <a:off x="0" y="0"/>
            <a:ext cx="12192000" cy="6858001"/>
          </a:xfrm>
          <a:prstGeom prst="rect">
            <a:avLst/>
          </a:prstGeom>
          <a:noFill/>
          <a:ln>
            <a:noFill/>
          </a:ln>
        </p:spPr>
      </p:pic>
      <p:sp>
        <p:nvSpPr>
          <p:cNvPr id="85" name="Google Shape;85;p13"/>
          <p:cNvSpPr/>
          <p:nvPr/>
        </p:nvSpPr>
        <p:spPr>
          <a:xfrm>
            <a:off x="513175" y="1759050"/>
            <a:ext cx="5840700" cy="3795300"/>
          </a:xfrm>
          <a:prstGeom prst="rect">
            <a:avLst/>
          </a:prstGeom>
          <a:solidFill>
            <a:srgbClr val="1D295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13"/>
          <p:cNvSpPr txBox="1"/>
          <p:nvPr/>
        </p:nvSpPr>
        <p:spPr>
          <a:xfrm>
            <a:off x="706225" y="1981075"/>
            <a:ext cx="4399200" cy="16623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rPr b="1" i="0" lang="en-US" sz="4800" u="none" cap="none" strike="noStrike">
                <a:solidFill>
                  <a:srgbClr val="FFFFFF"/>
                </a:solidFill>
                <a:latin typeface="Red Hat Display"/>
                <a:ea typeface="Red Hat Display"/>
                <a:cs typeface="Red Hat Display"/>
                <a:sym typeface="Red Hat Display"/>
              </a:rPr>
              <a:t>Computer Networks</a:t>
            </a:r>
            <a:endParaRPr b="1" i="0" sz="4800" u="none" cap="none" strike="noStrike">
              <a:solidFill>
                <a:srgbClr val="FFFFFF"/>
              </a:solidFill>
              <a:latin typeface="Red Hat Display"/>
              <a:ea typeface="Red Hat Display"/>
              <a:cs typeface="Red Hat Display"/>
              <a:sym typeface="Red Hat Display"/>
            </a:endParaRPr>
          </a:p>
        </p:txBody>
      </p:sp>
      <p:sp>
        <p:nvSpPr>
          <p:cNvPr id="87" name="Google Shape;87;p13"/>
          <p:cNvSpPr txBox="1"/>
          <p:nvPr/>
        </p:nvSpPr>
        <p:spPr>
          <a:xfrm>
            <a:off x="752725" y="4326875"/>
            <a:ext cx="4306200" cy="40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n-US" sz="1700">
                <a:solidFill>
                  <a:srgbClr val="FFFFFF"/>
                </a:solidFill>
                <a:latin typeface="Nunito"/>
                <a:ea typeface="Nunito"/>
                <a:cs typeface="Nunito"/>
                <a:sym typeface="Nunito"/>
              </a:rPr>
              <a:t>MO-IT104 - S2101</a:t>
            </a:r>
            <a:endParaRPr sz="1700">
              <a:solidFill>
                <a:srgbClr val="FFFFFF"/>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400"/>
              <a:buFont typeface="Arial"/>
              <a:buNone/>
            </a:pPr>
            <a:r>
              <a:rPr lang="en-US" sz="1700">
                <a:solidFill>
                  <a:srgbClr val="FFFFFF"/>
                </a:solidFill>
                <a:latin typeface="Nunito"/>
                <a:ea typeface="Nunito"/>
                <a:cs typeface="Nunito"/>
                <a:sym typeface="Nunito"/>
              </a:rPr>
              <a:t>Abdullah Alhadad</a:t>
            </a:r>
            <a:endParaRPr sz="1700">
              <a:solidFill>
                <a:srgbClr val="FFFFFF"/>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400"/>
              <a:buFont typeface="Arial"/>
              <a:buNone/>
            </a:pPr>
            <a:r>
              <a:rPr lang="en-US" sz="1700">
                <a:solidFill>
                  <a:srgbClr val="FFFFFF"/>
                </a:solidFill>
                <a:latin typeface="Nunito"/>
                <a:ea typeface="Nunito"/>
                <a:cs typeface="Nunito"/>
                <a:sym typeface="Nunito"/>
              </a:rPr>
              <a:t>Richard Catorce</a:t>
            </a:r>
            <a:endParaRPr sz="1700">
              <a:solidFill>
                <a:srgbClr val="FFFFFF"/>
              </a:solidFill>
              <a:latin typeface="Nunito"/>
              <a:ea typeface="Nunito"/>
              <a:cs typeface="Nunito"/>
              <a:sym typeface="Nunito"/>
            </a:endParaRPr>
          </a:p>
        </p:txBody>
      </p:sp>
      <p:cxnSp>
        <p:nvCxnSpPr>
          <p:cNvPr id="88" name="Google Shape;88;p13"/>
          <p:cNvCxnSpPr/>
          <p:nvPr/>
        </p:nvCxnSpPr>
        <p:spPr>
          <a:xfrm flipH="1" rot="10800000">
            <a:off x="752725" y="3880350"/>
            <a:ext cx="2137800" cy="900"/>
          </a:xfrm>
          <a:prstGeom prst="straightConnector1">
            <a:avLst/>
          </a:prstGeom>
          <a:noFill/>
          <a:ln cap="flat" cmpd="sng" w="38100">
            <a:solidFill>
              <a:srgbClr val="FFFFFF"/>
            </a:solidFill>
            <a:prstDash val="solid"/>
            <a:round/>
            <a:headEnd len="sm" w="sm" type="none"/>
            <a:tailEnd len="sm" w="sm" type="none"/>
          </a:ln>
        </p:spPr>
      </p:cxnSp>
      <p:sp>
        <p:nvSpPr>
          <p:cNvPr id="89" name="Google Shape;89;p13"/>
          <p:cNvSpPr/>
          <p:nvPr/>
        </p:nvSpPr>
        <p:spPr>
          <a:xfrm>
            <a:off x="11691000" y="0"/>
            <a:ext cx="501000" cy="6858000"/>
          </a:xfrm>
          <a:prstGeom prst="rect">
            <a:avLst/>
          </a:prstGeom>
          <a:solidFill>
            <a:srgbClr val="1D295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13"/>
          <p:cNvSpPr txBox="1"/>
          <p:nvPr/>
        </p:nvSpPr>
        <p:spPr>
          <a:xfrm>
            <a:off x="9717300" y="6451000"/>
            <a:ext cx="1973700" cy="2925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700"/>
              <a:buFont typeface="Arial"/>
              <a:buNone/>
            </a:pPr>
            <a:r>
              <a:rPr b="0" i="0" lang="en-US" sz="700" u="none" cap="none" strike="noStrike">
                <a:solidFill>
                  <a:srgbClr val="1D2956"/>
                </a:solidFill>
                <a:latin typeface="Nunito"/>
                <a:ea typeface="Nunito"/>
                <a:cs typeface="Nunito"/>
                <a:sym typeface="Nunito"/>
              </a:rPr>
              <a:t>MO-IT104 Computer Networks</a:t>
            </a:r>
            <a:endParaRPr b="0" i="0" sz="700" u="none" cap="none" strike="noStrike">
              <a:solidFill>
                <a:srgbClr val="1D2956"/>
              </a:solidFill>
              <a:latin typeface="Nunito"/>
              <a:ea typeface="Nunito"/>
              <a:cs typeface="Nunito"/>
              <a:sym typeface="Nuni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4" name="Shape 94"/>
        <p:cNvGrpSpPr/>
        <p:nvPr/>
      </p:nvGrpSpPr>
      <p:grpSpPr>
        <a:xfrm>
          <a:off x="0" y="0"/>
          <a:ext cx="0" cy="0"/>
          <a:chOff x="0" y="0"/>
          <a:chExt cx="0" cy="0"/>
        </a:xfrm>
      </p:grpSpPr>
      <p:sp>
        <p:nvSpPr>
          <p:cNvPr id="95" name="Google Shape;95;p14"/>
          <p:cNvSpPr txBox="1"/>
          <p:nvPr/>
        </p:nvSpPr>
        <p:spPr>
          <a:xfrm>
            <a:off x="1511175" y="3599825"/>
            <a:ext cx="3201300" cy="16623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t/>
            </a:r>
            <a:endParaRPr b="1" sz="4300">
              <a:solidFill>
                <a:srgbClr val="FFFFFF"/>
              </a:solidFill>
              <a:latin typeface="Red Hat Display"/>
              <a:ea typeface="Red Hat Display"/>
              <a:cs typeface="Red Hat Display"/>
              <a:sym typeface="Red Hat Display"/>
            </a:endParaRPr>
          </a:p>
        </p:txBody>
      </p:sp>
      <p:cxnSp>
        <p:nvCxnSpPr>
          <p:cNvPr id="96" name="Google Shape;96;p14"/>
          <p:cNvCxnSpPr/>
          <p:nvPr/>
        </p:nvCxnSpPr>
        <p:spPr>
          <a:xfrm rot="10800000">
            <a:off x="489825" y="-20550"/>
            <a:ext cx="0" cy="2148600"/>
          </a:xfrm>
          <a:prstGeom prst="straightConnector1">
            <a:avLst/>
          </a:prstGeom>
          <a:noFill/>
          <a:ln cap="flat" cmpd="sng" w="38100">
            <a:solidFill>
              <a:srgbClr val="FFFFFF"/>
            </a:solidFill>
            <a:prstDash val="solid"/>
            <a:round/>
            <a:headEnd len="sm" w="sm" type="none"/>
            <a:tailEnd len="sm" w="sm" type="none"/>
          </a:ln>
        </p:spPr>
      </p:cxnSp>
      <p:grpSp>
        <p:nvGrpSpPr>
          <p:cNvPr id="97" name="Google Shape;97;p14"/>
          <p:cNvGrpSpPr/>
          <p:nvPr/>
        </p:nvGrpSpPr>
        <p:grpSpPr>
          <a:xfrm>
            <a:off x="4467025" y="100"/>
            <a:ext cx="7724850" cy="6857792"/>
            <a:chOff x="100" y="-20400"/>
            <a:chExt cx="3539450" cy="5184300"/>
          </a:xfrm>
        </p:grpSpPr>
        <p:sp>
          <p:nvSpPr>
            <p:cNvPr id="98" name="Google Shape;98;p14"/>
            <p:cNvSpPr/>
            <p:nvPr/>
          </p:nvSpPr>
          <p:spPr>
            <a:xfrm rot="5400000">
              <a:off x="-822350" y="802050"/>
              <a:ext cx="5184300" cy="35394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99" name="Google Shape;99;p14"/>
            <p:cNvCxnSpPr/>
            <p:nvPr/>
          </p:nvCxnSpPr>
          <p:spPr>
            <a:xfrm>
              <a:off x="338250" y="4615225"/>
              <a:ext cx="3201300" cy="0"/>
            </a:xfrm>
            <a:prstGeom prst="straightConnector1">
              <a:avLst/>
            </a:prstGeom>
            <a:noFill/>
            <a:ln cap="flat" cmpd="sng" w="9525">
              <a:solidFill>
                <a:srgbClr val="FFFFFF"/>
              </a:solidFill>
              <a:prstDash val="solid"/>
              <a:round/>
              <a:headEnd len="sm" w="sm" type="none"/>
              <a:tailEnd len="sm" w="sm" type="none"/>
            </a:ln>
          </p:spPr>
        </p:cxnSp>
      </p:grpSp>
      <p:sp>
        <p:nvSpPr>
          <p:cNvPr id="100" name="Google Shape;100;p14"/>
          <p:cNvSpPr txBox="1"/>
          <p:nvPr/>
        </p:nvSpPr>
        <p:spPr>
          <a:xfrm>
            <a:off x="4572000" y="1314825"/>
            <a:ext cx="7620000" cy="3847500"/>
          </a:xfrm>
          <a:prstGeom prst="rect">
            <a:avLst/>
          </a:prstGeom>
          <a:noFill/>
          <a:ln>
            <a:noFill/>
          </a:ln>
        </p:spPr>
        <p:txBody>
          <a:bodyPr anchorCtr="0" anchor="b"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100"/>
              <a:buFont typeface="Arial"/>
              <a:buNone/>
            </a:pPr>
            <a:r>
              <a:rPr i="0" lang="en-US" sz="1500" u="none" cap="none" strike="noStrike">
                <a:solidFill>
                  <a:srgbClr val="000000"/>
                </a:solidFill>
                <a:latin typeface="Montserrat"/>
                <a:ea typeface="Montserrat"/>
                <a:cs typeface="Montserrat"/>
                <a:sym typeface="Montserrat"/>
              </a:rPr>
              <a:t>All course materials, including </a:t>
            </a:r>
            <a:r>
              <a:rPr b="1" i="0" lang="en-US" sz="1500" u="none" cap="none" strike="noStrike">
                <a:solidFill>
                  <a:srgbClr val="000000"/>
                </a:solidFill>
                <a:latin typeface="Montserrat"/>
                <a:ea typeface="Montserrat"/>
                <a:cs typeface="Montserrat"/>
                <a:sym typeface="Montserrat"/>
              </a:rPr>
              <a:t>lectures</a:t>
            </a:r>
            <a:r>
              <a:rPr i="0" lang="en-US" sz="1500" u="none" cap="none" strike="noStrike">
                <a:solidFill>
                  <a:srgbClr val="000000"/>
                </a:solidFill>
                <a:latin typeface="Montserrat"/>
                <a:ea typeface="Montserrat"/>
                <a:cs typeface="Montserrat"/>
                <a:sym typeface="Montserrat"/>
              </a:rPr>
              <a:t>, </a:t>
            </a:r>
            <a:r>
              <a:rPr b="1" i="0" lang="en-US" sz="1500" u="none" cap="none" strike="noStrike">
                <a:solidFill>
                  <a:srgbClr val="000000"/>
                </a:solidFill>
                <a:latin typeface="Montserrat"/>
                <a:ea typeface="Montserrat"/>
                <a:cs typeface="Montserrat"/>
                <a:sym typeface="Montserrat"/>
              </a:rPr>
              <a:t>class recordings</a:t>
            </a:r>
            <a:r>
              <a:rPr i="0" lang="en-US" sz="1500" u="none" cap="none" strike="noStrike">
                <a:solidFill>
                  <a:srgbClr val="000000"/>
                </a:solidFill>
                <a:latin typeface="Montserrat"/>
                <a:ea typeface="Montserrat"/>
                <a:cs typeface="Montserrat"/>
                <a:sym typeface="Montserrat"/>
              </a:rPr>
              <a:t>, </a:t>
            </a:r>
            <a:r>
              <a:rPr b="1" i="0" lang="en-US" sz="1500" u="none" cap="none" strike="noStrike">
                <a:solidFill>
                  <a:srgbClr val="000000"/>
                </a:solidFill>
                <a:latin typeface="Montserrat"/>
                <a:ea typeface="Montserrat"/>
                <a:cs typeface="Montserrat"/>
                <a:sym typeface="Montserrat"/>
              </a:rPr>
              <a:t>presentations</a:t>
            </a:r>
            <a:r>
              <a:rPr i="0" lang="en-US" sz="1500" u="none" cap="none" strike="noStrike">
                <a:solidFill>
                  <a:srgbClr val="000000"/>
                </a:solidFill>
                <a:latin typeface="Montserrat"/>
                <a:ea typeface="Montserrat"/>
                <a:cs typeface="Montserrat"/>
                <a:sym typeface="Montserrat"/>
              </a:rPr>
              <a:t>, </a:t>
            </a:r>
            <a:r>
              <a:rPr b="1" i="0" lang="en-US" sz="1500" u="none" cap="none" strike="noStrike">
                <a:solidFill>
                  <a:srgbClr val="000000"/>
                </a:solidFill>
                <a:latin typeface="Montserrat"/>
                <a:ea typeface="Montserrat"/>
                <a:cs typeface="Montserrat"/>
                <a:sym typeface="Montserrat"/>
              </a:rPr>
              <a:t>handouts</a:t>
            </a:r>
            <a:r>
              <a:rPr i="0" lang="en-US" sz="1500" u="none" cap="none" strike="noStrike">
                <a:solidFill>
                  <a:srgbClr val="000000"/>
                </a:solidFill>
                <a:latin typeface="Montserrat"/>
                <a:ea typeface="Montserrat"/>
                <a:cs typeface="Montserrat"/>
                <a:sym typeface="Montserrat"/>
              </a:rPr>
              <a:t>, </a:t>
            </a:r>
            <a:r>
              <a:rPr b="1" i="0" lang="en-US" sz="1500" u="none" cap="none" strike="noStrike">
                <a:solidFill>
                  <a:srgbClr val="000000"/>
                </a:solidFill>
                <a:latin typeface="Montserrat"/>
                <a:ea typeface="Montserrat"/>
                <a:cs typeface="Montserrat"/>
                <a:sym typeface="Montserrat"/>
              </a:rPr>
              <a:t>assignments</a:t>
            </a:r>
            <a:r>
              <a:rPr i="0" lang="en-US" sz="1500" u="none" cap="none" strike="noStrike">
                <a:solidFill>
                  <a:srgbClr val="000000"/>
                </a:solidFill>
                <a:latin typeface="Montserrat"/>
                <a:ea typeface="Montserrat"/>
                <a:cs typeface="Montserrat"/>
                <a:sym typeface="Montserrat"/>
              </a:rPr>
              <a:t>, and </a:t>
            </a:r>
            <a:r>
              <a:rPr b="1" i="0" lang="en-US" sz="1500" u="none" cap="none" strike="noStrike">
                <a:solidFill>
                  <a:srgbClr val="000000"/>
                </a:solidFill>
                <a:latin typeface="Montserrat"/>
                <a:ea typeface="Montserrat"/>
                <a:cs typeface="Montserrat"/>
                <a:sym typeface="Montserrat"/>
              </a:rPr>
              <a:t>assessments</a:t>
            </a:r>
            <a:r>
              <a:rPr i="0" lang="en-US" sz="1500" u="none" cap="none" strike="noStrike">
                <a:solidFill>
                  <a:srgbClr val="000000"/>
                </a:solidFill>
                <a:latin typeface="Montserrat"/>
                <a:ea typeface="Montserrat"/>
                <a:cs typeface="Montserrat"/>
                <a:sym typeface="Montserrat"/>
              </a:rPr>
              <a:t>, are the exclusive property of </a:t>
            </a:r>
            <a:r>
              <a:rPr b="1" i="0" lang="en-US" sz="1500" u="none" cap="none" strike="noStrike">
                <a:solidFill>
                  <a:srgbClr val="000000"/>
                </a:solidFill>
                <a:latin typeface="Montserrat"/>
                <a:ea typeface="Montserrat"/>
                <a:cs typeface="Montserrat"/>
                <a:sym typeface="Montserrat"/>
              </a:rPr>
              <a:t>Mapua-Malayan Digital College </a:t>
            </a:r>
            <a:r>
              <a:rPr i="0" lang="en-US" sz="1500" u="none" cap="none" strike="noStrike">
                <a:solidFill>
                  <a:srgbClr val="000000"/>
                </a:solidFill>
                <a:latin typeface="Montserrat"/>
                <a:ea typeface="Montserrat"/>
                <a:cs typeface="Montserrat"/>
                <a:sym typeface="Montserrat"/>
              </a:rPr>
              <a:t>and are protected under </a:t>
            </a:r>
            <a:r>
              <a:rPr b="1" i="0" lang="en-US" sz="1500" u="none" cap="none" strike="noStrike">
                <a:solidFill>
                  <a:srgbClr val="000000"/>
                </a:solidFill>
                <a:latin typeface="Montserrat"/>
                <a:ea typeface="Montserrat"/>
                <a:cs typeface="Montserrat"/>
                <a:sym typeface="Montserrat"/>
              </a:rPr>
              <a:t>Republic Act No. 8293</a:t>
            </a:r>
            <a:r>
              <a:rPr i="0" lang="en-US" sz="1500" u="none" cap="none" strike="noStrike">
                <a:solidFill>
                  <a:srgbClr val="000000"/>
                </a:solidFill>
                <a:latin typeface="Montserrat"/>
                <a:ea typeface="Montserrat"/>
                <a:cs typeface="Montserrat"/>
                <a:sym typeface="Montserrat"/>
              </a:rPr>
              <a:t>, also known as the</a:t>
            </a:r>
            <a:r>
              <a:rPr i="1" lang="en-US" sz="1500" u="none" cap="none" strike="noStrike">
                <a:solidFill>
                  <a:srgbClr val="000000"/>
                </a:solidFill>
                <a:latin typeface="Montserrat"/>
                <a:ea typeface="Montserrat"/>
                <a:cs typeface="Montserrat"/>
                <a:sym typeface="Montserrat"/>
              </a:rPr>
              <a:t> Intellectual Property Code of the Philippines</a:t>
            </a:r>
            <a:r>
              <a:rPr i="0" lang="en-US" sz="1500" u="none" cap="none" strike="noStrike">
                <a:solidFill>
                  <a:srgbClr val="000000"/>
                </a:solidFill>
                <a:latin typeface="Montserrat"/>
                <a:ea typeface="Montserrat"/>
                <a:cs typeface="Montserrat"/>
                <a:sym typeface="Montserrat"/>
              </a:rPr>
              <a:t> (IP Code). </a:t>
            </a:r>
            <a:endParaRPr i="0" sz="1500" u="none" cap="none" strike="noStrike">
              <a:solidFill>
                <a:srgbClr val="000000"/>
              </a:solidFill>
              <a:latin typeface="Montserrat"/>
              <a:ea typeface="Montserrat"/>
              <a:cs typeface="Montserrat"/>
              <a:sym typeface="Montserrat"/>
            </a:endParaRPr>
          </a:p>
          <a:p>
            <a:pPr indent="0" lvl="0" marL="0" marR="0" rtl="0" algn="ctr">
              <a:lnSpc>
                <a:spcPct val="115000"/>
              </a:lnSpc>
              <a:spcBef>
                <a:spcPts val="0"/>
              </a:spcBef>
              <a:spcAft>
                <a:spcPts val="0"/>
              </a:spcAft>
              <a:buClr>
                <a:srgbClr val="000000"/>
              </a:buClr>
              <a:buSzPts val="1100"/>
              <a:buFont typeface="Arial"/>
              <a:buNone/>
            </a:pPr>
            <a:r>
              <a:t/>
            </a:r>
            <a:endParaRPr i="0" sz="1500" u="none" cap="none" strike="noStrike">
              <a:solidFill>
                <a:srgbClr val="000000"/>
              </a:solidFill>
              <a:latin typeface="Montserrat"/>
              <a:ea typeface="Montserrat"/>
              <a:cs typeface="Montserrat"/>
              <a:sym typeface="Montserrat"/>
            </a:endParaRPr>
          </a:p>
          <a:p>
            <a:pPr indent="0" lvl="0" marL="0" marR="0" rtl="0" algn="ctr">
              <a:lnSpc>
                <a:spcPct val="115000"/>
              </a:lnSpc>
              <a:spcBef>
                <a:spcPts val="0"/>
              </a:spcBef>
              <a:spcAft>
                <a:spcPts val="0"/>
              </a:spcAft>
              <a:buClr>
                <a:srgbClr val="000000"/>
              </a:buClr>
              <a:buSzPts val="1100"/>
              <a:buFont typeface="Arial"/>
              <a:buNone/>
            </a:pPr>
            <a:r>
              <a:rPr i="0" lang="en-US" sz="1500" u="none" cap="none" strike="noStrike">
                <a:solidFill>
                  <a:srgbClr val="000000"/>
                </a:solidFill>
                <a:latin typeface="Montserrat"/>
                <a:ea typeface="Montserrat"/>
                <a:cs typeface="Montserrat"/>
                <a:sym typeface="Montserrat"/>
              </a:rPr>
              <a:t>Unauthorized </a:t>
            </a:r>
            <a:r>
              <a:rPr b="1" i="0" lang="en-US" sz="1500" u="none" cap="none" strike="noStrike">
                <a:solidFill>
                  <a:srgbClr val="000000"/>
                </a:solidFill>
                <a:latin typeface="Montserrat"/>
                <a:ea typeface="Montserrat"/>
                <a:cs typeface="Montserrat"/>
                <a:sym typeface="Montserrat"/>
              </a:rPr>
              <a:t>downloading</a:t>
            </a:r>
            <a:r>
              <a:rPr i="0" lang="en-US" sz="1500" u="none" cap="none" strike="noStrike">
                <a:solidFill>
                  <a:srgbClr val="000000"/>
                </a:solidFill>
                <a:latin typeface="Montserrat"/>
                <a:ea typeface="Montserrat"/>
                <a:cs typeface="Montserrat"/>
                <a:sym typeface="Montserrat"/>
              </a:rPr>
              <a:t>, </a:t>
            </a:r>
            <a:r>
              <a:rPr b="1" i="0" lang="en-US" sz="1500" u="none" cap="none" strike="noStrike">
                <a:solidFill>
                  <a:srgbClr val="000000"/>
                </a:solidFill>
                <a:latin typeface="Montserrat"/>
                <a:ea typeface="Montserrat"/>
                <a:cs typeface="Montserrat"/>
                <a:sym typeface="Montserrat"/>
              </a:rPr>
              <a:t>copying</a:t>
            </a:r>
            <a:r>
              <a:rPr i="0" lang="en-US" sz="1500" u="none" cap="none" strike="noStrike">
                <a:solidFill>
                  <a:srgbClr val="000000"/>
                </a:solidFill>
                <a:latin typeface="Montserrat"/>
                <a:ea typeface="Montserrat"/>
                <a:cs typeface="Montserrat"/>
                <a:sym typeface="Montserrat"/>
              </a:rPr>
              <a:t>, </a:t>
            </a:r>
            <a:r>
              <a:rPr b="1" i="0" lang="en-US" sz="1500" u="none" cap="none" strike="noStrike">
                <a:solidFill>
                  <a:srgbClr val="000000"/>
                </a:solidFill>
                <a:latin typeface="Montserrat"/>
                <a:ea typeface="Montserrat"/>
                <a:cs typeface="Montserrat"/>
                <a:sym typeface="Montserrat"/>
              </a:rPr>
              <a:t>reproduction</a:t>
            </a:r>
            <a:r>
              <a:rPr i="0" lang="en-US" sz="1500" u="none" cap="none" strike="noStrike">
                <a:solidFill>
                  <a:srgbClr val="000000"/>
                </a:solidFill>
                <a:latin typeface="Montserrat"/>
                <a:ea typeface="Montserrat"/>
                <a:cs typeface="Montserrat"/>
                <a:sym typeface="Montserrat"/>
              </a:rPr>
              <a:t>, </a:t>
            </a:r>
            <a:r>
              <a:rPr b="1" i="0" lang="en-US" sz="1500" u="none" cap="none" strike="noStrike">
                <a:solidFill>
                  <a:srgbClr val="000000"/>
                </a:solidFill>
                <a:latin typeface="Montserrat"/>
                <a:ea typeface="Montserrat"/>
                <a:cs typeface="Montserrat"/>
                <a:sym typeface="Montserrat"/>
              </a:rPr>
              <a:t>distribution</a:t>
            </a:r>
            <a:r>
              <a:rPr i="0" lang="en-US" sz="1500" u="none" cap="none" strike="noStrike">
                <a:solidFill>
                  <a:srgbClr val="000000"/>
                </a:solidFill>
                <a:latin typeface="Montserrat"/>
                <a:ea typeface="Montserrat"/>
                <a:cs typeface="Montserrat"/>
                <a:sym typeface="Montserrat"/>
              </a:rPr>
              <a:t>, or </a:t>
            </a:r>
            <a:r>
              <a:rPr b="1" i="0" lang="en-US" sz="1500" u="none" cap="none" strike="noStrike">
                <a:solidFill>
                  <a:srgbClr val="000000"/>
                </a:solidFill>
                <a:latin typeface="Montserrat"/>
                <a:ea typeface="Montserrat"/>
                <a:cs typeface="Montserrat"/>
                <a:sym typeface="Montserrat"/>
              </a:rPr>
              <a:t>uploading </a:t>
            </a:r>
            <a:r>
              <a:rPr i="0" lang="en-US" sz="1500" u="none" cap="none" strike="noStrike">
                <a:solidFill>
                  <a:srgbClr val="000000"/>
                </a:solidFill>
                <a:latin typeface="Montserrat"/>
                <a:ea typeface="Montserrat"/>
                <a:cs typeface="Montserrat"/>
                <a:sym typeface="Montserrat"/>
              </a:rPr>
              <a:t>of any part or whole of this material, in any form or medium, is strictly prohibited. Such actions constitute copyright infringement under Sections </a:t>
            </a:r>
            <a:r>
              <a:rPr b="1" i="0" lang="en-US" sz="1500" u="none" cap="none" strike="noStrike">
                <a:solidFill>
                  <a:srgbClr val="000000"/>
                </a:solidFill>
                <a:latin typeface="Montserrat"/>
                <a:ea typeface="Montserrat"/>
                <a:cs typeface="Montserrat"/>
                <a:sym typeface="Montserrat"/>
              </a:rPr>
              <a:t>172</a:t>
            </a:r>
            <a:r>
              <a:rPr i="0" lang="en-US" sz="1500" u="none" cap="none" strike="noStrike">
                <a:solidFill>
                  <a:srgbClr val="000000"/>
                </a:solidFill>
                <a:latin typeface="Montserrat"/>
                <a:ea typeface="Montserrat"/>
                <a:cs typeface="Montserrat"/>
                <a:sym typeface="Montserrat"/>
              </a:rPr>
              <a:t>, </a:t>
            </a:r>
            <a:r>
              <a:rPr b="1" i="0" lang="en-US" sz="1500" u="none" cap="none" strike="noStrike">
                <a:solidFill>
                  <a:srgbClr val="000000"/>
                </a:solidFill>
                <a:latin typeface="Montserrat"/>
                <a:ea typeface="Montserrat"/>
                <a:cs typeface="Montserrat"/>
                <a:sym typeface="Montserrat"/>
              </a:rPr>
              <a:t>177</a:t>
            </a:r>
            <a:r>
              <a:rPr i="0" lang="en-US" sz="1500" u="none" cap="none" strike="noStrike">
                <a:solidFill>
                  <a:srgbClr val="000000"/>
                </a:solidFill>
                <a:latin typeface="Montserrat"/>
                <a:ea typeface="Montserrat"/>
                <a:cs typeface="Montserrat"/>
                <a:sym typeface="Montserrat"/>
              </a:rPr>
              <a:t>, and </a:t>
            </a:r>
            <a:r>
              <a:rPr b="1" i="0" lang="en-US" sz="1500" u="none" cap="none" strike="noStrike">
                <a:solidFill>
                  <a:srgbClr val="000000"/>
                </a:solidFill>
                <a:latin typeface="Montserrat"/>
                <a:ea typeface="Montserrat"/>
                <a:cs typeface="Montserrat"/>
                <a:sym typeface="Montserrat"/>
              </a:rPr>
              <a:t>216 </a:t>
            </a:r>
            <a:r>
              <a:rPr i="0" lang="en-US" sz="1500" u="none" cap="none" strike="noStrike">
                <a:solidFill>
                  <a:srgbClr val="000000"/>
                </a:solidFill>
                <a:latin typeface="Montserrat"/>
                <a:ea typeface="Montserrat"/>
                <a:cs typeface="Montserrat"/>
                <a:sym typeface="Montserrat"/>
              </a:rPr>
              <a:t>of the IP Code and may result in legal consequences. </a:t>
            </a:r>
            <a:endParaRPr i="0" sz="1500" u="none" cap="none" strike="noStrike">
              <a:solidFill>
                <a:srgbClr val="000000"/>
              </a:solidFill>
              <a:latin typeface="Montserrat"/>
              <a:ea typeface="Montserrat"/>
              <a:cs typeface="Montserrat"/>
              <a:sym typeface="Montserrat"/>
            </a:endParaRPr>
          </a:p>
          <a:p>
            <a:pPr indent="0" lvl="0" marL="0" marR="0" rtl="0" algn="ctr">
              <a:lnSpc>
                <a:spcPct val="115000"/>
              </a:lnSpc>
              <a:spcBef>
                <a:spcPts val="0"/>
              </a:spcBef>
              <a:spcAft>
                <a:spcPts val="0"/>
              </a:spcAft>
              <a:buClr>
                <a:srgbClr val="000000"/>
              </a:buClr>
              <a:buSzPts val="1100"/>
              <a:buFont typeface="Arial"/>
              <a:buNone/>
            </a:pPr>
            <a:r>
              <a:t/>
            </a:r>
            <a:endParaRPr i="0" sz="1500" u="none" cap="none" strike="noStrike">
              <a:solidFill>
                <a:srgbClr val="000000"/>
              </a:solidFill>
              <a:latin typeface="Montserrat"/>
              <a:ea typeface="Montserrat"/>
              <a:cs typeface="Montserrat"/>
              <a:sym typeface="Montserrat"/>
            </a:endParaRPr>
          </a:p>
          <a:p>
            <a:pPr indent="0" lvl="0" marL="0" marR="0" rtl="0" algn="ctr">
              <a:lnSpc>
                <a:spcPct val="115000"/>
              </a:lnSpc>
              <a:spcBef>
                <a:spcPts val="0"/>
              </a:spcBef>
              <a:spcAft>
                <a:spcPts val="0"/>
              </a:spcAft>
              <a:buClr>
                <a:srgbClr val="000000"/>
              </a:buClr>
              <a:buSzPts val="1100"/>
              <a:buFont typeface="Arial"/>
              <a:buNone/>
            </a:pPr>
            <a:r>
              <a:rPr i="0" lang="en-US" sz="1500" u="none" cap="none" strike="noStrike">
                <a:solidFill>
                  <a:srgbClr val="000000"/>
                </a:solidFill>
                <a:latin typeface="Montserrat"/>
                <a:ea typeface="Montserrat"/>
                <a:cs typeface="Montserrat"/>
                <a:sym typeface="Montserrat"/>
              </a:rPr>
              <a:t>For permissions or inquiries, please contact MMDC-ISD at isd@mmdc.mcl.edu.ph.</a:t>
            </a:r>
            <a:endParaRPr i="0" sz="1500" u="none" cap="none" strike="noStrike">
              <a:solidFill>
                <a:srgbClr val="000000"/>
              </a:solidFill>
              <a:highlight>
                <a:srgbClr val="FFFFFF"/>
              </a:highlight>
              <a:latin typeface="Montserrat"/>
              <a:ea typeface="Montserrat"/>
              <a:cs typeface="Montserrat"/>
              <a:sym typeface="Montserrat"/>
            </a:endParaRPr>
          </a:p>
        </p:txBody>
      </p:sp>
      <p:sp>
        <p:nvSpPr>
          <p:cNvPr id="101" name="Google Shape;101;p14"/>
          <p:cNvSpPr txBox="1"/>
          <p:nvPr/>
        </p:nvSpPr>
        <p:spPr>
          <a:xfrm>
            <a:off x="489825" y="3599825"/>
            <a:ext cx="3201300" cy="16623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0000"/>
              </a:buClr>
              <a:buSzPts val="4300"/>
              <a:buFont typeface="Arial"/>
              <a:buNone/>
            </a:pPr>
            <a:r>
              <a:rPr b="1" i="0" lang="en-US" sz="4300" u="none" cap="none" strike="noStrike">
                <a:solidFill>
                  <a:srgbClr val="FFFFFF"/>
                </a:solidFill>
                <a:latin typeface="Red Hat Display"/>
                <a:ea typeface="Red Hat Display"/>
                <a:cs typeface="Red Hat Display"/>
                <a:sym typeface="Red Hat Display"/>
              </a:rPr>
              <a:t>Proprietary Notice</a:t>
            </a:r>
            <a:endParaRPr b="1" i="0" sz="4300" u="none" cap="none" strike="noStrike">
              <a:solidFill>
                <a:srgbClr val="FFFFFF"/>
              </a:solidFill>
              <a:latin typeface="Red Hat Display"/>
              <a:ea typeface="Red Hat Display"/>
              <a:cs typeface="Red Hat Display"/>
              <a:sym typeface="Red Hat Display"/>
            </a:endParaRPr>
          </a:p>
        </p:txBody>
      </p:sp>
      <p:pic>
        <p:nvPicPr>
          <p:cNvPr id="102" name="Google Shape;102;p14"/>
          <p:cNvPicPr preferRelativeResize="0"/>
          <p:nvPr/>
        </p:nvPicPr>
        <p:blipFill rotWithShape="1">
          <a:blip r:embed="rId4">
            <a:alphaModFix/>
          </a:blip>
          <a:srcRect b="11567" l="0" r="0" t="11574"/>
          <a:stretch/>
        </p:blipFill>
        <p:spPr>
          <a:xfrm>
            <a:off x="582850" y="6249475"/>
            <a:ext cx="1214557" cy="466725"/>
          </a:xfrm>
          <a:prstGeom prst="rect">
            <a:avLst/>
          </a:prstGeom>
          <a:noFill/>
          <a:ln>
            <a:noFill/>
          </a:ln>
        </p:spPr>
      </p:pic>
      <p:sp>
        <p:nvSpPr>
          <p:cNvPr id="103" name="Google Shape;103;p14"/>
          <p:cNvSpPr txBox="1"/>
          <p:nvPr/>
        </p:nvSpPr>
        <p:spPr>
          <a:xfrm>
            <a:off x="9717300" y="6451000"/>
            <a:ext cx="1973700" cy="2925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700"/>
              <a:buFont typeface="Arial"/>
              <a:buNone/>
            </a:pPr>
            <a:r>
              <a:rPr b="0" i="0" lang="en-US" sz="700" u="none" cap="none" strike="noStrike">
                <a:solidFill>
                  <a:srgbClr val="1D2956"/>
                </a:solidFill>
                <a:latin typeface="Nunito"/>
                <a:ea typeface="Nunito"/>
                <a:cs typeface="Nunito"/>
                <a:sym typeface="Nunito"/>
              </a:rPr>
              <a:t>MO-IT104 Computer Networks</a:t>
            </a:r>
            <a:endParaRPr b="0" i="0" sz="700" u="none" cap="none" strike="noStrike">
              <a:solidFill>
                <a:srgbClr val="1D2956"/>
              </a:solidFill>
              <a:latin typeface="Nunito"/>
              <a:ea typeface="Nunito"/>
              <a:cs typeface="Nunito"/>
              <a:sym typeface="Nuni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7" name="Shape 107"/>
        <p:cNvGrpSpPr/>
        <p:nvPr/>
      </p:nvGrpSpPr>
      <p:grpSpPr>
        <a:xfrm>
          <a:off x="0" y="0"/>
          <a:ext cx="0" cy="0"/>
          <a:chOff x="0" y="0"/>
          <a:chExt cx="0" cy="0"/>
        </a:xfrm>
      </p:grpSpPr>
      <p:pic>
        <p:nvPicPr>
          <p:cNvPr id="108" name="Google Shape;108;p15"/>
          <p:cNvPicPr preferRelativeResize="0"/>
          <p:nvPr/>
        </p:nvPicPr>
        <p:blipFill rotWithShape="1">
          <a:blip r:embed="rId3">
            <a:alphaModFix amt="6000"/>
          </a:blip>
          <a:srcRect b="0" l="0" r="0" t="0"/>
          <a:stretch/>
        </p:blipFill>
        <p:spPr>
          <a:xfrm>
            <a:off x="0" y="0"/>
            <a:ext cx="12192000" cy="6858001"/>
          </a:xfrm>
          <a:prstGeom prst="rect">
            <a:avLst/>
          </a:prstGeom>
          <a:noFill/>
          <a:ln>
            <a:noFill/>
          </a:ln>
        </p:spPr>
      </p:pic>
      <p:sp>
        <p:nvSpPr>
          <p:cNvPr id="109" name="Google Shape;109;p15"/>
          <p:cNvSpPr/>
          <p:nvPr/>
        </p:nvSpPr>
        <p:spPr>
          <a:xfrm rot="10800000">
            <a:off x="0" y="-13750"/>
            <a:ext cx="211800" cy="6859200"/>
          </a:xfrm>
          <a:prstGeom prst="rect">
            <a:avLst/>
          </a:prstGeom>
          <a:solidFill>
            <a:srgbClr val="1D295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0" name="Google Shape;110;p15"/>
          <p:cNvPicPr preferRelativeResize="0"/>
          <p:nvPr/>
        </p:nvPicPr>
        <p:blipFill rotWithShape="1">
          <a:blip r:embed="rId4">
            <a:alphaModFix/>
          </a:blip>
          <a:srcRect b="10514" l="0" r="0" t="12627"/>
          <a:stretch/>
        </p:blipFill>
        <p:spPr>
          <a:xfrm>
            <a:off x="503075" y="6197275"/>
            <a:ext cx="1214557" cy="466725"/>
          </a:xfrm>
          <a:prstGeom prst="rect">
            <a:avLst/>
          </a:prstGeom>
          <a:noFill/>
          <a:ln>
            <a:noFill/>
          </a:ln>
        </p:spPr>
      </p:pic>
      <p:cxnSp>
        <p:nvCxnSpPr>
          <p:cNvPr id="111" name="Google Shape;111;p15"/>
          <p:cNvCxnSpPr/>
          <p:nvPr/>
        </p:nvCxnSpPr>
        <p:spPr>
          <a:xfrm>
            <a:off x="202325" y="5990700"/>
            <a:ext cx="12000300" cy="2400"/>
          </a:xfrm>
          <a:prstGeom prst="straightConnector1">
            <a:avLst/>
          </a:prstGeom>
          <a:noFill/>
          <a:ln cap="flat" cmpd="sng" w="9525">
            <a:solidFill>
              <a:srgbClr val="1D2956"/>
            </a:solidFill>
            <a:prstDash val="solid"/>
            <a:round/>
            <a:headEnd len="sm" w="sm" type="none"/>
            <a:tailEnd len="sm" w="sm" type="none"/>
          </a:ln>
        </p:spPr>
      </p:cxnSp>
      <p:sp>
        <p:nvSpPr>
          <p:cNvPr id="112" name="Google Shape;112;p15"/>
          <p:cNvSpPr txBox="1"/>
          <p:nvPr/>
        </p:nvSpPr>
        <p:spPr>
          <a:xfrm>
            <a:off x="10078250" y="6371500"/>
            <a:ext cx="1973700" cy="2925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700"/>
              <a:buFont typeface="Arial"/>
              <a:buNone/>
            </a:pPr>
            <a:r>
              <a:rPr b="0" i="0" lang="en-US" sz="700" u="none" cap="none" strike="noStrike">
                <a:solidFill>
                  <a:srgbClr val="1D2956"/>
                </a:solidFill>
                <a:latin typeface="Nunito"/>
                <a:ea typeface="Nunito"/>
                <a:cs typeface="Nunito"/>
                <a:sym typeface="Nunito"/>
              </a:rPr>
              <a:t>MO-IT104 Computer Networks</a:t>
            </a:r>
            <a:endParaRPr b="0" i="0" sz="700" u="none" cap="none" strike="noStrike">
              <a:solidFill>
                <a:srgbClr val="1D2956"/>
              </a:solidFill>
              <a:latin typeface="Nunito"/>
              <a:ea typeface="Nunito"/>
              <a:cs typeface="Nunito"/>
              <a:sym typeface="Nunito"/>
            </a:endParaRPr>
          </a:p>
        </p:txBody>
      </p:sp>
      <p:sp>
        <p:nvSpPr>
          <p:cNvPr id="113" name="Google Shape;113;p15"/>
          <p:cNvSpPr txBox="1"/>
          <p:nvPr/>
        </p:nvSpPr>
        <p:spPr>
          <a:xfrm>
            <a:off x="8699750" y="1291725"/>
            <a:ext cx="3352200" cy="35679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1" lang="en-US" sz="2400">
                <a:solidFill>
                  <a:srgbClr val="1D2956"/>
                </a:solidFill>
                <a:latin typeface="Nunito"/>
                <a:ea typeface="Nunito"/>
                <a:cs typeface="Nunito"/>
                <a:sym typeface="Nunito"/>
              </a:rPr>
              <a:t>Decision-Making Process</a:t>
            </a:r>
            <a:endParaRPr b="1" sz="2400">
              <a:solidFill>
                <a:srgbClr val="1D2956"/>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2400"/>
              <a:buFont typeface="Arial"/>
              <a:buNone/>
            </a:pPr>
            <a:r>
              <a:t/>
            </a:r>
            <a:endParaRPr b="1" sz="2400">
              <a:solidFill>
                <a:srgbClr val="1D2956"/>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2400"/>
              <a:buFont typeface="Arial"/>
              <a:buNone/>
            </a:pPr>
            <a:r>
              <a:rPr b="1" lang="en-US" sz="2400">
                <a:solidFill>
                  <a:srgbClr val="1D2956"/>
                </a:solidFill>
                <a:latin typeface="Nunito"/>
                <a:ea typeface="Nunito"/>
                <a:cs typeface="Nunito"/>
                <a:sym typeface="Nunito"/>
              </a:rPr>
              <a:t>Solution Verification and Testing</a:t>
            </a:r>
            <a:endParaRPr b="1" sz="2400">
              <a:solidFill>
                <a:srgbClr val="1D2956"/>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2400"/>
              <a:buFont typeface="Arial"/>
              <a:buNone/>
            </a:pPr>
            <a:r>
              <a:t/>
            </a:r>
            <a:endParaRPr b="1" sz="2400">
              <a:solidFill>
                <a:srgbClr val="1D2956"/>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100"/>
              <a:buFont typeface="Arial"/>
              <a:buNone/>
            </a:pPr>
            <a:r>
              <a:rPr b="1" lang="en-US" sz="2400">
                <a:solidFill>
                  <a:srgbClr val="1D2956"/>
                </a:solidFill>
                <a:latin typeface="Nunito"/>
                <a:ea typeface="Nunito"/>
                <a:cs typeface="Nunito"/>
                <a:sym typeface="Nunito"/>
              </a:rPr>
              <a:t>Lessons Learned &amp; Mitigation: VLAN Setup</a:t>
            </a:r>
            <a:endParaRPr b="0" i="0" sz="1400" u="none" cap="none" strike="noStrike">
              <a:solidFill>
                <a:srgbClr val="1D2956"/>
              </a:solidFill>
              <a:latin typeface="Nunito Medium"/>
              <a:ea typeface="Nunito Medium"/>
              <a:cs typeface="Nunito Medium"/>
              <a:sym typeface="Nunito Medium"/>
            </a:endParaRPr>
          </a:p>
        </p:txBody>
      </p:sp>
      <p:sp>
        <p:nvSpPr>
          <p:cNvPr id="114" name="Google Shape;114;p15"/>
          <p:cNvSpPr/>
          <p:nvPr/>
        </p:nvSpPr>
        <p:spPr>
          <a:xfrm>
            <a:off x="8456750" y="1536950"/>
            <a:ext cx="243000" cy="243000"/>
          </a:xfrm>
          <a:prstGeom prst="ellipse">
            <a:avLst/>
          </a:prstGeom>
          <a:solidFill>
            <a:srgbClr val="E0444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15"/>
          <p:cNvSpPr/>
          <p:nvPr/>
        </p:nvSpPr>
        <p:spPr>
          <a:xfrm>
            <a:off x="8456750" y="2631400"/>
            <a:ext cx="243000" cy="243000"/>
          </a:xfrm>
          <a:prstGeom prst="ellipse">
            <a:avLst/>
          </a:prstGeom>
          <a:solidFill>
            <a:srgbClr val="E0444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15"/>
          <p:cNvSpPr/>
          <p:nvPr/>
        </p:nvSpPr>
        <p:spPr>
          <a:xfrm>
            <a:off x="8456750" y="3763825"/>
            <a:ext cx="243000" cy="243000"/>
          </a:xfrm>
          <a:prstGeom prst="ellipse">
            <a:avLst/>
          </a:prstGeom>
          <a:solidFill>
            <a:srgbClr val="E0444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15"/>
          <p:cNvSpPr txBox="1"/>
          <p:nvPr/>
        </p:nvSpPr>
        <p:spPr>
          <a:xfrm>
            <a:off x="338250" y="2378900"/>
            <a:ext cx="5554800" cy="16623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rPr b="1" lang="en-US" sz="6600">
                <a:solidFill>
                  <a:srgbClr val="1D2956"/>
                </a:solidFill>
                <a:latin typeface="Red Hat Display"/>
                <a:ea typeface="Red Hat Display"/>
                <a:cs typeface="Red Hat Display"/>
                <a:sym typeface="Red Hat Display"/>
              </a:rPr>
              <a:t>MotorPH Connectivity</a:t>
            </a:r>
            <a:endParaRPr b="1" i="0" sz="6600" u="none" cap="none" strike="noStrike">
              <a:solidFill>
                <a:srgbClr val="1D2956"/>
              </a:solidFill>
              <a:latin typeface="Red Hat Display"/>
              <a:ea typeface="Red Hat Display"/>
              <a:cs typeface="Red Hat Display"/>
              <a:sym typeface="Red Hat Display"/>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827"/>
        </a:solidFill>
      </p:bgPr>
    </p:bg>
    <p:spTree>
      <p:nvGrpSpPr>
        <p:cNvPr id="121" name="Shape 121"/>
        <p:cNvGrpSpPr/>
        <p:nvPr/>
      </p:nvGrpSpPr>
      <p:grpSpPr>
        <a:xfrm>
          <a:off x="0" y="0"/>
          <a:ext cx="0" cy="0"/>
          <a:chOff x="0" y="0"/>
          <a:chExt cx="0" cy="0"/>
        </a:xfrm>
      </p:grpSpPr>
      <p:sp>
        <p:nvSpPr>
          <p:cNvPr id="122" name="Google Shape;122;p16"/>
          <p:cNvSpPr txBox="1"/>
          <p:nvPr/>
        </p:nvSpPr>
        <p:spPr>
          <a:xfrm>
            <a:off x="3395662" y="1030400"/>
            <a:ext cx="5400600" cy="692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500" u="none" cap="none" strike="noStrike">
                <a:solidFill>
                  <a:srgbClr val="FFFFFF"/>
                </a:solidFill>
                <a:latin typeface="Urbanist"/>
                <a:ea typeface="Urbanist"/>
                <a:cs typeface="Urbanist"/>
                <a:sym typeface="Urbanist"/>
              </a:rPr>
              <a:t>Executive Summary</a:t>
            </a:r>
            <a:endParaRPr/>
          </a:p>
        </p:txBody>
      </p:sp>
      <p:sp>
        <p:nvSpPr>
          <p:cNvPr id="123" name="Google Shape;123;p16"/>
          <p:cNvSpPr/>
          <p:nvPr/>
        </p:nvSpPr>
        <p:spPr>
          <a:xfrm>
            <a:off x="5619750" y="2192450"/>
            <a:ext cx="952500" cy="47700"/>
          </a:xfrm>
          <a:prstGeom prst="rect">
            <a:avLst/>
          </a:prstGeom>
          <a:solidFill>
            <a:srgbClr val="00AEE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4" name="Google Shape;124;p16"/>
          <p:cNvSpPr txBox="1"/>
          <p:nvPr/>
        </p:nvSpPr>
        <p:spPr>
          <a:xfrm>
            <a:off x="2762250" y="2525813"/>
            <a:ext cx="6667500" cy="33018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lang="en-US" sz="1650">
                <a:solidFill>
                  <a:srgbClr val="E5E7EB"/>
                </a:solidFill>
                <a:latin typeface="Lato"/>
                <a:ea typeface="Lato"/>
                <a:cs typeface="Lato"/>
                <a:sym typeface="Lato"/>
              </a:rPr>
              <a:t>This presentation outlines the final network solution designed for MotorPH’s multi-department headquarters. The network uses a Layer 3 switched Core–Access architecture and a hierarchical star topology to ensure high performance, scalability, and simplified management. Departmental segmentation using VLANs improves security and reduces broadcast traffic, while inter-VLAN routing on the Core Switch enables efficient communication between teams. The solution is fully tested in Packet Tracer, demonstrating reliable IP addressing, DHCP allocation, trunking, and inter-VLAN connectivity.</a:t>
            </a:r>
            <a:endParaRPr/>
          </a:p>
        </p:txBody>
      </p:sp>
      <p:pic>
        <p:nvPicPr>
          <p:cNvPr id="125" name="Google Shape;125;p16"/>
          <p:cNvPicPr preferRelativeResize="0"/>
          <p:nvPr/>
        </p:nvPicPr>
        <p:blipFill rotWithShape="1">
          <a:blip r:embed="rId3">
            <a:alphaModFix/>
          </a:blip>
          <a:srcRect b="11567" l="0" r="0" t="11574"/>
          <a:stretch/>
        </p:blipFill>
        <p:spPr>
          <a:xfrm>
            <a:off x="339825" y="6140525"/>
            <a:ext cx="1214557" cy="466725"/>
          </a:xfrm>
          <a:prstGeom prst="rect">
            <a:avLst/>
          </a:prstGeom>
          <a:noFill/>
          <a:ln>
            <a:noFill/>
          </a:ln>
        </p:spPr>
      </p:pic>
      <p:sp>
        <p:nvSpPr>
          <p:cNvPr id="126" name="Google Shape;126;p16"/>
          <p:cNvSpPr txBox="1"/>
          <p:nvPr/>
        </p:nvSpPr>
        <p:spPr>
          <a:xfrm>
            <a:off x="9717300" y="6451000"/>
            <a:ext cx="1973700" cy="2925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700"/>
              <a:buFont typeface="Arial"/>
              <a:buNone/>
            </a:pPr>
            <a:r>
              <a:rPr b="0" i="0" lang="en-US" sz="700" u="none" cap="none" strike="noStrike">
                <a:solidFill>
                  <a:schemeClr val="lt1"/>
                </a:solidFill>
                <a:latin typeface="Nunito"/>
                <a:ea typeface="Nunito"/>
                <a:cs typeface="Nunito"/>
                <a:sym typeface="Nunito"/>
              </a:rPr>
              <a:t>MO-IT104 Computer Networks</a:t>
            </a:r>
            <a:endParaRPr b="0" i="0" sz="700" u="none" cap="none" strike="noStrike">
              <a:solidFill>
                <a:schemeClr val="lt1"/>
              </a:solidFill>
              <a:latin typeface="Nunito"/>
              <a:ea typeface="Nunito"/>
              <a:cs typeface="Nunito"/>
              <a:sym typeface="Nuni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827"/>
        </a:solidFill>
      </p:bgPr>
    </p:bg>
    <p:spTree>
      <p:nvGrpSpPr>
        <p:cNvPr id="130" name="Shape 130"/>
        <p:cNvGrpSpPr/>
        <p:nvPr/>
      </p:nvGrpSpPr>
      <p:grpSpPr>
        <a:xfrm>
          <a:off x="0" y="0"/>
          <a:ext cx="0" cy="0"/>
          <a:chOff x="0" y="0"/>
          <a:chExt cx="0" cy="0"/>
        </a:xfrm>
      </p:grpSpPr>
      <p:sp>
        <p:nvSpPr>
          <p:cNvPr id="131" name="Google Shape;131;p17"/>
          <p:cNvSpPr txBox="1"/>
          <p:nvPr/>
        </p:nvSpPr>
        <p:spPr>
          <a:xfrm>
            <a:off x="3395712" y="661049"/>
            <a:ext cx="5400600" cy="692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4500">
                <a:solidFill>
                  <a:srgbClr val="FFFFFF"/>
                </a:solidFill>
                <a:latin typeface="Urbanist"/>
                <a:ea typeface="Urbanist"/>
                <a:cs typeface="Urbanist"/>
                <a:sym typeface="Urbanist"/>
              </a:rPr>
              <a:t>Introduction</a:t>
            </a:r>
            <a:endParaRPr/>
          </a:p>
        </p:txBody>
      </p:sp>
      <p:sp>
        <p:nvSpPr>
          <p:cNvPr id="132" name="Google Shape;132;p17"/>
          <p:cNvSpPr/>
          <p:nvPr/>
        </p:nvSpPr>
        <p:spPr>
          <a:xfrm>
            <a:off x="5619750" y="1427100"/>
            <a:ext cx="952500" cy="47700"/>
          </a:xfrm>
          <a:prstGeom prst="rect">
            <a:avLst/>
          </a:prstGeom>
          <a:solidFill>
            <a:srgbClr val="00AEE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3" name="Google Shape;133;p17"/>
          <p:cNvSpPr txBox="1"/>
          <p:nvPr/>
        </p:nvSpPr>
        <p:spPr>
          <a:xfrm>
            <a:off x="699150" y="1541163"/>
            <a:ext cx="10793700" cy="4533000"/>
          </a:xfrm>
          <a:prstGeom prst="rect">
            <a:avLst/>
          </a:prstGeom>
          <a:noFill/>
          <a:ln>
            <a:noFill/>
          </a:ln>
        </p:spPr>
        <p:txBody>
          <a:bodyPr anchorCtr="0" anchor="t" bIns="0" lIns="0" spcFirstLastPara="1" rIns="0" wrap="square" tIns="0">
            <a:spAutoFit/>
          </a:bodyPr>
          <a:lstStyle/>
          <a:p>
            <a:pPr indent="0" lvl="0" marL="0" rtl="0" algn="l">
              <a:lnSpc>
                <a:spcPct val="150000"/>
              </a:lnSpc>
              <a:spcBef>
                <a:spcPts val="0"/>
              </a:spcBef>
              <a:spcAft>
                <a:spcPts val="0"/>
              </a:spcAft>
              <a:buClr>
                <a:schemeClr val="dk1"/>
              </a:buClr>
              <a:buSzPts val="1100"/>
              <a:buFont typeface="Arial"/>
              <a:buNone/>
            </a:pPr>
            <a:r>
              <a:rPr lang="en-US" sz="1550">
                <a:solidFill>
                  <a:srgbClr val="E5E7EB"/>
                </a:solidFill>
                <a:latin typeface="Lato"/>
                <a:ea typeface="Lato"/>
                <a:cs typeface="Lato"/>
                <a:sym typeface="Lato"/>
              </a:rPr>
              <a:t>As MotorPH continues to expand its operations and enhance its technological infrastructure, a reliable and well-structured network becomes essential to support its growing business demands. This document outlines the network requirements and design plan for the next 12 weeks, focusing on creating a secure, scalable, and efficient network architecture for MotorPH’s new headquarters.</a:t>
            </a:r>
            <a:endParaRPr sz="1550">
              <a:solidFill>
                <a:srgbClr val="E5E7EB"/>
              </a:solidFill>
              <a:latin typeface="Lato"/>
              <a:ea typeface="Lato"/>
              <a:cs typeface="Lato"/>
              <a:sym typeface="Lato"/>
            </a:endParaRPr>
          </a:p>
          <a:p>
            <a:pPr indent="0" lvl="0" marL="0" rtl="0" algn="l">
              <a:lnSpc>
                <a:spcPct val="150000"/>
              </a:lnSpc>
              <a:spcBef>
                <a:spcPts val="0"/>
              </a:spcBef>
              <a:spcAft>
                <a:spcPts val="0"/>
              </a:spcAft>
              <a:buClr>
                <a:schemeClr val="dk1"/>
              </a:buClr>
              <a:buSzPts val="1100"/>
              <a:buFont typeface="Arial"/>
              <a:buNone/>
            </a:pPr>
            <a:r>
              <a:t/>
            </a:r>
            <a:endParaRPr sz="1550">
              <a:solidFill>
                <a:srgbClr val="E5E7EB"/>
              </a:solidFill>
              <a:latin typeface="Lato"/>
              <a:ea typeface="Lato"/>
              <a:cs typeface="Lato"/>
              <a:sym typeface="Lato"/>
            </a:endParaRPr>
          </a:p>
          <a:p>
            <a:pPr indent="0" lvl="0" marL="0" rtl="0" algn="l">
              <a:lnSpc>
                <a:spcPct val="150000"/>
              </a:lnSpc>
              <a:spcBef>
                <a:spcPts val="0"/>
              </a:spcBef>
              <a:spcAft>
                <a:spcPts val="0"/>
              </a:spcAft>
              <a:buClr>
                <a:schemeClr val="dk1"/>
              </a:buClr>
              <a:buSzPts val="1100"/>
              <a:buFont typeface="Arial"/>
              <a:buNone/>
            </a:pPr>
            <a:r>
              <a:rPr lang="en-US" sz="1550">
                <a:solidFill>
                  <a:srgbClr val="E5E7EB"/>
                </a:solidFill>
                <a:latin typeface="Lato"/>
                <a:ea typeface="Lato"/>
                <a:cs typeface="Lato"/>
                <a:sym typeface="Lato"/>
              </a:rPr>
              <a:t>The goal is to ensure seamless communication, optimized performance, and future readiness by carefully planning each aspect of the network — from topology and device selection to IP addressing and risk management. Using Cisco Packet Tracer, the proposed design will be simulated and tested to verify its functionality and compliance with Campus Architecture standards.</a:t>
            </a:r>
            <a:endParaRPr sz="1550">
              <a:solidFill>
                <a:srgbClr val="E5E7EB"/>
              </a:solidFill>
              <a:latin typeface="Lato"/>
              <a:ea typeface="Lato"/>
              <a:cs typeface="Lato"/>
              <a:sym typeface="Lato"/>
            </a:endParaRPr>
          </a:p>
          <a:p>
            <a:pPr indent="0" lvl="0" marL="0" rtl="0" algn="l">
              <a:lnSpc>
                <a:spcPct val="150000"/>
              </a:lnSpc>
              <a:spcBef>
                <a:spcPts val="0"/>
              </a:spcBef>
              <a:spcAft>
                <a:spcPts val="0"/>
              </a:spcAft>
              <a:buClr>
                <a:schemeClr val="dk1"/>
              </a:buClr>
              <a:buSzPts val="1100"/>
              <a:buFont typeface="Arial"/>
              <a:buNone/>
            </a:pPr>
            <a:r>
              <a:t/>
            </a:r>
            <a:endParaRPr sz="1550">
              <a:solidFill>
                <a:srgbClr val="E5E7EB"/>
              </a:solidFill>
              <a:latin typeface="Lato"/>
              <a:ea typeface="Lato"/>
              <a:cs typeface="Lato"/>
              <a:sym typeface="Lato"/>
            </a:endParaRPr>
          </a:p>
          <a:p>
            <a:pPr indent="0" lvl="0" marL="0" rtl="0" algn="l">
              <a:lnSpc>
                <a:spcPct val="150000"/>
              </a:lnSpc>
              <a:spcBef>
                <a:spcPts val="0"/>
              </a:spcBef>
              <a:spcAft>
                <a:spcPts val="0"/>
              </a:spcAft>
              <a:buClr>
                <a:schemeClr val="dk1"/>
              </a:buClr>
              <a:buSzPts val="1100"/>
              <a:buFont typeface="Arial"/>
              <a:buNone/>
            </a:pPr>
            <a:r>
              <a:rPr lang="en-US" sz="1550">
                <a:solidFill>
                  <a:srgbClr val="E5E7EB"/>
                </a:solidFill>
                <a:latin typeface="Lato"/>
                <a:ea typeface="Lato"/>
                <a:cs typeface="Lato"/>
                <a:sym typeface="Lato"/>
              </a:rPr>
              <a:t>In addition to the design and implementation simulation, this document also provides troubleshooting procedures, risk reduction policies, and comprehensive documentation to ensure smooth deployment, maintenance, and long-term reliability of MotorPH’s network infrastructure.</a:t>
            </a:r>
            <a:endParaRPr sz="1550">
              <a:solidFill>
                <a:srgbClr val="E5E7EB"/>
              </a:solidFill>
              <a:latin typeface="Lato"/>
              <a:ea typeface="Lato"/>
              <a:cs typeface="Lato"/>
              <a:sym typeface="Lato"/>
            </a:endParaRPr>
          </a:p>
          <a:p>
            <a:pPr indent="0" lvl="0" marL="0" marR="0" rtl="0" algn="l">
              <a:lnSpc>
                <a:spcPct val="150000"/>
              </a:lnSpc>
              <a:spcBef>
                <a:spcPts val="0"/>
              </a:spcBef>
              <a:spcAft>
                <a:spcPts val="0"/>
              </a:spcAft>
              <a:buNone/>
            </a:pPr>
            <a:r>
              <a:t/>
            </a:r>
            <a:endParaRPr sz="1550">
              <a:solidFill>
                <a:srgbClr val="E5E7EB"/>
              </a:solidFill>
              <a:latin typeface="Lato"/>
              <a:ea typeface="Lato"/>
              <a:cs typeface="Lato"/>
              <a:sym typeface="Lato"/>
            </a:endParaRPr>
          </a:p>
        </p:txBody>
      </p:sp>
      <p:pic>
        <p:nvPicPr>
          <p:cNvPr id="134" name="Google Shape;134;p17"/>
          <p:cNvPicPr preferRelativeResize="0"/>
          <p:nvPr/>
        </p:nvPicPr>
        <p:blipFill rotWithShape="1">
          <a:blip r:embed="rId3">
            <a:alphaModFix/>
          </a:blip>
          <a:srcRect b="11567" l="0" r="0" t="11574"/>
          <a:stretch/>
        </p:blipFill>
        <p:spPr>
          <a:xfrm>
            <a:off x="339825" y="6140525"/>
            <a:ext cx="1214557" cy="466725"/>
          </a:xfrm>
          <a:prstGeom prst="rect">
            <a:avLst/>
          </a:prstGeom>
          <a:noFill/>
          <a:ln>
            <a:noFill/>
          </a:ln>
        </p:spPr>
      </p:pic>
      <p:sp>
        <p:nvSpPr>
          <p:cNvPr id="135" name="Google Shape;135;p17"/>
          <p:cNvSpPr txBox="1"/>
          <p:nvPr/>
        </p:nvSpPr>
        <p:spPr>
          <a:xfrm>
            <a:off x="9717300" y="6451000"/>
            <a:ext cx="1973700" cy="2925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700"/>
              <a:buFont typeface="Arial"/>
              <a:buNone/>
            </a:pPr>
            <a:r>
              <a:rPr b="0" i="0" lang="en-US" sz="700" u="none" cap="none" strike="noStrike">
                <a:solidFill>
                  <a:schemeClr val="lt1"/>
                </a:solidFill>
                <a:latin typeface="Nunito"/>
                <a:ea typeface="Nunito"/>
                <a:cs typeface="Nunito"/>
                <a:sym typeface="Nunito"/>
              </a:rPr>
              <a:t>MO-IT104 Computer Networks</a:t>
            </a:r>
            <a:endParaRPr b="0" i="0" sz="700" u="none" cap="none" strike="noStrike">
              <a:solidFill>
                <a:schemeClr val="lt1"/>
              </a:solidFill>
              <a:latin typeface="Nunito"/>
              <a:ea typeface="Nunito"/>
              <a:cs typeface="Nunito"/>
              <a:sym typeface="Nuni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9" name="Shape 139"/>
        <p:cNvGrpSpPr/>
        <p:nvPr/>
      </p:nvGrpSpPr>
      <p:grpSpPr>
        <a:xfrm>
          <a:off x="0" y="0"/>
          <a:ext cx="0" cy="0"/>
          <a:chOff x="0" y="0"/>
          <a:chExt cx="0" cy="0"/>
        </a:xfrm>
      </p:grpSpPr>
      <p:sp>
        <p:nvSpPr>
          <p:cNvPr id="140" name="Google Shape;140;p18"/>
          <p:cNvSpPr txBox="1"/>
          <p:nvPr/>
        </p:nvSpPr>
        <p:spPr>
          <a:xfrm>
            <a:off x="702875" y="507975"/>
            <a:ext cx="7755300" cy="808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5250">
                <a:solidFill>
                  <a:srgbClr val="FFFFFF"/>
                </a:solidFill>
                <a:latin typeface="Lato"/>
                <a:ea typeface="Lato"/>
                <a:cs typeface="Lato"/>
                <a:sym typeface="Lato"/>
              </a:rPr>
              <a:t>Decision-Making Process</a:t>
            </a:r>
            <a:endParaRPr b="1">
              <a:latin typeface="Lato"/>
              <a:ea typeface="Lato"/>
              <a:cs typeface="Lato"/>
              <a:sym typeface="Lato"/>
            </a:endParaRPr>
          </a:p>
        </p:txBody>
      </p:sp>
      <p:sp>
        <p:nvSpPr>
          <p:cNvPr id="141" name="Google Shape;141;p18"/>
          <p:cNvSpPr txBox="1"/>
          <p:nvPr/>
        </p:nvSpPr>
        <p:spPr>
          <a:xfrm>
            <a:off x="702875" y="1435050"/>
            <a:ext cx="9948300" cy="3078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2000">
                <a:solidFill>
                  <a:srgbClr val="F1F5F9"/>
                </a:solidFill>
                <a:latin typeface="Lato"/>
                <a:ea typeface="Lato"/>
                <a:cs typeface="Lato"/>
                <a:sym typeface="Lato"/>
              </a:rPr>
              <a:t>Network Design Rationale</a:t>
            </a:r>
            <a:endParaRPr b="1" sz="1600">
              <a:latin typeface="Lato"/>
              <a:ea typeface="Lato"/>
              <a:cs typeface="Lato"/>
              <a:sym typeface="Lato"/>
            </a:endParaRPr>
          </a:p>
        </p:txBody>
      </p:sp>
      <p:sp>
        <p:nvSpPr>
          <p:cNvPr id="142" name="Google Shape;142;p18"/>
          <p:cNvSpPr txBox="1"/>
          <p:nvPr/>
        </p:nvSpPr>
        <p:spPr>
          <a:xfrm>
            <a:off x="595900" y="1894063"/>
            <a:ext cx="8967600" cy="1657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2000">
                <a:solidFill>
                  <a:schemeClr val="lt1"/>
                </a:solidFill>
                <a:latin typeface="Lato"/>
                <a:ea typeface="Lato"/>
                <a:cs typeface="Lato"/>
                <a:sym typeface="Lato"/>
              </a:rPr>
              <a:t>Key Considerations:</a:t>
            </a:r>
            <a:endParaRPr b="1" sz="1900">
              <a:solidFill>
                <a:schemeClr val="lt1"/>
              </a:solidFill>
              <a:latin typeface="Lato"/>
              <a:ea typeface="Lato"/>
              <a:cs typeface="Lato"/>
              <a:sym typeface="Lato"/>
            </a:endParaRPr>
          </a:p>
          <a:p>
            <a:pPr indent="-349250" lvl="0" marL="457200" rtl="0" algn="l">
              <a:lnSpc>
                <a:spcPct val="115000"/>
              </a:lnSpc>
              <a:spcBef>
                <a:spcPts val="1200"/>
              </a:spcBef>
              <a:spcAft>
                <a:spcPts val="0"/>
              </a:spcAft>
              <a:buClr>
                <a:schemeClr val="lt1"/>
              </a:buClr>
              <a:buSzPts val="1900"/>
              <a:buFont typeface="Lato"/>
              <a:buChar char="●"/>
            </a:pPr>
            <a:r>
              <a:rPr b="1" lang="en-US" sz="1900">
                <a:solidFill>
                  <a:schemeClr val="lt1"/>
                </a:solidFill>
                <a:latin typeface="Lato"/>
                <a:ea typeface="Lato"/>
                <a:cs typeface="Lato"/>
                <a:sym typeface="Lato"/>
              </a:rPr>
              <a:t>Multiple departments require segmentation for organization and security.</a:t>
            </a:r>
            <a:endParaRPr b="1" sz="1900">
              <a:solidFill>
                <a:schemeClr val="lt1"/>
              </a:solidFill>
              <a:latin typeface="Lato"/>
              <a:ea typeface="Lato"/>
              <a:cs typeface="Lato"/>
              <a:sym typeface="Lato"/>
            </a:endParaRPr>
          </a:p>
          <a:p>
            <a:pPr indent="-349250" lvl="0" marL="457200" rtl="0" algn="l">
              <a:lnSpc>
                <a:spcPct val="115000"/>
              </a:lnSpc>
              <a:spcBef>
                <a:spcPts val="0"/>
              </a:spcBef>
              <a:spcAft>
                <a:spcPts val="0"/>
              </a:spcAft>
              <a:buClr>
                <a:schemeClr val="lt1"/>
              </a:buClr>
              <a:buSzPts val="1900"/>
              <a:buFont typeface="Lato"/>
              <a:buChar char="●"/>
            </a:pPr>
            <a:r>
              <a:rPr b="1" lang="en-US" sz="1900">
                <a:solidFill>
                  <a:schemeClr val="lt1"/>
                </a:solidFill>
                <a:latin typeface="Lato"/>
                <a:ea typeface="Lato"/>
                <a:cs typeface="Lato"/>
                <a:sym typeface="Lato"/>
              </a:rPr>
              <a:t>Departments must still communicate when authorized.</a:t>
            </a:r>
            <a:endParaRPr b="1" sz="1900">
              <a:solidFill>
                <a:schemeClr val="lt1"/>
              </a:solidFill>
              <a:latin typeface="Lato"/>
              <a:ea typeface="Lato"/>
              <a:cs typeface="Lato"/>
              <a:sym typeface="Lato"/>
            </a:endParaRPr>
          </a:p>
          <a:p>
            <a:pPr indent="-349250" lvl="0" marL="457200" rtl="0" algn="l">
              <a:lnSpc>
                <a:spcPct val="115000"/>
              </a:lnSpc>
              <a:spcBef>
                <a:spcPts val="0"/>
              </a:spcBef>
              <a:spcAft>
                <a:spcPts val="0"/>
              </a:spcAft>
              <a:buClr>
                <a:schemeClr val="lt1"/>
              </a:buClr>
              <a:buSzPts val="1900"/>
              <a:buFont typeface="Lato"/>
              <a:buChar char="●"/>
            </a:pPr>
            <a:r>
              <a:rPr b="1" lang="en-US" sz="1900">
                <a:solidFill>
                  <a:schemeClr val="lt1"/>
                </a:solidFill>
                <a:latin typeface="Lato"/>
                <a:ea typeface="Lato"/>
                <a:cs typeface="Lato"/>
                <a:sym typeface="Lato"/>
              </a:rPr>
              <a:t>The network must scale for future expansion.</a:t>
            </a:r>
            <a:endParaRPr b="1" sz="1900">
              <a:solidFill>
                <a:schemeClr val="lt1"/>
              </a:solidFill>
              <a:latin typeface="Lato"/>
              <a:ea typeface="Lato"/>
              <a:cs typeface="Lato"/>
              <a:sym typeface="Lato"/>
            </a:endParaRPr>
          </a:p>
        </p:txBody>
      </p:sp>
      <p:sp>
        <p:nvSpPr>
          <p:cNvPr id="143" name="Google Shape;143;p18"/>
          <p:cNvSpPr txBox="1"/>
          <p:nvPr/>
        </p:nvSpPr>
        <p:spPr>
          <a:xfrm>
            <a:off x="702875" y="3655525"/>
            <a:ext cx="8967600" cy="1303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2000">
                <a:solidFill>
                  <a:schemeClr val="lt1"/>
                </a:solidFill>
                <a:latin typeface="Lato"/>
                <a:ea typeface="Lato"/>
                <a:cs typeface="Lato"/>
                <a:sym typeface="Lato"/>
              </a:rPr>
              <a:t>Design Choice: Layer 3 Core–Access Architecture</a:t>
            </a:r>
            <a:br>
              <a:rPr b="1" lang="en-US" sz="2000">
                <a:solidFill>
                  <a:schemeClr val="lt1"/>
                </a:solidFill>
                <a:latin typeface="Lato"/>
                <a:ea typeface="Lato"/>
                <a:cs typeface="Lato"/>
                <a:sym typeface="Lato"/>
              </a:rPr>
            </a:br>
            <a:r>
              <a:rPr b="1" lang="en-US" sz="1800">
                <a:solidFill>
                  <a:schemeClr val="lt1"/>
                </a:solidFill>
                <a:latin typeface="Lato"/>
                <a:ea typeface="Lato"/>
                <a:cs typeface="Lato"/>
                <a:sym typeface="Lato"/>
              </a:rPr>
              <a:t>Why:</a:t>
            </a:r>
            <a:endParaRPr b="1" sz="1800">
              <a:solidFill>
                <a:schemeClr val="lt1"/>
              </a:solidFill>
              <a:latin typeface="Lato"/>
              <a:ea typeface="Lato"/>
              <a:cs typeface="Lato"/>
              <a:sym typeface="Lato"/>
            </a:endParaRPr>
          </a:p>
          <a:p>
            <a:pPr indent="0" lvl="0" marL="0" rtl="0" algn="l">
              <a:lnSpc>
                <a:spcPct val="115000"/>
              </a:lnSpc>
              <a:spcBef>
                <a:spcPts val="1200"/>
              </a:spcBef>
              <a:spcAft>
                <a:spcPts val="1200"/>
              </a:spcAft>
              <a:buNone/>
            </a:pPr>
            <a:r>
              <a:t/>
            </a:r>
            <a:endParaRPr b="1" sz="1900">
              <a:solidFill>
                <a:schemeClr val="lt1"/>
              </a:solidFill>
              <a:latin typeface="Lato"/>
              <a:ea typeface="Lato"/>
              <a:cs typeface="Lato"/>
              <a:sym typeface="Lato"/>
            </a:endParaRPr>
          </a:p>
        </p:txBody>
      </p:sp>
      <p:graphicFrame>
        <p:nvGraphicFramePr>
          <p:cNvPr id="144" name="Google Shape;144;p18"/>
          <p:cNvGraphicFramePr/>
          <p:nvPr/>
        </p:nvGraphicFramePr>
        <p:xfrm>
          <a:off x="702875" y="4466750"/>
          <a:ext cx="3000000" cy="3000000"/>
        </p:xfrm>
        <a:graphic>
          <a:graphicData uri="http://schemas.openxmlformats.org/drawingml/2006/table">
            <a:tbl>
              <a:tblPr>
                <a:noFill/>
                <a:tableStyleId>{2D9941DB-C5CA-4354-9814-030D0BF2D622}</a:tableStyleId>
              </a:tblPr>
              <a:tblGrid>
                <a:gridCol w="5143500"/>
                <a:gridCol w="5143500"/>
              </a:tblGrid>
              <a:tr h="381000">
                <a:tc>
                  <a:txBody>
                    <a:bodyPr/>
                    <a:lstStyle/>
                    <a:p>
                      <a:pPr indent="0" lvl="0" marL="0" rtl="0" algn="l">
                        <a:spcBef>
                          <a:spcPts val="0"/>
                        </a:spcBef>
                        <a:spcAft>
                          <a:spcPts val="0"/>
                        </a:spcAft>
                        <a:buNone/>
                      </a:pPr>
                      <a:r>
                        <a:rPr b="1" lang="en-US">
                          <a:solidFill>
                            <a:srgbClr val="FFFFFF"/>
                          </a:solidFill>
                          <a:latin typeface="Lato"/>
                          <a:ea typeface="Lato"/>
                          <a:cs typeface="Lato"/>
                          <a:sym typeface="Lato"/>
                        </a:rPr>
                        <a:t>Option</a:t>
                      </a:r>
                      <a:endParaRPr b="1">
                        <a:solidFill>
                          <a:srgbClr val="FFFFFF"/>
                        </a:solidFill>
                        <a:latin typeface="Lato"/>
                        <a:ea typeface="Lato"/>
                        <a:cs typeface="Lato"/>
                        <a:sym typeface="Lato"/>
                      </a:endParaRPr>
                    </a:p>
                  </a:txBody>
                  <a:tcPr marT="91425" marB="91425" marR="91425" marL="91425">
                    <a:noFill/>
                  </a:tcPr>
                </a:tc>
                <a:tc>
                  <a:txBody>
                    <a:bodyPr/>
                    <a:lstStyle/>
                    <a:p>
                      <a:pPr indent="0" lvl="0" marL="0" rtl="0" algn="l">
                        <a:spcBef>
                          <a:spcPts val="0"/>
                        </a:spcBef>
                        <a:spcAft>
                          <a:spcPts val="0"/>
                        </a:spcAft>
                        <a:buNone/>
                      </a:pPr>
                      <a:r>
                        <a:rPr b="1" lang="en-US">
                          <a:solidFill>
                            <a:srgbClr val="FFFFFF"/>
                          </a:solidFill>
                          <a:latin typeface="Lato"/>
                          <a:ea typeface="Lato"/>
                          <a:cs typeface="Lato"/>
                          <a:sym typeface="Lato"/>
                        </a:rPr>
                        <a:t>Result</a:t>
                      </a:r>
                      <a:endParaRPr b="1">
                        <a:solidFill>
                          <a:srgbClr val="FFFFFF"/>
                        </a:solidFill>
                        <a:latin typeface="Lato"/>
                        <a:ea typeface="Lato"/>
                        <a:cs typeface="Lato"/>
                        <a:sym typeface="Lato"/>
                      </a:endParaRPr>
                    </a:p>
                  </a:txBody>
                  <a:tcPr marT="91425" marB="91425" marR="91425" marL="91425">
                    <a:noFill/>
                  </a:tcPr>
                </a:tc>
              </a:tr>
              <a:tr h="381000">
                <a:tc>
                  <a:txBody>
                    <a:bodyPr/>
                    <a:lstStyle/>
                    <a:p>
                      <a:pPr indent="0" lvl="0" marL="0" rtl="0" algn="l">
                        <a:spcBef>
                          <a:spcPts val="0"/>
                        </a:spcBef>
                        <a:spcAft>
                          <a:spcPts val="0"/>
                        </a:spcAft>
                        <a:buNone/>
                      </a:pPr>
                      <a:r>
                        <a:rPr b="1" lang="en-US">
                          <a:solidFill>
                            <a:srgbClr val="FFFFFF"/>
                          </a:solidFill>
                          <a:latin typeface="Lato"/>
                          <a:ea typeface="Lato"/>
                          <a:cs typeface="Lato"/>
                          <a:sym typeface="Lato"/>
                        </a:rPr>
                        <a:t>Router-on-a-Stick</a:t>
                      </a:r>
                      <a:endParaRPr b="1">
                        <a:solidFill>
                          <a:srgbClr val="FFFFFF"/>
                        </a:solidFill>
                        <a:latin typeface="Lato"/>
                        <a:ea typeface="Lato"/>
                        <a:cs typeface="Lato"/>
                        <a:sym typeface="Lato"/>
                      </a:endParaRPr>
                    </a:p>
                  </a:txBody>
                  <a:tcPr marT="91425" marB="91425" marR="91425" marL="91425">
                    <a:noFill/>
                  </a:tcPr>
                </a:tc>
                <a:tc>
                  <a:txBody>
                    <a:bodyPr/>
                    <a:lstStyle/>
                    <a:p>
                      <a:pPr indent="0" lvl="0" marL="0" rtl="0" algn="l">
                        <a:spcBef>
                          <a:spcPts val="0"/>
                        </a:spcBef>
                        <a:spcAft>
                          <a:spcPts val="0"/>
                        </a:spcAft>
                        <a:buNone/>
                      </a:pPr>
                      <a:r>
                        <a:rPr b="1" lang="en-US">
                          <a:solidFill>
                            <a:srgbClr val="FFFFFF"/>
                          </a:solidFill>
                          <a:latin typeface="Lato"/>
                          <a:ea typeface="Lato"/>
                          <a:cs typeface="Lato"/>
                          <a:sym typeface="Lato"/>
                        </a:rPr>
                        <a:t>Introduces bandwidth bottleneck / slower routing</a:t>
                      </a:r>
                      <a:endParaRPr b="1">
                        <a:solidFill>
                          <a:srgbClr val="FFFFFF"/>
                        </a:solidFill>
                        <a:latin typeface="Lato"/>
                        <a:ea typeface="Lato"/>
                        <a:cs typeface="Lato"/>
                        <a:sym typeface="Lato"/>
                      </a:endParaRPr>
                    </a:p>
                  </a:txBody>
                  <a:tcPr marT="91425" marB="91425" marR="91425" marL="91425">
                    <a:noFill/>
                  </a:tcPr>
                </a:tc>
              </a:tr>
              <a:tr h="381000">
                <a:tc>
                  <a:txBody>
                    <a:bodyPr/>
                    <a:lstStyle/>
                    <a:p>
                      <a:pPr indent="0" lvl="0" marL="0" rtl="0" algn="l">
                        <a:spcBef>
                          <a:spcPts val="0"/>
                        </a:spcBef>
                        <a:spcAft>
                          <a:spcPts val="0"/>
                        </a:spcAft>
                        <a:buNone/>
                      </a:pPr>
                      <a:r>
                        <a:rPr b="1" lang="en-US">
                          <a:solidFill>
                            <a:srgbClr val="FFFFFF"/>
                          </a:solidFill>
                          <a:latin typeface="Lato"/>
                          <a:ea typeface="Lato"/>
                          <a:cs typeface="Lato"/>
                          <a:sym typeface="Lato"/>
                        </a:rPr>
                        <a:t>Layer 3 Switching (Selected)</a:t>
                      </a:r>
                      <a:endParaRPr b="1">
                        <a:solidFill>
                          <a:srgbClr val="FFFFFF"/>
                        </a:solidFill>
                        <a:latin typeface="Lato"/>
                        <a:ea typeface="Lato"/>
                        <a:cs typeface="Lato"/>
                        <a:sym typeface="Lato"/>
                      </a:endParaRPr>
                    </a:p>
                  </a:txBody>
                  <a:tcPr marT="91425" marB="91425" marR="91425" marL="91425">
                    <a:noFill/>
                  </a:tcPr>
                </a:tc>
                <a:tc>
                  <a:txBody>
                    <a:bodyPr/>
                    <a:lstStyle/>
                    <a:p>
                      <a:pPr indent="0" lvl="0" marL="0" rtl="0" algn="l">
                        <a:spcBef>
                          <a:spcPts val="0"/>
                        </a:spcBef>
                        <a:spcAft>
                          <a:spcPts val="0"/>
                        </a:spcAft>
                        <a:buNone/>
                      </a:pPr>
                      <a:r>
                        <a:rPr b="1" lang="en-US">
                          <a:solidFill>
                            <a:srgbClr val="FFFFFF"/>
                          </a:solidFill>
                          <a:latin typeface="Lato"/>
                          <a:ea typeface="Lato"/>
                          <a:cs typeface="Lato"/>
                          <a:sym typeface="Lato"/>
                        </a:rPr>
                        <a:t>Inter-VLAN routing occurs at wire-speed, scalable, simpler to manage</a:t>
                      </a:r>
                      <a:endParaRPr b="1">
                        <a:solidFill>
                          <a:srgbClr val="FFFFFF"/>
                        </a:solidFill>
                        <a:latin typeface="Lato"/>
                        <a:ea typeface="Lato"/>
                        <a:cs typeface="Lato"/>
                        <a:sym typeface="Lato"/>
                      </a:endParaRPr>
                    </a:p>
                  </a:txBody>
                  <a:tcPr marT="91425" marB="91425" marR="91425" marL="91425">
                    <a:noFill/>
                  </a:tcPr>
                </a:tc>
              </a:tr>
            </a:tbl>
          </a:graphicData>
        </a:graphic>
      </p:graphicFrame>
      <p:pic>
        <p:nvPicPr>
          <p:cNvPr id="145" name="Google Shape;145;p18"/>
          <p:cNvPicPr preferRelativeResize="0"/>
          <p:nvPr/>
        </p:nvPicPr>
        <p:blipFill rotWithShape="1">
          <a:blip r:embed="rId4">
            <a:alphaModFix/>
          </a:blip>
          <a:srcRect b="11567" l="0" r="0" t="11574"/>
          <a:stretch/>
        </p:blipFill>
        <p:spPr>
          <a:xfrm>
            <a:off x="339825" y="6140525"/>
            <a:ext cx="1214557" cy="466725"/>
          </a:xfrm>
          <a:prstGeom prst="rect">
            <a:avLst/>
          </a:prstGeom>
          <a:noFill/>
          <a:ln>
            <a:noFill/>
          </a:ln>
        </p:spPr>
      </p:pic>
      <p:sp>
        <p:nvSpPr>
          <p:cNvPr id="146" name="Google Shape;146;p18"/>
          <p:cNvSpPr txBox="1"/>
          <p:nvPr/>
        </p:nvSpPr>
        <p:spPr>
          <a:xfrm>
            <a:off x="9717300" y="6451000"/>
            <a:ext cx="1973700" cy="2925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700"/>
              <a:buFont typeface="Arial"/>
              <a:buNone/>
            </a:pPr>
            <a:r>
              <a:rPr b="0" i="0" lang="en-US" sz="700" u="none" cap="none" strike="noStrike">
                <a:solidFill>
                  <a:schemeClr val="lt1"/>
                </a:solidFill>
                <a:latin typeface="Nunito"/>
                <a:ea typeface="Nunito"/>
                <a:cs typeface="Nunito"/>
                <a:sym typeface="Nunito"/>
              </a:rPr>
              <a:t>MO-IT104 Computer Networks</a:t>
            </a:r>
            <a:endParaRPr b="0" i="0" sz="700" u="none" cap="none" strike="noStrike">
              <a:solidFill>
                <a:schemeClr val="lt1"/>
              </a:solidFill>
              <a:latin typeface="Nunito"/>
              <a:ea typeface="Nunito"/>
              <a:cs typeface="Nunito"/>
              <a:sym typeface="Nuni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827"/>
        </a:solidFill>
      </p:bgPr>
    </p:bg>
    <p:spTree>
      <p:nvGrpSpPr>
        <p:cNvPr id="150" name="Shape 150"/>
        <p:cNvGrpSpPr/>
        <p:nvPr/>
      </p:nvGrpSpPr>
      <p:grpSpPr>
        <a:xfrm>
          <a:off x="0" y="0"/>
          <a:ext cx="0" cy="0"/>
          <a:chOff x="0" y="0"/>
          <a:chExt cx="0" cy="0"/>
        </a:xfrm>
      </p:grpSpPr>
      <p:pic>
        <p:nvPicPr>
          <p:cNvPr descr="image.png" id="151" name="Google Shape;151;p1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52" name="Google Shape;152;p19"/>
          <p:cNvPicPr preferRelativeResize="0"/>
          <p:nvPr/>
        </p:nvPicPr>
        <p:blipFill rotWithShape="1">
          <a:blip r:embed="rId4">
            <a:alphaModFix/>
          </a:blip>
          <a:srcRect b="0" l="0" r="0" t="0"/>
          <a:stretch/>
        </p:blipFill>
        <p:spPr>
          <a:xfrm>
            <a:off x="6334125" y="2181225"/>
            <a:ext cx="5286375" cy="3333750"/>
          </a:xfrm>
          <a:prstGeom prst="rect">
            <a:avLst/>
          </a:prstGeom>
          <a:noFill/>
          <a:ln>
            <a:noFill/>
          </a:ln>
        </p:spPr>
      </p:pic>
      <p:sp>
        <p:nvSpPr>
          <p:cNvPr id="153" name="Google Shape;153;p19"/>
          <p:cNvSpPr txBox="1"/>
          <p:nvPr/>
        </p:nvSpPr>
        <p:spPr>
          <a:xfrm>
            <a:off x="571500" y="2181225"/>
            <a:ext cx="5550600" cy="369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FFFFFF"/>
                </a:solidFill>
                <a:latin typeface="Urbanist"/>
                <a:ea typeface="Urbanist"/>
                <a:cs typeface="Urbanist"/>
                <a:sym typeface="Urbanist"/>
              </a:rPr>
              <a:t>Model: </a:t>
            </a:r>
            <a:r>
              <a:rPr b="1" lang="en-US" sz="2400">
                <a:solidFill>
                  <a:srgbClr val="FFFFFF"/>
                </a:solidFill>
                <a:latin typeface="Urbanist"/>
                <a:ea typeface="Urbanist"/>
                <a:cs typeface="Urbanist"/>
                <a:sym typeface="Urbanist"/>
              </a:rPr>
              <a:t>Hierarchical</a:t>
            </a:r>
            <a:r>
              <a:rPr b="1" lang="en-US" sz="2400">
                <a:solidFill>
                  <a:srgbClr val="FFFFFF"/>
                </a:solidFill>
                <a:latin typeface="Urbanist"/>
                <a:ea typeface="Urbanist"/>
                <a:cs typeface="Urbanist"/>
                <a:sym typeface="Urbanist"/>
              </a:rPr>
              <a:t> </a:t>
            </a:r>
            <a:r>
              <a:rPr b="1" i="0" lang="en-US" sz="2400" u="none" cap="none" strike="noStrike">
                <a:solidFill>
                  <a:srgbClr val="FFFFFF"/>
                </a:solidFill>
                <a:latin typeface="Urbanist"/>
                <a:ea typeface="Urbanist"/>
                <a:cs typeface="Urbanist"/>
                <a:sym typeface="Urbanist"/>
              </a:rPr>
              <a:t>Star Topology</a:t>
            </a:r>
            <a:endParaRPr/>
          </a:p>
        </p:txBody>
      </p:sp>
      <p:sp>
        <p:nvSpPr>
          <p:cNvPr id="154" name="Google Shape;154;p19"/>
          <p:cNvSpPr txBox="1"/>
          <p:nvPr/>
        </p:nvSpPr>
        <p:spPr>
          <a:xfrm>
            <a:off x="571500" y="2714625"/>
            <a:ext cx="5286375" cy="77152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E5E7EB"/>
                </a:solidFill>
                <a:latin typeface="Lato"/>
                <a:ea typeface="Lato"/>
                <a:cs typeface="Lato"/>
                <a:sym typeface="Lato"/>
              </a:rPr>
              <a:t>The network employs an extended star (or hierarchical) topology. All end devices connect to an access-layer switch, and all access-layer switches connect to a central core switch.</a:t>
            </a:r>
            <a:endParaRPr/>
          </a:p>
        </p:txBody>
      </p:sp>
      <p:sp>
        <p:nvSpPr>
          <p:cNvPr id="155" name="Google Shape;155;p19"/>
          <p:cNvSpPr txBox="1"/>
          <p:nvPr/>
        </p:nvSpPr>
        <p:spPr>
          <a:xfrm>
            <a:off x="571500" y="3657600"/>
            <a:ext cx="5286375" cy="5143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E5E7EB"/>
                </a:solidFill>
                <a:latin typeface="Lato"/>
                <a:ea typeface="Lato"/>
                <a:cs typeface="Lato"/>
                <a:sym typeface="Lato"/>
              </a:rPr>
              <a:t>This design is highly scalable, easy to troubleshoot, and provides high performance by isolating traffic domains.</a:t>
            </a:r>
            <a:endParaRPr/>
          </a:p>
        </p:txBody>
      </p:sp>
      <p:pic>
        <p:nvPicPr>
          <p:cNvPr descr="image.png" id="156" name="Google Shape;156;p19"/>
          <p:cNvPicPr preferRelativeResize="0"/>
          <p:nvPr/>
        </p:nvPicPr>
        <p:blipFill rotWithShape="1">
          <a:blip r:embed="rId5">
            <a:alphaModFix/>
          </a:blip>
          <a:srcRect b="0" l="0" r="0" t="0"/>
          <a:stretch/>
        </p:blipFill>
        <p:spPr>
          <a:xfrm>
            <a:off x="6334125" y="2181225"/>
            <a:ext cx="5286375" cy="3333750"/>
          </a:xfrm>
          <a:prstGeom prst="rect">
            <a:avLst/>
          </a:prstGeom>
          <a:noFill/>
          <a:ln>
            <a:noFill/>
          </a:ln>
        </p:spPr>
      </p:pic>
      <p:sp>
        <p:nvSpPr>
          <p:cNvPr id="157" name="Google Shape;157;p19"/>
          <p:cNvSpPr txBox="1"/>
          <p:nvPr/>
        </p:nvSpPr>
        <p:spPr>
          <a:xfrm>
            <a:off x="571500" y="571500"/>
            <a:ext cx="1160145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0AEEF"/>
                </a:solidFill>
                <a:latin typeface="Urbanist"/>
                <a:ea typeface="Urbanist"/>
                <a:cs typeface="Urbanist"/>
                <a:sym typeface="Urbanist"/>
              </a:rPr>
              <a:t>Architectural Overview</a:t>
            </a:r>
            <a:endParaRPr/>
          </a:p>
        </p:txBody>
      </p:sp>
      <p:pic>
        <p:nvPicPr>
          <p:cNvPr id="158" name="Google Shape;158;p19"/>
          <p:cNvPicPr preferRelativeResize="0"/>
          <p:nvPr/>
        </p:nvPicPr>
        <p:blipFill rotWithShape="1">
          <a:blip r:embed="rId6">
            <a:alphaModFix/>
          </a:blip>
          <a:srcRect b="11567" l="0" r="0" t="11574"/>
          <a:stretch/>
        </p:blipFill>
        <p:spPr>
          <a:xfrm>
            <a:off x="339825" y="6140525"/>
            <a:ext cx="1214557" cy="4667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2" name="Shape 162"/>
        <p:cNvGrpSpPr/>
        <p:nvPr/>
      </p:nvGrpSpPr>
      <p:grpSpPr>
        <a:xfrm>
          <a:off x="0" y="0"/>
          <a:ext cx="0" cy="0"/>
          <a:chOff x="0" y="0"/>
          <a:chExt cx="0" cy="0"/>
        </a:xfrm>
      </p:grpSpPr>
      <p:sp>
        <p:nvSpPr>
          <p:cNvPr id="163" name="Google Shape;163;p20"/>
          <p:cNvSpPr txBox="1"/>
          <p:nvPr/>
        </p:nvSpPr>
        <p:spPr>
          <a:xfrm>
            <a:off x="366350" y="189300"/>
            <a:ext cx="10388100" cy="369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FFFFFF"/>
                </a:solidFill>
                <a:latin typeface="Lato"/>
                <a:ea typeface="Lato"/>
                <a:cs typeface="Lato"/>
                <a:sym typeface="Lato"/>
              </a:rPr>
              <a:t>Network Architecture:</a:t>
            </a:r>
            <a:r>
              <a:rPr b="1" lang="en-US" sz="2400">
                <a:solidFill>
                  <a:schemeClr val="dk1"/>
                </a:solidFill>
                <a:latin typeface="Lato"/>
                <a:ea typeface="Lato"/>
                <a:cs typeface="Lato"/>
                <a:sym typeface="Lato"/>
              </a:rPr>
              <a:t> </a:t>
            </a:r>
            <a:r>
              <a:rPr b="1" i="0" lang="en-US" sz="2400" u="none" cap="none" strike="noStrike">
                <a:solidFill>
                  <a:srgbClr val="FFFFFF"/>
                </a:solidFill>
                <a:latin typeface="Lato"/>
                <a:ea typeface="Lato"/>
                <a:cs typeface="Lato"/>
                <a:sym typeface="Lato"/>
              </a:rPr>
              <a:t>Final Solution</a:t>
            </a:r>
            <a:endParaRPr b="1" sz="2400">
              <a:latin typeface="Lato"/>
              <a:ea typeface="Lato"/>
              <a:cs typeface="Lato"/>
              <a:sym typeface="Lato"/>
            </a:endParaRPr>
          </a:p>
        </p:txBody>
      </p:sp>
      <p:sp>
        <p:nvSpPr>
          <p:cNvPr id="164" name="Google Shape;164;p20"/>
          <p:cNvSpPr txBox="1"/>
          <p:nvPr/>
        </p:nvSpPr>
        <p:spPr>
          <a:xfrm>
            <a:off x="366362" y="558600"/>
            <a:ext cx="6562800" cy="292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900" u="none" cap="none" strike="noStrike">
                <a:solidFill>
                  <a:srgbClr val="F1F5F9"/>
                </a:solidFill>
                <a:latin typeface="Lato"/>
                <a:ea typeface="Lato"/>
                <a:cs typeface="Lato"/>
                <a:sym typeface="Lato"/>
              </a:rPr>
              <a:t>An analysis of the proposed network infrastructure.</a:t>
            </a:r>
            <a:endParaRPr b="1" sz="1500">
              <a:latin typeface="Lato"/>
              <a:ea typeface="Lato"/>
              <a:cs typeface="Lato"/>
              <a:sym typeface="Lato"/>
            </a:endParaRPr>
          </a:p>
        </p:txBody>
      </p:sp>
      <p:pic>
        <p:nvPicPr>
          <p:cNvPr id="165" name="Google Shape;165;p20"/>
          <p:cNvPicPr preferRelativeResize="0"/>
          <p:nvPr/>
        </p:nvPicPr>
        <p:blipFill>
          <a:blip r:embed="rId4">
            <a:alphaModFix/>
          </a:blip>
          <a:stretch>
            <a:fillRect/>
          </a:stretch>
        </p:blipFill>
        <p:spPr>
          <a:xfrm>
            <a:off x="5360775" y="1400463"/>
            <a:ext cx="6436874" cy="4984075"/>
          </a:xfrm>
          <a:prstGeom prst="rect">
            <a:avLst/>
          </a:prstGeom>
          <a:noFill/>
          <a:ln>
            <a:noFill/>
          </a:ln>
        </p:spPr>
      </p:pic>
      <p:sp>
        <p:nvSpPr>
          <p:cNvPr id="166" name="Google Shape;166;p20"/>
          <p:cNvSpPr txBox="1"/>
          <p:nvPr/>
        </p:nvSpPr>
        <p:spPr>
          <a:xfrm>
            <a:off x="366350" y="1622400"/>
            <a:ext cx="4516500" cy="454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900">
                <a:solidFill>
                  <a:schemeClr val="lt1"/>
                </a:solidFill>
                <a:latin typeface="Lato"/>
                <a:ea typeface="Lato"/>
                <a:cs typeface="Lato"/>
                <a:sym typeface="Lato"/>
              </a:rPr>
              <a:t>Key Components:</a:t>
            </a:r>
            <a:endParaRPr b="1" sz="1900">
              <a:solidFill>
                <a:schemeClr val="lt1"/>
              </a:solidFill>
              <a:latin typeface="Lato"/>
              <a:ea typeface="Lato"/>
              <a:cs typeface="Lato"/>
              <a:sym typeface="Lato"/>
            </a:endParaRPr>
          </a:p>
          <a:p>
            <a:pPr indent="0" lvl="0" marL="0" rtl="0" algn="l">
              <a:spcBef>
                <a:spcPts val="0"/>
              </a:spcBef>
              <a:spcAft>
                <a:spcPts val="0"/>
              </a:spcAft>
              <a:buNone/>
            </a:pPr>
            <a:r>
              <a:t/>
            </a:r>
            <a:endParaRPr b="1" sz="1800">
              <a:solidFill>
                <a:schemeClr val="lt1"/>
              </a:solidFill>
              <a:latin typeface="Lato"/>
              <a:ea typeface="Lato"/>
              <a:cs typeface="Lato"/>
              <a:sym typeface="Lato"/>
            </a:endParaRPr>
          </a:p>
          <a:p>
            <a:pPr indent="-342900" lvl="0" marL="457200" rtl="0" algn="l">
              <a:spcBef>
                <a:spcPts val="0"/>
              </a:spcBef>
              <a:spcAft>
                <a:spcPts val="0"/>
              </a:spcAft>
              <a:buClr>
                <a:schemeClr val="lt1"/>
              </a:buClr>
              <a:buSzPts val="1800"/>
              <a:buFont typeface="Lato"/>
              <a:buChar char="●"/>
            </a:pPr>
            <a:r>
              <a:rPr b="1" lang="en-US" sz="1800">
                <a:solidFill>
                  <a:schemeClr val="lt1"/>
                </a:solidFill>
                <a:latin typeface="Lato"/>
                <a:ea typeface="Lato"/>
                <a:cs typeface="Lato"/>
                <a:sym typeface="Lato"/>
              </a:rPr>
              <a:t>Core-SW (Layer 3 switch &amp; DHCP server)</a:t>
            </a:r>
            <a:endParaRPr b="1" sz="1800">
              <a:solidFill>
                <a:schemeClr val="lt1"/>
              </a:solidFill>
              <a:latin typeface="Lato"/>
              <a:ea typeface="Lato"/>
              <a:cs typeface="Lato"/>
              <a:sym typeface="Lato"/>
            </a:endParaRPr>
          </a:p>
          <a:p>
            <a:pPr indent="0" lvl="0" marL="457200" rtl="0" algn="l">
              <a:spcBef>
                <a:spcPts val="0"/>
              </a:spcBef>
              <a:spcAft>
                <a:spcPts val="0"/>
              </a:spcAft>
              <a:buNone/>
            </a:pPr>
            <a:r>
              <a:t/>
            </a:r>
            <a:endParaRPr b="1" sz="1800">
              <a:solidFill>
                <a:schemeClr val="lt1"/>
              </a:solidFill>
              <a:latin typeface="Lato"/>
              <a:ea typeface="Lato"/>
              <a:cs typeface="Lato"/>
              <a:sym typeface="Lato"/>
            </a:endParaRPr>
          </a:p>
          <a:p>
            <a:pPr indent="-342900" lvl="0" marL="457200" rtl="0" algn="l">
              <a:spcBef>
                <a:spcPts val="0"/>
              </a:spcBef>
              <a:spcAft>
                <a:spcPts val="0"/>
              </a:spcAft>
              <a:buClr>
                <a:schemeClr val="lt1"/>
              </a:buClr>
              <a:buSzPts val="1800"/>
              <a:buFont typeface="Lato"/>
              <a:buChar char="●"/>
            </a:pPr>
            <a:r>
              <a:rPr b="1" lang="en-US" sz="1800">
                <a:solidFill>
                  <a:schemeClr val="lt1"/>
                </a:solidFill>
                <a:latin typeface="Lato"/>
                <a:ea typeface="Lato"/>
                <a:cs typeface="Lato"/>
                <a:sym typeface="Lato"/>
              </a:rPr>
              <a:t>R1 (Edge router to external network)</a:t>
            </a:r>
            <a:endParaRPr b="1" sz="1800">
              <a:solidFill>
                <a:schemeClr val="lt1"/>
              </a:solidFill>
              <a:latin typeface="Lato"/>
              <a:ea typeface="Lato"/>
              <a:cs typeface="Lato"/>
              <a:sym typeface="Lato"/>
            </a:endParaRPr>
          </a:p>
          <a:p>
            <a:pPr indent="0" lvl="0" marL="457200" rtl="0" algn="l">
              <a:spcBef>
                <a:spcPts val="0"/>
              </a:spcBef>
              <a:spcAft>
                <a:spcPts val="0"/>
              </a:spcAft>
              <a:buNone/>
            </a:pPr>
            <a:r>
              <a:t/>
            </a:r>
            <a:endParaRPr b="1" sz="1800">
              <a:solidFill>
                <a:schemeClr val="lt1"/>
              </a:solidFill>
              <a:latin typeface="Lato"/>
              <a:ea typeface="Lato"/>
              <a:cs typeface="Lato"/>
              <a:sym typeface="Lato"/>
            </a:endParaRPr>
          </a:p>
          <a:p>
            <a:pPr indent="-342900" lvl="0" marL="457200" rtl="0" algn="l">
              <a:spcBef>
                <a:spcPts val="0"/>
              </a:spcBef>
              <a:spcAft>
                <a:spcPts val="0"/>
              </a:spcAft>
              <a:buClr>
                <a:schemeClr val="lt1"/>
              </a:buClr>
              <a:buSzPts val="1800"/>
              <a:buFont typeface="Lato"/>
              <a:buChar char="●"/>
            </a:pPr>
            <a:r>
              <a:rPr b="1" lang="en-US" sz="1800">
                <a:solidFill>
                  <a:schemeClr val="lt1"/>
                </a:solidFill>
                <a:latin typeface="Lato"/>
                <a:ea typeface="Lato"/>
                <a:cs typeface="Lato"/>
                <a:sym typeface="Lato"/>
              </a:rPr>
              <a:t>Access Switches: Sales-SW, HR-SW, Marketing-SW, Accounting-SW, IT-SW</a:t>
            </a:r>
            <a:endParaRPr b="1" sz="1800">
              <a:solidFill>
                <a:schemeClr val="lt1"/>
              </a:solidFill>
              <a:latin typeface="Lato"/>
              <a:ea typeface="Lato"/>
              <a:cs typeface="Lato"/>
              <a:sym typeface="Lato"/>
            </a:endParaRPr>
          </a:p>
          <a:p>
            <a:pPr indent="0" lvl="0" marL="457200" rtl="0" algn="l">
              <a:spcBef>
                <a:spcPts val="0"/>
              </a:spcBef>
              <a:spcAft>
                <a:spcPts val="0"/>
              </a:spcAft>
              <a:buNone/>
            </a:pPr>
            <a:r>
              <a:t/>
            </a:r>
            <a:endParaRPr b="1" sz="1800">
              <a:solidFill>
                <a:schemeClr val="lt1"/>
              </a:solidFill>
              <a:latin typeface="Lato"/>
              <a:ea typeface="Lato"/>
              <a:cs typeface="Lato"/>
              <a:sym typeface="Lato"/>
            </a:endParaRPr>
          </a:p>
          <a:p>
            <a:pPr indent="-342900" lvl="0" marL="457200" rtl="0" algn="l">
              <a:spcBef>
                <a:spcPts val="0"/>
              </a:spcBef>
              <a:spcAft>
                <a:spcPts val="0"/>
              </a:spcAft>
              <a:buClr>
                <a:schemeClr val="lt1"/>
              </a:buClr>
              <a:buSzPts val="1800"/>
              <a:buFont typeface="Lato"/>
              <a:buChar char="●"/>
            </a:pPr>
            <a:r>
              <a:rPr b="1" lang="en-US" sz="1800">
                <a:solidFill>
                  <a:schemeClr val="lt1"/>
                </a:solidFill>
                <a:latin typeface="Lato"/>
                <a:ea typeface="Lato"/>
                <a:cs typeface="Lato"/>
                <a:sym typeface="Lato"/>
              </a:rPr>
              <a:t>End Devices grouped by VLAN/Department</a:t>
            </a:r>
            <a:endParaRPr b="1" sz="1800">
              <a:solidFill>
                <a:schemeClr val="lt1"/>
              </a:solidFill>
              <a:latin typeface="Lato"/>
              <a:ea typeface="Lato"/>
              <a:cs typeface="Lato"/>
              <a:sym typeface="Lato"/>
            </a:endParaRPr>
          </a:p>
          <a:p>
            <a:pPr indent="0" lvl="0" marL="0" rtl="0" algn="l">
              <a:spcBef>
                <a:spcPts val="0"/>
              </a:spcBef>
              <a:spcAft>
                <a:spcPts val="0"/>
              </a:spcAft>
              <a:buNone/>
            </a:pPr>
            <a:r>
              <a:t/>
            </a:r>
            <a:endParaRPr b="1" sz="1800">
              <a:solidFill>
                <a:schemeClr val="lt1"/>
              </a:solidFill>
              <a:latin typeface="Lato"/>
              <a:ea typeface="Lato"/>
              <a:cs typeface="Lato"/>
              <a:sym typeface="Lato"/>
            </a:endParaRPr>
          </a:p>
          <a:p>
            <a:pPr indent="-342900" lvl="1" marL="914400" rtl="0" algn="l">
              <a:spcBef>
                <a:spcPts val="0"/>
              </a:spcBef>
              <a:spcAft>
                <a:spcPts val="0"/>
              </a:spcAft>
              <a:buClr>
                <a:schemeClr val="lt1"/>
              </a:buClr>
              <a:buSzPts val="1800"/>
              <a:buFont typeface="Lato"/>
              <a:buChar char="○"/>
            </a:pPr>
            <a:r>
              <a:rPr b="1" lang="en-US" sz="1800">
                <a:solidFill>
                  <a:schemeClr val="lt1"/>
                </a:solidFill>
                <a:latin typeface="Lato"/>
                <a:ea typeface="Lato"/>
                <a:cs typeface="Lato"/>
                <a:sym typeface="Lato"/>
              </a:rPr>
              <a:t>Architecture: Core → Access → End Devices</a:t>
            </a:r>
            <a:endParaRPr b="1" sz="1800">
              <a:solidFill>
                <a:schemeClr val="lt1"/>
              </a:solidFill>
              <a:latin typeface="Lato"/>
              <a:ea typeface="Lato"/>
              <a:cs typeface="Lato"/>
              <a:sym typeface="Lato"/>
            </a:endParaRPr>
          </a:p>
        </p:txBody>
      </p:sp>
      <p:pic>
        <p:nvPicPr>
          <p:cNvPr id="167" name="Google Shape;167;p20"/>
          <p:cNvPicPr preferRelativeResize="0"/>
          <p:nvPr/>
        </p:nvPicPr>
        <p:blipFill rotWithShape="1">
          <a:blip r:embed="rId5">
            <a:alphaModFix/>
          </a:blip>
          <a:srcRect b="11567" l="0" r="0" t="11574"/>
          <a:stretch/>
        </p:blipFill>
        <p:spPr>
          <a:xfrm>
            <a:off x="339825" y="6140525"/>
            <a:ext cx="1214557" cy="466725"/>
          </a:xfrm>
          <a:prstGeom prst="rect">
            <a:avLst/>
          </a:prstGeom>
          <a:noFill/>
          <a:ln>
            <a:noFill/>
          </a:ln>
        </p:spPr>
      </p:pic>
      <p:sp>
        <p:nvSpPr>
          <p:cNvPr id="168" name="Google Shape;168;p20"/>
          <p:cNvSpPr txBox="1"/>
          <p:nvPr/>
        </p:nvSpPr>
        <p:spPr>
          <a:xfrm>
            <a:off x="9717300" y="6451000"/>
            <a:ext cx="1973700" cy="2925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700"/>
              <a:buFont typeface="Arial"/>
              <a:buNone/>
            </a:pPr>
            <a:r>
              <a:rPr b="0" i="0" lang="en-US" sz="700" u="none" cap="none" strike="noStrike">
                <a:solidFill>
                  <a:schemeClr val="lt1"/>
                </a:solidFill>
                <a:latin typeface="Nunito"/>
                <a:ea typeface="Nunito"/>
                <a:cs typeface="Nunito"/>
                <a:sym typeface="Nunito"/>
              </a:rPr>
              <a:t>MO-IT104 Computer Networks</a:t>
            </a:r>
            <a:endParaRPr b="0" i="0" sz="700" u="none" cap="none" strike="noStrike">
              <a:solidFill>
                <a:schemeClr val="lt1"/>
              </a:solidFill>
              <a:latin typeface="Nunito"/>
              <a:ea typeface="Nunito"/>
              <a:cs typeface="Nunito"/>
              <a:sym typeface="Nuni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827"/>
        </a:solidFill>
      </p:bgPr>
    </p:bg>
    <p:spTree>
      <p:nvGrpSpPr>
        <p:cNvPr id="172" name="Shape 172"/>
        <p:cNvGrpSpPr/>
        <p:nvPr/>
      </p:nvGrpSpPr>
      <p:grpSpPr>
        <a:xfrm>
          <a:off x="0" y="0"/>
          <a:ext cx="0" cy="0"/>
          <a:chOff x="0" y="0"/>
          <a:chExt cx="0" cy="0"/>
        </a:xfrm>
      </p:grpSpPr>
      <p:pic>
        <p:nvPicPr>
          <p:cNvPr descr="image.png" id="173" name="Google Shape;173;p2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74" name="Google Shape;174;p21"/>
          <p:cNvPicPr preferRelativeResize="0"/>
          <p:nvPr/>
        </p:nvPicPr>
        <p:blipFill rotWithShape="1">
          <a:blip r:embed="rId4">
            <a:alphaModFix/>
          </a:blip>
          <a:srcRect b="0" l="0" r="0" t="0"/>
          <a:stretch/>
        </p:blipFill>
        <p:spPr>
          <a:xfrm>
            <a:off x="571500" y="2590800"/>
            <a:ext cx="5286375" cy="2514600"/>
          </a:xfrm>
          <a:prstGeom prst="rect">
            <a:avLst/>
          </a:prstGeom>
          <a:noFill/>
          <a:ln>
            <a:noFill/>
          </a:ln>
        </p:spPr>
      </p:pic>
      <p:pic>
        <p:nvPicPr>
          <p:cNvPr descr="image.png" id="175" name="Google Shape;175;p21"/>
          <p:cNvPicPr preferRelativeResize="0"/>
          <p:nvPr/>
        </p:nvPicPr>
        <p:blipFill rotWithShape="1">
          <a:blip r:embed="rId5">
            <a:alphaModFix/>
          </a:blip>
          <a:srcRect b="0" l="0" r="0" t="0"/>
          <a:stretch/>
        </p:blipFill>
        <p:spPr>
          <a:xfrm>
            <a:off x="6334125" y="2590800"/>
            <a:ext cx="5286375" cy="2514600"/>
          </a:xfrm>
          <a:prstGeom prst="rect">
            <a:avLst/>
          </a:prstGeom>
          <a:noFill/>
          <a:ln>
            <a:noFill/>
          </a:ln>
        </p:spPr>
      </p:pic>
      <p:sp>
        <p:nvSpPr>
          <p:cNvPr id="176" name="Google Shape;176;p21"/>
          <p:cNvSpPr txBox="1"/>
          <p:nvPr/>
        </p:nvSpPr>
        <p:spPr>
          <a:xfrm>
            <a:off x="962025" y="2981325"/>
            <a:ext cx="4730700" cy="369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0AEEF"/>
                </a:solidFill>
                <a:latin typeface="Urbanist"/>
                <a:ea typeface="Urbanist"/>
                <a:cs typeface="Urbanist"/>
                <a:sym typeface="Urbanist"/>
              </a:rPr>
              <a:t>1. Multilayer Core Switch (L</a:t>
            </a:r>
            <a:r>
              <a:rPr b="1" lang="en-US" sz="2400">
                <a:solidFill>
                  <a:srgbClr val="00AEEF"/>
                </a:solidFill>
                <a:latin typeface="Urbanist"/>
                <a:ea typeface="Urbanist"/>
                <a:cs typeface="Urbanist"/>
                <a:sym typeface="Urbanist"/>
              </a:rPr>
              <a:t>3</a:t>
            </a:r>
            <a:r>
              <a:rPr b="1" i="0" lang="en-US" sz="2400" u="none" cap="none" strike="noStrike">
                <a:solidFill>
                  <a:srgbClr val="00AEEF"/>
                </a:solidFill>
                <a:latin typeface="Urbanist"/>
                <a:ea typeface="Urbanist"/>
                <a:cs typeface="Urbanist"/>
                <a:sym typeface="Urbanist"/>
              </a:rPr>
              <a:t>)</a:t>
            </a:r>
            <a:endParaRPr/>
          </a:p>
        </p:txBody>
      </p:sp>
      <p:sp>
        <p:nvSpPr>
          <p:cNvPr id="177" name="Google Shape;177;p21"/>
          <p:cNvSpPr txBox="1"/>
          <p:nvPr/>
        </p:nvSpPr>
        <p:spPr>
          <a:xfrm>
            <a:off x="962025" y="3514725"/>
            <a:ext cx="4505400" cy="1143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E5E7EB"/>
                </a:solidFill>
                <a:latin typeface="Lato"/>
                <a:ea typeface="Lato"/>
                <a:cs typeface="Lato"/>
                <a:sym typeface="Lato"/>
              </a:rPr>
              <a:t>The backbone of the network. This Layer </a:t>
            </a:r>
            <a:r>
              <a:rPr lang="en-US" sz="1350">
                <a:solidFill>
                  <a:srgbClr val="E5E7EB"/>
                </a:solidFill>
                <a:latin typeface="Lato"/>
                <a:ea typeface="Lato"/>
                <a:cs typeface="Lato"/>
                <a:sym typeface="Lato"/>
              </a:rPr>
              <a:t>3</a:t>
            </a:r>
            <a:r>
              <a:rPr b="0" i="0" lang="en-US" sz="1350" u="none" cap="none" strike="noStrike">
                <a:solidFill>
                  <a:srgbClr val="E5E7EB"/>
                </a:solidFill>
                <a:latin typeface="Lato"/>
                <a:ea typeface="Lato"/>
                <a:cs typeface="Lato"/>
                <a:sym typeface="Lato"/>
              </a:rPr>
              <a:t> switch handles high-speed data switching and inter-VLAN routing, eliminating the need for a separate internal router and reducing bottlenecks.</a:t>
            </a:r>
            <a:endParaRPr/>
          </a:p>
        </p:txBody>
      </p:sp>
      <p:sp>
        <p:nvSpPr>
          <p:cNvPr id="178" name="Google Shape;178;p21"/>
          <p:cNvSpPr txBox="1"/>
          <p:nvPr/>
        </p:nvSpPr>
        <p:spPr>
          <a:xfrm>
            <a:off x="6724650" y="2981325"/>
            <a:ext cx="4730700" cy="369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0AEEF"/>
                </a:solidFill>
                <a:latin typeface="Urbanist"/>
                <a:ea typeface="Urbanist"/>
                <a:cs typeface="Urbanist"/>
                <a:sym typeface="Urbanist"/>
              </a:rPr>
              <a:t>2. WAN Gateway Router</a:t>
            </a:r>
            <a:endParaRPr/>
          </a:p>
        </p:txBody>
      </p:sp>
      <p:sp>
        <p:nvSpPr>
          <p:cNvPr id="179" name="Google Shape;179;p21"/>
          <p:cNvSpPr txBox="1"/>
          <p:nvPr/>
        </p:nvSpPr>
        <p:spPr>
          <a:xfrm>
            <a:off x="6724650" y="3514725"/>
            <a:ext cx="4505400" cy="8313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E5E7EB"/>
                </a:solidFill>
                <a:latin typeface="Lato"/>
                <a:ea typeface="Lato"/>
                <a:cs typeface="Lato"/>
                <a:sym typeface="Lato"/>
              </a:rPr>
              <a:t>The primary router connects the entire internal network to the Internet. It acts as the secure gateway for all external traffic and the single point of entry and exit for the network.</a:t>
            </a:r>
            <a:endParaRPr/>
          </a:p>
        </p:txBody>
      </p:sp>
      <p:sp>
        <p:nvSpPr>
          <p:cNvPr id="180" name="Google Shape;180;p21"/>
          <p:cNvSpPr txBox="1"/>
          <p:nvPr/>
        </p:nvSpPr>
        <p:spPr>
          <a:xfrm>
            <a:off x="571500" y="571500"/>
            <a:ext cx="116016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0AEEF"/>
                </a:solidFill>
                <a:latin typeface="Urbanist"/>
                <a:ea typeface="Urbanist"/>
                <a:cs typeface="Urbanist"/>
                <a:sym typeface="Urbanist"/>
              </a:rPr>
              <a:t>Core Network Components</a:t>
            </a:r>
            <a:endParaRPr/>
          </a:p>
        </p:txBody>
      </p:sp>
      <p:pic>
        <p:nvPicPr>
          <p:cNvPr id="181" name="Google Shape;181;p21"/>
          <p:cNvPicPr preferRelativeResize="0"/>
          <p:nvPr/>
        </p:nvPicPr>
        <p:blipFill rotWithShape="1">
          <a:blip r:embed="rId6">
            <a:alphaModFix/>
          </a:blip>
          <a:srcRect b="11567" l="0" r="0" t="11574"/>
          <a:stretch/>
        </p:blipFill>
        <p:spPr>
          <a:xfrm>
            <a:off x="339825" y="6140525"/>
            <a:ext cx="1214557" cy="466725"/>
          </a:xfrm>
          <a:prstGeom prst="rect">
            <a:avLst/>
          </a:prstGeom>
          <a:noFill/>
          <a:ln>
            <a:noFill/>
          </a:ln>
        </p:spPr>
      </p:pic>
      <p:sp>
        <p:nvSpPr>
          <p:cNvPr id="182" name="Google Shape;182;p21"/>
          <p:cNvSpPr txBox="1"/>
          <p:nvPr/>
        </p:nvSpPr>
        <p:spPr>
          <a:xfrm>
            <a:off x="9717300" y="6451000"/>
            <a:ext cx="1973700" cy="2925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700"/>
              <a:buFont typeface="Arial"/>
              <a:buNone/>
            </a:pPr>
            <a:r>
              <a:rPr b="0" i="0" lang="en-US" sz="700" u="none" cap="none" strike="noStrike">
                <a:solidFill>
                  <a:schemeClr val="lt1"/>
                </a:solidFill>
                <a:latin typeface="Nunito"/>
                <a:ea typeface="Nunito"/>
                <a:cs typeface="Nunito"/>
                <a:sym typeface="Nunito"/>
              </a:rPr>
              <a:t>MO-IT104 Computer Networks</a:t>
            </a:r>
            <a:endParaRPr b="0" i="0" sz="700" u="none" cap="none" strike="noStrike">
              <a:solidFill>
                <a:schemeClr val="lt1"/>
              </a:solidFill>
              <a:latin typeface="Nunito"/>
              <a:ea typeface="Nunito"/>
              <a:cs typeface="Nunito"/>
              <a:sym typeface="Nuni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827"/>
        </a:solidFill>
      </p:bgPr>
    </p:bg>
    <p:spTree>
      <p:nvGrpSpPr>
        <p:cNvPr id="186" name="Shape 186"/>
        <p:cNvGrpSpPr/>
        <p:nvPr/>
      </p:nvGrpSpPr>
      <p:grpSpPr>
        <a:xfrm>
          <a:off x="0" y="0"/>
          <a:ext cx="0" cy="0"/>
          <a:chOff x="0" y="0"/>
          <a:chExt cx="0" cy="0"/>
        </a:xfrm>
      </p:grpSpPr>
      <p:pic>
        <p:nvPicPr>
          <p:cNvPr descr="image.png" id="187" name="Google Shape;187;p2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88" name="Google Shape;188;p22"/>
          <p:cNvSpPr txBox="1"/>
          <p:nvPr/>
        </p:nvSpPr>
        <p:spPr>
          <a:xfrm>
            <a:off x="571500" y="571500"/>
            <a:ext cx="116016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000">
                <a:solidFill>
                  <a:srgbClr val="00AEEF"/>
                </a:solidFill>
                <a:latin typeface="Urbanist"/>
                <a:ea typeface="Urbanist"/>
                <a:cs typeface="Urbanist"/>
                <a:sym typeface="Urbanist"/>
              </a:rPr>
              <a:t>VLAN &amp; IP Addressing Scheme</a:t>
            </a:r>
            <a:endParaRPr/>
          </a:p>
        </p:txBody>
      </p:sp>
      <p:graphicFrame>
        <p:nvGraphicFramePr>
          <p:cNvPr id="189" name="Google Shape;189;p22"/>
          <p:cNvGraphicFramePr/>
          <p:nvPr/>
        </p:nvGraphicFramePr>
        <p:xfrm>
          <a:off x="952500" y="1943225"/>
          <a:ext cx="3000000" cy="3000000"/>
        </p:xfrm>
        <a:graphic>
          <a:graphicData uri="http://schemas.openxmlformats.org/drawingml/2006/table">
            <a:tbl>
              <a:tblPr>
                <a:noFill/>
                <a:tableStyleId>{2D9941DB-C5CA-4354-9814-030D0BF2D622}</a:tableStyleId>
              </a:tblPr>
              <a:tblGrid>
                <a:gridCol w="2057400"/>
                <a:gridCol w="2057400"/>
                <a:gridCol w="2057400"/>
                <a:gridCol w="2057400"/>
                <a:gridCol w="2057400"/>
              </a:tblGrid>
              <a:tr h="381000">
                <a:tc>
                  <a:txBody>
                    <a:bodyPr/>
                    <a:lstStyle/>
                    <a:p>
                      <a:pPr indent="0" lvl="0" marL="0" rtl="0" algn="ctr">
                        <a:lnSpc>
                          <a:spcPct val="115000"/>
                        </a:lnSpc>
                        <a:spcBef>
                          <a:spcPts val="0"/>
                        </a:spcBef>
                        <a:spcAft>
                          <a:spcPts val="0"/>
                        </a:spcAft>
                        <a:buNone/>
                      </a:pPr>
                      <a:r>
                        <a:rPr b="1" lang="en-US">
                          <a:solidFill>
                            <a:schemeClr val="lt1"/>
                          </a:solidFill>
                          <a:latin typeface="Lato"/>
                          <a:ea typeface="Lato"/>
                          <a:cs typeface="Lato"/>
                          <a:sym typeface="Lato"/>
                        </a:rPr>
                        <a:t>Department</a:t>
                      </a:r>
                      <a:endParaRPr b="1">
                        <a:solidFill>
                          <a:schemeClr val="lt1"/>
                        </a:solidFill>
                        <a:latin typeface="Lato"/>
                        <a:ea typeface="Lato"/>
                        <a:cs typeface="Lato"/>
                        <a:sym typeface="Lato"/>
                      </a:endParaRPr>
                    </a:p>
                  </a:txBody>
                  <a:tcPr marT="91425" marB="91425" marR="91425" marL="91425">
                    <a:noFill/>
                  </a:tcPr>
                </a:tc>
                <a:tc>
                  <a:txBody>
                    <a:bodyPr/>
                    <a:lstStyle/>
                    <a:p>
                      <a:pPr indent="0" lvl="0" marL="0" rtl="0" algn="ctr">
                        <a:lnSpc>
                          <a:spcPct val="115000"/>
                        </a:lnSpc>
                        <a:spcBef>
                          <a:spcPts val="0"/>
                        </a:spcBef>
                        <a:spcAft>
                          <a:spcPts val="0"/>
                        </a:spcAft>
                        <a:buNone/>
                      </a:pPr>
                      <a:r>
                        <a:rPr b="1" lang="en-US">
                          <a:solidFill>
                            <a:schemeClr val="lt1"/>
                          </a:solidFill>
                          <a:latin typeface="Lato"/>
                          <a:ea typeface="Lato"/>
                          <a:cs typeface="Lato"/>
                          <a:sym typeface="Lato"/>
                        </a:rPr>
                        <a:t>VLAN ID</a:t>
                      </a:r>
                      <a:endParaRPr b="1">
                        <a:solidFill>
                          <a:schemeClr val="lt1"/>
                        </a:solidFill>
                        <a:latin typeface="Lato"/>
                        <a:ea typeface="Lato"/>
                        <a:cs typeface="Lato"/>
                        <a:sym typeface="Lato"/>
                      </a:endParaRPr>
                    </a:p>
                  </a:txBody>
                  <a:tcPr marT="91425" marB="91425" marR="91425" marL="91425">
                    <a:noFill/>
                  </a:tcPr>
                </a:tc>
                <a:tc>
                  <a:txBody>
                    <a:bodyPr/>
                    <a:lstStyle/>
                    <a:p>
                      <a:pPr indent="0" lvl="0" marL="0" rtl="0" algn="ctr">
                        <a:lnSpc>
                          <a:spcPct val="115000"/>
                        </a:lnSpc>
                        <a:spcBef>
                          <a:spcPts val="0"/>
                        </a:spcBef>
                        <a:spcAft>
                          <a:spcPts val="0"/>
                        </a:spcAft>
                        <a:buNone/>
                      </a:pPr>
                      <a:r>
                        <a:rPr b="1" lang="en-US">
                          <a:solidFill>
                            <a:schemeClr val="lt1"/>
                          </a:solidFill>
                          <a:latin typeface="Lato"/>
                          <a:ea typeface="Lato"/>
                          <a:cs typeface="Lato"/>
                          <a:sym typeface="Lato"/>
                        </a:rPr>
                        <a:t>Network</a:t>
                      </a:r>
                      <a:endParaRPr b="1">
                        <a:solidFill>
                          <a:schemeClr val="lt1"/>
                        </a:solidFill>
                        <a:latin typeface="Lato"/>
                        <a:ea typeface="Lato"/>
                        <a:cs typeface="Lato"/>
                        <a:sym typeface="Lato"/>
                      </a:endParaRPr>
                    </a:p>
                  </a:txBody>
                  <a:tcPr marT="91425" marB="91425" marR="91425" marL="91425">
                    <a:noFill/>
                  </a:tcPr>
                </a:tc>
                <a:tc>
                  <a:txBody>
                    <a:bodyPr/>
                    <a:lstStyle/>
                    <a:p>
                      <a:pPr indent="0" lvl="0" marL="0" rtl="0" algn="ctr">
                        <a:lnSpc>
                          <a:spcPct val="115000"/>
                        </a:lnSpc>
                        <a:spcBef>
                          <a:spcPts val="0"/>
                        </a:spcBef>
                        <a:spcAft>
                          <a:spcPts val="0"/>
                        </a:spcAft>
                        <a:buNone/>
                      </a:pPr>
                      <a:r>
                        <a:rPr b="1" lang="en-US">
                          <a:solidFill>
                            <a:schemeClr val="lt1"/>
                          </a:solidFill>
                          <a:latin typeface="Lato"/>
                          <a:ea typeface="Lato"/>
                          <a:cs typeface="Lato"/>
                          <a:sym typeface="Lato"/>
                        </a:rPr>
                        <a:t>SVI Gateway</a:t>
                      </a:r>
                      <a:endParaRPr b="1">
                        <a:solidFill>
                          <a:schemeClr val="lt1"/>
                        </a:solidFill>
                        <a:latin typeface="Lato"/>
                        <a:ea typeface="Lato"/>
                        <a:cs typeface="Lato"/>
                        <a:sym typeface="Lato"/>
                      </a:endParaRPr>
                    </a:p>
                  </a:txBody>
                  <a:tcPr marT="91425" marB="91425" marR="91425" marL="91425">
                    <a:noFill/>
                  </a:tcPr>
                </a:tc>
                <a:tc>
                  <a:txBody>
                    <a:bodyPr/>
                    <a:lstStyle/>
                    <a:p>
                      <a:pPr indent="0" lvl="0" marL="0" rtl="0" algn="ctr">
                        <a:lnSpc>
                          <a:spcPct val="115000"/>
                        </a:lnSpc>
                        <a:spcBef>
                          <a:spcPts val="0"/>
                        </a:spcBef>
                        <a:spcAft>
                          <a:spcPts val="0"/>
                        </a:spcAft>
                        <a:buNone/>
                      </a:pPr>
                      <a:r>
                        <a:rPr b="1" lang="en-US">
                          <a:solidFill>
                            <a:schemeClr val="lt1"/>
                          </a:solidFill>
                          <a:latin typeface="Lato"/>
                          <a:ea typeface="Lato"/>
                          <a:cs typeface="Lato"/>
                          <a:sym typeface="Lato"/>
                        </a:rPr>
                        <a:t>DHCP Scope</a:t>
                      </a:r>
                      <a:endParaRPr b="1">
                        <a:solidFill>
                          <a:schemeClr val="lt1"/>
                        </a:solidFill>
                        <a:latin typeface="Lato"/>
                        <a:ea typeface="Lato"/>
                        <a:cs typeface="Lato"/>
                        <a:sym typeface="Lato"/>
                      </a:endParaRPr>
                    </a:p>
                  </a:txBody>
                  <a:tcPr marT="91425" marB="91425" marR="91425" marL="91425">
                    <a:noFill/>
                  </a:tcPr>
                </a:tc>
              </a:tr>
              <a:tr h="381000">
                <a:tc>
                  <a:txBody>
                    <a:bodyPr/>
                    <a:lstStyle/>
                    <a:p>
                      <a:pPr indent="0" lvl="0" marL="0" rtl="0" algn="ctr">
                        <a:spcBef>
                          <a:spcPts val="0"/>
                        </a:spcBef>
                        <a:spcAft>
                          <a:spcPts val="0"/>
                        </a:spcAft>
                        <a:buNone/>
                      </a:pPr>
                      <a:r>
                        <a:rPr b="1" lang="en-US">
                          <a:solidFill>
                            <a:schemeClr val="lt1"/>
                          </a:solidFill>
                          <a:latin typeface="Lato"/>
                          <a:ea typeface="Lato"/>
                          <a:cs typeface="Lato"/>
                          <a:sym typeface="Lato"/>
                        </a:rPr>
                        <a:t>Sales</a:t>
                      </a:r>
                      <a:endParaRPr b="1">
                        <a:solidFill>
                          <a:schemeClr val="lt1"/>
                        </a:solidFill>
                        <a:latin typeface="Lato"/>
                        <a:ea typeface="Lato"/>
                        <a:cs typeface="Lato"/>
                        <a:sym typeface="Lato"/>
                      </a:endParaRPr>
                    </a:p>
                  </a:txBody>
                  <a:tcPr marT="91425" marB="91425" marR="91425" marL="91425">
                    <a:noFill/>
                  </a:tcPr>
                </a:tc>
                <a:tc>
                  <a:txBody>
                    <a:bodyPr/>
                    <a:lstStyle/>
                    <a:p>
                      <a:pPr indent="0" lvl="0" marL="0" rtl="0" algn="ctr">
                        <a:spcBef>
                          <a:spcPts val="0"/>
                        </a:spcBef>
                        <a:spcAft>
                          <a:spcPts val="0"/>
                        </a:spcAft>
                        <a:buNone/>
                      </a:pPr>
                      <a:r>
                        <a:rPr b="1" lang="en-US" sz="1200">
                          <a:solidFill>
                            <a:schemeClr val="lt1"/>
                          </a:solidFill>
                          <a:latin typeface="Lato"/>
                          <a:ea typeface="Lato"/>
                          <a:cs typeface="Lato"/>
                          <a:sym typeface="Lato"/>
                        </a:rPr>
                        <a:t>100</a:t>
                      </a:r>
                      <a:endParaRPr b="1" sz="1200">
                        <a:solidFill>
                          <a:schemeClr val="lt1"/>
                        </a:solidFill>
                        <a:latin typeface="Lato"/>
                        <a:ea typeface="Lato"/>
                        <a:cs typeface="Lato"/>
                        <a:sym typeface="Lato"/>
                      </a:endParaRPr>
                    </a:p>
                  </a:txBody>
                  <a:tcPr marT="91425" marB="91425" marR="91425" marL="91425">
                    <a:noFill/>
                  </a:tcPr>
                </a:tc>
                <a:tc>
                  <a:txBody>
                    <a:bodyPr/>
                    <a:lstStyle/>
                    <a:p>
                      <a:pPr indent="0" lvl="0" marL="0" rtl="0" algn="ctr">
                        <a:spcBef>
                          <a:spcPts val="0"/>
                        </a:spcBef>
                        <a:spcAft>
                          <a:spcPts val="0"/>
                        </a:spcAft>
                        <a:buNone/>
                      </a:pPr>
                      <a:r>
                        <a:rPr b="1" lang="en-US" sz="1200">
                          <a:solidFill>
                            <a:schemeClr val="lt1"/>
                          </a:solidFill>
                          <a:latin typeface="Lato"/>
                          <a:ea typeface="Lato"/>
                          <a:cs typeface="Lato"/>
                          <a:sym typeface="Lato"/>
                        </a:rPr>
                        <a:t>192.168.10.0/27</a:t>
                      </a:r>
                      <a:endParaRPr b="1" sz="1200">
                        <a:solidFill>
                          <a:schemeClr val="lt1"/>
                        </a:solidFill>
                        <a:latin typeface="Lato"/>
                        <a:ea typeface="Lato"/>
                        <a:cs typeface="Lato"/>
                        <a:sym typeface="Lato"/>
                      </a:endParaRPr>
                    </a:p>
                  </a:txBody>
                  <a:tcPr marT="91425" marB="91425" marR="91425" marL="91425">
                    <a:noFill/>
                  </a:tcPr>
                </a:tc>
                <a:tc>
                  <a:txBody>
                    <a:bodyPr/>
                    <a:lstStyle/>
                    <a:p>
                      <a:pPr indent="0" lvl="0" marL="0" rtl="0" algn="ctr">
                        <a:spcBef>
                          <a:spcPts val="0"/>
                        </a:spcBef>
                        <a:spcAft>
                          <a:spcPts val="0"/>
                        </a:spcAft>
                        <a:buNone/>
                      </a:pPr>
                      <a:r>
                        <a:rPr b="1" lang="en-US" sz="1200">
                          <a:solidFill>
                            <a:schemeClr val="lt1"/>
                          </a:solidFill>
                          <a:latin typeface="Lato"/>
                          <a:ea typeface="Lato"/>
                          <a:cs typeface="Lato"/>
                          <a:sym typeface="Lato"/>
                        </a:rPr>
                        <a:t>192.168.10.1</a:t>
                      </a:r>
                      <a:endParaRPr b="1" sz="1200">
                        <a:solidFill>
                          <a:schemeClr val="lt1"/>
                        </a:solidFill>
                        <a:latin typeface="Lato"/>
                        <a:ea typeface="Lato"/>
                        <a:cs typeface="Lato"/>
                        <a:sym typeface="Lato"/>
                      </a:endParaRPr>
                    </a:p>
                  </a:txBody>
                  <a:tcPr marT="91425" marB="91425" marR="91425" marL="91425">
                    <a:noFill/>
                  </a:tcPr>
                </a:tc>
                <a:tc>
                  <a:txBody>
                    <a:bodyPr/>
                    <a:lstStyle/>
                    <a:p>
                      <a:pPr indent="0" lvl="0" marL="0" rtl="0" algn="ctr">
                        <a:spcBef>
                          <a:spcPts val="0"/>
                        </a:spcBef>
                        <a:spcAft>
                          <a:spcPts val="0"/>
                        </a:spcAft>
                        <a:buNone/>
                      </a:pPr>
                      <a:r>
                        <a:rPr b="1" lang="en-US" sz="1200">
                          <a:solidFill>
                            <a:schemeClr val="lt1"/>
                          </a:solidFill>
                          <a:latin typeface="Lato"/>
                          <a:ea typeface="Lato"/>
                          <a:cs typeface="Lato"/>
                          <a:sym typeface="Lato"/>
                        </a:rPr>
                        <a:t>Yes</a:t>
                      </a:r>
                      <a:endParaRPr b="1" sz="1200">
                        <a:solidFill>
                          <a:schemeClr val="lt1"/>
                        </a:solidFill>
                        <a:latin typeface="Lato"/>
                        <a:ea typeface="Lato"/>
                        <a:cs typeface="Lato"/>
                        <a:sym typeface="Lato"/>
                      </a:endParaRPr>
                    </a:p>
                  </a:txBody>
                  <a:tcPr marT="91425" marB="91425" marR="91425" marL="91425">
                    <a:noFill/>
                  </a:tcPr>
                </a:tc>
              </a:tr>
              <a:tr h="381000">
                <a:tc>
                  <a:txBody>
                    <a:bodyPr/>
                    <a:lstStyle/>
                    <a:p>
                      <a:pPr indent="0" lvl="0" marL="0" rtl="0" algn="ctr">
                        <a:spcBef>
                          <a:spcPts val="0"/>
                        </a:spcBef>
                        <a:spcAft>
                          <a:spcPts val="0"/>
                        </a:spcAft>
                        <a:buNone/>
                      </a:pPr>
                      <a:r>
                        <a:rPr b="1" lang="en-US">
                          <a:solidFill>
                            <a:schemeClr val="lt1"/>
                          </a:solidFill>
                          <a:latin typeface="Lato"/>
                          <a:ea typeface="Lato"/>
                          <a:cs typeface="Lato"/>
                          <a:sym typeface="Lato"/>
                        </a:rPr>
                        <a:t>HR</a:t>
                      </a:r>
                      <a:endParaRPr b="1">
                        <a:solidFill>
                          <a:schemeClr val="lt1"/>
                        </a:solidFill>
                        <a:latin typeface="Lato"/>
                        <a:ea typeface="Lato"/>
                        <a:cs typeface="Lato"/>
                        <a:sym typeface="Lato"/>
                      </a:endParaRPr>
                    </a:p>
                  </a:txBody>
                  <a:tcPr marT="91425" marB="91425" marR="91425" marL="91425">
                    <a:noFill/>
                  </a:tcPr>
                </a:tc>
                <a:tc>
                  <a:txBody>
                    <a:bodyPr/>
                    <a:lstStyle/>
                    <a:p>
                      <a:pPr indent="0" lvl="0" marL="0" rtl="0" algn="ctr">
                        <a:spcBef>
                          <a:spcPts val="0"/>
                        </a:spcBef>
                        <a:spcAft>
                          <a:spcPts val="0"/>
                        </a:spcAft>
                        <a:buNone/>
                      </a:pPr>
                      <a:r>
                        <a:rPr b="1" lang="en-US" sz="1200">
                          <a:solidFill>
                            <a:schemeClr val="lt1"/>
                          </a:solidFill>
                          <a:latin typeface="Lato"/>
                          <a:ea typeface="Lato"/>
                          <a:cs typeface="Lato"/>
                          <a:sym typeface="Lato"/>
                        </a:rPr>
                        <a:t>103</a:t>
                      </a:r>
                      <a:endParaRPr b="1" sz="1200">
                        <a:solidFill>
                          <a:schemeClr val="lt1"/>
                        </a:solidFill>
                        <a:latin typeface="Lato"/>
                        <a:ea typeface="Lato"/>
                        <a:cs typeface="Lato"/>
                        <a:sym typeface="Lato"/>
                      </a:endParaRPr>
                    </a:p>
                  </a:txBody>
                  <a:tcPr marT="91425" marB="91425" marR="91425" marL="91425">
                    <a:noFill/>
                  </a:tcPr>
                </a:tc>
                <a:tc>
                  <a:txBody>
                    <a:bodyPr/>
                    <a:lstStyle/>
                    <a:p>
                      <a:pPr indent="0" lvl="0" marL="0" rtl="0" algn="ctr">
                        <a:spcBef>
                          <a:spcPts val="0"/>
                        </a:spcBef>
                        <a:spcAft>
                          <a:spcPts val="0"/>
                        </a:spcAft>
                        <a:buNone/>
                      </a:pPr>
                      <a:r>
                        <a:rPr b="1" lang="en-US" sz="1200">
                          <a:solidFill>
                            <a:schemeClr val="lt1"/>
                          </a:solidFill>
                          <a:latin typeface="Lato"/>
                          <a:ea typeface="Lato"/>
                          <a:cs typeface="Lato"/>
                          <a:sym typeface="Lato"/>
                        </a:rPr>
                        <a:t>192.168.10.32/28</a:t>
                      </a:r>
                      <a:endParaRPr b="1" sz="1200">
                        <a:solidFill>
                          <a:schemeClr val="lt1"/>
                        </a:solidFill>
                        <a:latin typeface="Lato"/>
                        <a:ea typeface="Lato"/>
                        <a:cs typeface="Lato"/>
                        <a:sym typeface="Lato"/>
                      </a:endParaRPr>
                    </a:p>
                  </a:txBody>
                  <a:tcPr marT="91425" marB="91425" marR="91425" marL="91425">
                    <a:noFill/>
                  </a:tcPr>
                </a:tc>
                <a:tc>
                  <a:txBody>
                    <a:bodyPr/>
                    <a:lstStyle/>
                    <a:p>
                      <a:pPr indent="0" lvl="0" marL="0" rtl="0" algn="ctr">
                        <a:spcBef>
                          <a:spcPts val="0"/>
                        </a:spcBef>
                        <a:spcAft>
                          <a:spcPts val="0"/>
                        </a:spcAft>
                        <a:buNone/>
                      </a:pPr>
                      <a:r>
                        <a:rPr b="1" lang="en-US" sz="1200">
                          <a:solidFill>
                            <a:schemeClr val="lt1"/>
                          </a:solidFill>
                          <a:latin typeface="Lato"/>
                          <a:ea typeface="Lato"/>
                          <a:cs typeface="Lato"/>
                          <a:sym typeface="Lato"/>
                        </a:rPr>
                        <a:t>192.168.10.33</a:t>
                      </a:r>
                      <a:endParaRPr b="1" sz="1200">
                        <a:solidFill>
                          <a:schemeClr val="lt1"/>
                        </a:solidFill>
                        <a:latin typeface="Lato"/>
                        <a:ea typeface="Lato"/>
                        <a:cs typeface="Lato"/>
                        <a:sym typeface="Lato"/>
                      </a:endParaRPr>
                    </a:p>
                  </a:txBody>
                  <a:tcPr marT="91425" marB="91425" marR="91425" marL="91425">
                    <a:noFill/>
                  </a:tcPr>
                </a:tc>
                <a:tc>
                  <a:txBody>
                    <a:bodyPr/>
                    <a:lstStyle/>
                    <a:p>
                      <a:pPr indent="0" lvl="0" marL="0" rtl="0" algn="ctr">
                        <a:spcBef>
                          <a:spcPts val="0"/>
                        </a:spcBef>
                        <a:spcAft>
                          <a:spcPts val="0"/>
                        </a:spcAft>
                        <a:buNone/>
                      </a:pPr>
                      <a:r>
                        <a:rPr b="1" lang="en-US" sz="1200">
                          <a:solidFill>
                            <a:schemeClr val="lt1"/>
                          </a:solidFill>
                          <a:latin typeface="Lato"/>
                          <a:ea typeface="Lato"/>
                          <a:cs typeface="Lato"/>
                          <a:sym typeface="Lato"/>
                        </a:rPr>
                        <a:t>Yes</a:t>
                      </a:r>
                      <a:endParaRPr b="1" sz="1200">
                        <a:solidFill>
                          <a:schemeClr val="lt1"/>
                        </a:solidFill>
                        <a:latin typeface="Lato"/>
                        <a:ea typeface="Lato"/>
                        <a:cs typeface="Lato"/>
                        <a:sym typeface="Lato"/>
                      </a:endParaRPr>
                    </a:p>
                  </a:txBody>
                  <a:tcPr marT="91425" marB="91425" marR="91425" marL="91425">
                    <a:noFill/>
                  </a:tcPr>
                </a:tc>
              </a:tr>
              <a:tr h="381000">
                <a:tc>
                  <a:txBody>
                    <a:bodyPr/>
                    <a:lstStyle/>
                    <a:p>
                      <a:pPr indent="0" lvl="0" marL="0" rtl="0" algn="ctr">
                        <a:spcBef>
                          <a:spcPts val="0"/>
                        </a:spcBef>
                        <a:spcAft>
                          <a:spcPts val="0"/>
                        </a:spcAft>
                        <a:buNone/>
                      </a:pPr>
                      <a:r>
                        <a:rPr b="1" lang="en-US">
                          <a:solidFill>
                            <a:schemeClr val="lt1"/>
                          </a:solidFill>
                          <a:latin typeface="Lato"/>
                          <a:ea typeface="Lato"/>
                          <a:cs typeface="Lato"/>
                          <a:sym typeface="Lato"/>
                        </a:rPr>
                        <a:t>Marketing</a:t>
                      </a:r>
                      <a:endParaRPr b="1">
                        <a:solidFill>
                          <a:schemeClr val="lt1"/>
                        </a:solidFill>
                        <a:latin typeface="Lato"/>
                        <a:ea typeface="Lato"/>
                        <a:cs typeface="Lato"/>
                        <a:sym typeface="Lato"/>
                      </a:endParaRPr>
                    </a:p>
                  </a:txBody>
                  <a:tcPr marT="91425" marB="91425" marR="91425" marL="91425">
                    <a:noFill/>
                  </a:tcPr>
                </a:tc>
                <a:tc>
                  <a:txBody>
                    <a:bodyPr/>
                    <a:lstStyle/>
                    <a:p>
                      <a:pPr indent="0" lvl="0" marL="0" rtl="0" algn="ctr">
                        <a:spcBef>
                          <a:spcPts val="0"/>
                        </a:spcBef>
                        <a:spcAft>
                          <a:spcPts val="0"/>
                        </a:spcAft>
                        <a:buNone/>
                      </a:pPr>
                      <a:r>
                        <a:rPr b="1" lang="en-US" sz="1200">
                          <a:solidFill>
                            <a:schemeClr val="lt1"/>
                          </a:solidFill>
                          <a:latin typeface="Lato"/>
                          <a:ea typeface="Lato"/>
                          <a:cs typeface="Lato"/>
                          <a:sym typeface="Lato"/>
                        </a:rPr>
                        <a:t>104</a:t>
                      </a:r>
                      <a:endParaRPr b="1" sz="1200">
                        <a:solidFill>
                          <a:schemeClr val="lt1"/>
                        </a:solidFill>
                        <a:latin typeface="Lato"/>
                        <a:ea typeface="Lato"/>
                        <a:cs typeface="Lato"/>
                        <a:sym typeface="Lato"/>
                      </a:endParaRPr>
                    </a:p>
                  </a:txBody>
                  <a:tcPr marT="91425" marB="91425" marR="91425" marL="91425">
                    <a:noFill/>
                  </a:tcPr>
                </a:tc>
                <a:tc>
                  <a:txBody>
                    <a:bodyPr/>
                    <a:lstStyle/>
                    <a:p>
                      <a:pPr indent="0" lvl="0" marL="0" rtl="0" algn="ctr">
                        <a:spcBef>
                          <a:spcPts val="0"/>
                        </a:spcBef>
                        <a:spcAft>
                          <a:spcPts val="0"/>
                        </a:spcAft>
                        <a:buNone/>
                      </a:pPr>
                      <a:r>
                        <a:rPr b="1" lang="en-US" sz="1200">
                          <a:solidFill>
                            <a:schemeClr val="lt1"/>
                          </a:solidFill>
                          <a:latin typeface="Lato"/>
                          <a:ea typeface="Lato"/>
                          <a:cs typeface="Lato"/>
                          <a:sym typeface="Lato"/>
                        </a:rPr>
                        <a:t>192.168.10.48/28</a:t>
                      </a:r>
                      <a:endParaRPr b="1" sz="1200">
                        <a:solidFill>
                          <a:schemeClr val="lt1"/>
                        </a:solidFill>
                        <a:latin typeface="Lato"/>
                        <a:ea typeface="Lato"/>
                        <a:cs typeface="Lato"/>
                        <a:sym typeface="Lato"/>
                      </a:endParaRPr>
                    </a:p>
                  </a:txBody>
                  <a:tcPr marT="91425" marB="91425" marR="91425" marL="91425">
                    <a:noFill/>
                  </a:tcPr>
                </a:tc>
                <a:tc>
                  <a:txBody>
                    <a:bodyPr/>
                    <a:lstStyle/>
                    <a:p>
                      <a:pPr indent="0" lvl="0" marL="0" rtl="0" algn="ctr">
                        <a:spcBef>
                          <a:spcPts val="0"/>
                        </a:spcBef>
                        <a:spcAft>
                          <a:spcPts val="0"/>
                        </a:spcAft>
                        <a:buNone/>
                      </a:pPr>
                      <a:r>
                        <a:rPr b="1" lang="en-US" sz="1200">
                          <a:solidFill>
                            <a:schemeClr val="lt1"/>
                          </a:solidFill>
                          <a:latin typeface="Lato"/>
                          <a:ea typeface="Lato"/>
                          <a:cs typeface="Lato"/>
                          <a:sym typeface="Lato"/>
                        </a:rPr>
                        <a:t>192.168.10.49</a:t>
                      </a:r>
                      <a:endParaRPr b="1" sz="1200">
                        <a:solidFill>
                          <a:schemeClr val="lt1"/>
                        </a:solidFill>
                        <a:latin typeface="Lato"/>
                        <a:ea typeface="Lato"/>
                        <a:cs typeface="Lato"/>
                        <a:sym typeface="Lato"/>
                      </a:endParaRPr>
                    </a:p>
                  </a:txBody>
                  <a:tcPr marT="91425" marB="91425" marR="91425" marL="91425">
                    <a:noFill/>
                  </a:tcPr>
                </a:tc>
                <a:tc>
                  <a:txBody>
                    <a:bodyPr/>
                    <a:lstStyle/>
                    <a:p>
                      <a:pPr indent="0" lvl="0" marL="0" rtl="0" algn="ctr">
                        <a:spcBef>
                          <a:spcPts val="0"/>
                        </a:spcBef>
                        <a:spcAft>
                          <a:spcPts val="0"/>
                        </a:spcAft>
                        <a:buNone/>
                      </a:pPr>
                      <a:r>
                        <a:rPr b="1" lang="en-US" sz="1200">
                          <a:solidFill>
                            <a:schemeClr val="lt1"/>
                          </a:solidFill>
                          <a:latin typeface="Lato"/>
                          <a:ea typeface="Lato"/>
                          <a:cs typeface="Lato"/>
                          <a:sym typeface="Lato"/>
                        </a:rPr>
                        <a:t>Yes</a:t>
                      </a:r>
                      <a:endParaRPr b="1" sz="1200">
                        <a:solidFill>
                          <a:schemeClr val="lt1"/>
                        </a:solidFill>
                        <a:latin typeface="Lato"/>
                        <a:ea typeface="Lato"/>
                        <a:cs typeface="Lato"/>
                        <a:sym typeface="Lato"/>
                      </a:endParaRPr>
                    </a:p>
                  </a:txBody>
                  <a:tcPr marT="91425" marB="91425" marR="91425" marL="91425">
                    <a:noFill/>
                  </a:tcPr>
                </a:tc>
              </a:tr>
              <a:tr h="381000">
                <a:tc>
                  <a:txBody>
                    <a:bodyPr/>
                    <a:lstStyle/>
                    <a:p>
                      <a:pPr indent="0" lvl="0" marL="0" rtl="0" algn="ctr">
                        <a:spcBef>
                          <a:spcPts val="0"/>
                        </a:spcBef>
                        <a:spcAft>
                          <a:spcPts val="0"/>
                        </a:spcAft>
                        <a:buNone/>
                      </a:pPr>
                      <a:r>
                        <a:rPr b="1" lang="en-US">
                          <a:solidFill>
                            <a:schemeClr val="lt1"/>
                          </a:solidFill>
                          <a:latin typeface="Lato"/>
                          <a:ea typeface="Lato"/>
                          <a:cs typeface="Lato"/>
                          <a:sym typeface="Lato"/>
                        </a:rPr>
                        <a:t>Accounting</a:t>
                      </a:r>
                      <a:endParaRPr b="1">
                        <a:solidFill>
                          <a:schemeClr val="lt1"/>
                        </a:solidFill>
                        <a:latin typeface="Lato"/>
                        <a:ea typeface="Lato"/>
                        <a:cs typeface="Lato"/>
                        <a:sym typeface="Lato"/>
                      </a:endParaRPr>
                    </a:p>
                  </a:txBody>
                  <a:tcPr marT="91425" marB="91425" marR="91425" marL="91425">
                    <a:noFill/>
                  </a:tcPr>
                </a:tc>
                <a:tc>
                  <a:txBody>
                    <a:bodyPr/>
                    <a:lstStyle/>
                    <a:p>
                      <a:pPr indent="0" lvl="0" marL="0" rtl="0" algn="ctr">
                        <a:spcBef>
                          <a:spcPts val="0"/>
                        </a:spcBef>
                        <a:spcAft>
                          <a:spcPts val="0"/>
                        </a:spcAft>
                        <a:buNone/>
                      </a:pPr>
                      <a:r>
                        <a:rPr b="1" lang="en-US" sz="1200">
                          <a:solidFill>
                            <a:schemeClr val="lt1"/>
                          </a:solidFill>
                          <a:latin typeface="Lato"/>
                          <a:ea typeface="Lato"/>
                          <a:cs typeface="Lato"/>
                          <a:sym typeface="Lato"/>
                        </a:rPr>
                        <a:t>106</a:t>
                      </a:r>
                      <a:endParaRPr b="1" sz="1200">
                        <a:solidFill>
                          <a:schemeClr val="lt1"/>
                        </a:solidFill>
                        <a:latin typeface="Lato"/>
                        <a:ea typeface="Lato"/>
                        <a:cs typeface="Lato"/>
                        <a:sym typeface="Lato"/>
                      </a:endParaRPr>
                    </a:p>
                  </a:txBody>
                  <a:tcPr marT="91425" marB="91425" marR="91425" marL="91425">
                    <a:noFill/>
                  </a:tcPr>
                </a:tc>
                <a:tc>
                  <a:txBody>
                    <a:bodyPr/>
                    <a:lstStyle/>
                    <a:p>
                      <a:pPr indent="0" lvl="0" marL="0" rtl="0" algn="ctr">
                        <a:spcBef>
                          <a:spcPts val="0"/>
                        </a:spcBef>
                        <a:spcAft>
                          <a:spcPts val="0"/>
                        </a:spcAft>
                        <a:buNone/>
                      </a:pPr>
                      <a:r>
                        <a:rPr b="1" lang="en-US" sz="1200">
                          <a:solidFill>
                            <a:schemeClr val="lt1"/>
                          </a:solidFill>
                          <a:latin typeface="Lato"/>
                          <a:ea typeface="Lato"/>
                          <a:cs typeface="Lato"/>
                          <a:sym typeface="Lato"/>
                        </a:rPr>
                        <a:t>192.168.10.64/29</a:t>
                      </a:r>
                      <a:endParaRPr b="1" sz="1200">
                        <a:solidFill>
                          <a:schemeClr val="lt1"/>
                        </a:solidFill>
                        <a:latin typeface="Lato"/>
                        <a:ea typeface="Lato"/>
                        <a:cs typeface="Lato"/>
                        <a:sym typeface="Lato"/>
                      </a:endParaRPr>
                    </a:p>
                  </a:txBody>
                  <a:tcPr marT="91425" marB="91425" marR="91425" marL="91425">
                    <a:noFill/>
                  </a:tcPr>
                </a:tc>
                <a:tc>
                  <a:txBody>
                    <a:bodyPr/>
                    <a:lstStyle/>
                    <a:p>
                      <a:pPr indent="0" lvl="0" marL="0" rtl="0" algn="ctr">
                        <a:spcBef>
                          <a:spcPts val="0"/>
                        </a:spcBef>
                        <a:spcAft>
                          <a:spcPts val="0"/>
                        </a:spcAft>
                        <a:buNone/>
                      </a:pPr>
                      <a:r>
                        <a:rPr b="1" lang="en-US" sz="1200">
                          <a:solidFill>
                            <a:schemeClr val="lt1"/>
                          </a:solidFill>
                          <a:latin typeface="Lato"/>
                          <a:ea typeface="Lato"/>
                          <a:cs typeface="Lato"/>
                          <a:sym typeface="Lato"/>
                        </a:rPr>
                        <a:t>192.168.10.65</a:t>
                      </a:r>
                      <a:endParaRPr b="1" sz="1200">
                        <a:solidFill>
                          <a:schemeClr val="lt1"/>
                        </a:solidFill>
                        <a:latin typeface="Lato"/>
                        <a:ea typeface="Lato"/>
                        <a:cs typeface="Lato"/>
                        <a:sym typeface="Lato"/>
                      </a:endParaRPr>
                    </a:p>
                  </a:txBody>
                  <a:tcPr marT="91425" marB="91425" marR="91425" marL="91425">
                    <a:noFill/>
                  </a:tcPr>
                </a:tc>
                <a:tc>
                  <a:txBody>
                    <a:bodyPr/>
                    <a:lstStyle/>
                    <a:p>
                      <a:pPr indent="0" lvl="0" marL="0" rtl="0" algn="ctr">
                        <a:spcBef>
                          <a:spcPts val="0"/>
                        </a:spcBef>
                        <a:spcAft>
                          <a:spcPts val="0"/>
                        </a:spcAft>
                        <a:buNone/>
                      </a:pPr>
                      <a:r>
                        <a:rPr b="1" lang="en-US" sz="1200">
                          <a:solidFill>
                            <a:schemeClr val="lt1"/>
                          </a:solidFill>
                          <a:latin typeface="Lato"/>
                          <a:ea typeface="Lato"/>
                          <a:cs typeface="Lato"/>
                          <a:sym typeface="Lato"/>
                        </a:rPr>
                        <a:t>Yes</a:t>
                      </a:r>
                      <a:endParaRPr b="1" sz="1200">
                        <a:solidFill>
                          <a:schemeClr val="lt1"/>
                        </a:solidFill>
                        <a:latin typeface="Lato"/>
                        <a:ea typeface="Lato"/>
                        <a:cs typeface="Lato"/>
                        <a:sym typeface="Lato"/>
                      </a:endParaRPr>
                    </a:p>
                  </a:txBody>
                  <a:tcPr marT="91425" marB="91425" marR="91425" marL="91425">
                    <a:noFill/>
                  </a:tcPr>
                </a:tc>
              </a:tr>
              <a:tr h="381000">
                <a:tc>
                  <a:txBody>
                    <a:bodyPr/>
                    <a:lstStyle/>
                    <a:p>
                      <a:pPr indent="0" lvl="0" marL="0" rtl="0" algn="ctr">
                        <a:spcBef>
                          <a:spcPts val="0"/>
                        </a:spcBef>
                        <a:spcAft>
                          <a:spcPts val="0"/>
                        </a:spcAft>
                        <a:buNone/>
                      </a:pPr>
                      <a:r>
                        <a:rPr b="1" lang="en-US">
                          <a:solidFill>
                            <a:schemeClr val="lt1"/>
                          </a:solidFill>
                          <a:latin typeface="Lato"/>
                          <a:ea typeface="Lato"/>
                          <a:cs typeface="Lato"/>
                          <a:sym typeface="Lato"/>
                        </a:rPr>
                        <a:t>IT</a:t>
                      </a:r>
                      <a:endParaRPr b="1">
                        <a:solidFill>
                          <a:schemeClr val="lt1"/>
                        </a:solidFill>
                        <a:latin typeface="Lato"/>
                        <a:ea typeface="Lato"/>
                        <a:cs typeface="Lato"/>
                        <a:sym typeface="Lato"/>
                      </a:endParaRPr>
                    </a:p>
                  </a:txBody>
                  <a:tcPr marT="91425" marB="91425" marR="91425" marL="91425">
                    <a:noFill/>
                  </a:tcPr>
                </a:tc>
                <a:tc>
                  <a:txBody>
                    <a:bodyPr/>
                    <a:lstStyle/>
                    <a:p>
                      <a:pPr indent="0" lvl="0" marL="0" rtl="0" algn="ctr">
                        <a:spcBef>
                          <a:spcPts val="0"/>
                        </a:spcBef>
                        <a:spcAft>
                          <a:spcPts val="0"/>
                        </a:spcAft>
                        <a:buNone/>
                      </a:pPr>
                      <a:r>
                        <a:rPr b="1" lang="en-US" sz="1200">
                          <a:solidFill>
                            <a:schemeClr val="lt1"/>
                          </a:solidFill>
                          <a:latin typeface="Lato"/>
                          <a:ea typeface="Lato"/>
                          <a:cs typeface="Lato"/>
                          <a:sym typeface="Lato"/>
                        </a:rPr>
                        <a:t>107</a:t>
                      </a:r>
                      <a:endParaRPr b="1" sz="1200">
                        <a:solidFill>
                          <a:schemeClr val="lt1"/>
                        </a:solidFill>
                        <a:latin typeface="Lato"/>
                        <a:ea typeface="Lato"/>
                        <a:cs typeface="Lato"/>
                        <a:sym typeface="Lato"/>
                      </a:endParaRPr>
                    </a:p>
                  </a:txBody>
                  <a:tcPr marT="91425" marB="91425" marR="91425" marL="91425">
                    <a:noFill/>
                  </a:tcPr>
                </a:tc>
                <a:tc>
                  <a:txBody>
                    <a:bodyPr/>
                    <a:lstStyle/>
                    <a:p>
                      <a:pPr indent="0" lvl="0" marL="0" rtl="0" algn="ctr">
                        <a:spcBef>
                          <a:spcPts val="0"/>
                        </a:spcBef>
                        <a:spcAft>
                          <a:spcPts val="0"/>
                        </a:spcAft>
                        <a:buNone/>
                      </a:pPr>
                      <a:r>
                        <a:rPr b="1" lang="en-US" sz="1200">
                          <a:solidFill>
                            <a:schemeClr val="lt1"/>
                          </a:solidFill>
                          <a:latin typeface="Lato"/>
                          <a:ea typeface="Lato"/>
                          <a:cs typeface="Lato"/>
                          <a:sym typeface="Lato"/>
                        </a:rPr>
                        <a:t>192.168.10.72/29</a:t>
                      </a:r>
                      <a:endParaRPr b="1" sz="1200">
                        <a:solidFill>
                          <a:schemeClr val="lt1"/>
                        </a:solidFill>
                        <a:latin typeface="Lato"/>
                        <a:ea typeface="Lato"/>
                        <a:cs typeface="Lato"/>
                        <a:sym typeface="Lato"/>
                      </a:endParaRPr>
                    </a:p>
                  </a:txBody>
                  <a:tcPr marT="91425" marB="91425" marR="91425" marL="91425">
                    <a:noFill/>
                  </a:tcPr>
                </a:tc>
                <a:tc>
                  <a:txBody>
                    <a:bodyPr/>
                    <a:lstStyle/>
                    <a:p>
                      <a:pPr indent="0" lvl="0" marL="0" rtl="0" algn="ctr">
                        <a:spcBef>
                          <a:spcPts val="0"/>
                        </a:spcBef>
                        <a:spcAft>
                          <a:spcPts val="0"/>
                        </a:spcAft>
                        <a:buNone/>
                      </a:pPr>
                      <a:r>
                        <a:rPr b="1" lang="en-US" sz="1200">
                          <a:solidFill>
                            <a:schemeClr val="lt1"/>
                          </a:solidFill>
                          <a:latin typeface="Lato"/>
                          <a:ea typeface="Lato"/>
                          <a:cs typeface="Lato"/>
                          <a:sym typeface="Lato"/>
                        </a:rPr>
                        <a:t>192.168.10.73</a:t>
                      </a:r>
                      <a:endParaRPr b="1" sz="1200">
                        <a:solidFill>
                          <a:schemeClr val="lt1"/>
                        </a:solidFill>
                        <a:latin typeface="Lato"/>
                        <a:ea typeface="Lato"/>
                        <a:cs typeface="Lato"/>
                        <a:sym typeface="Lato"/>
                      </a:endParaRPr>
                    </a:p>
                  </a:txBody>
                  <a:tcPr marT="91425" marB="91425" marR="91425" marL="91425">
                    <a:noFill/>
                  </a:tcPr>
                </a:tc>
                <a:tc>
                  <a:txBody>
                    <a:bodyPr/>
                    <a:lstStyle/>
                    <a:p>
                      <a:pPr indent="0" lvl="0" marL="0" rtl="0" algn="ctr">
                        <a:spcBef>
                          <a:spcPts val="0"/>
                        </a:spcBef>
                        <a:spcAft>
                          <a:spcPts val="0"/>
                        </a:spcAft>
                        <a:buNone/>
                      </a:pPr>
                      <a:r>
                        <a:rPr b="1" lang="en-US" sz="1200">
                          <a:solidFill>
                            <a:schemeClr val="lt1"/>
                          </a:solidFill>
                          <a:latin typeface="Lato"/>
                          <a:ea typeface="Lato"/>
                          <a:cs typeface="Lato"/>
                          <a:sym typeface="Lato"/>
                        </a:rPr>
                        <a:t>Yes</a:t>
                      </a:r>
                      <a:endParaRPr b="1" sz="1200">
                        <a:solidFill>
                          <a:schemeClr val="lt1"/>
                        </a:solidFill>
                        <a:latin typeface="Lato"/>
                        <a:ea typeface="Lato"/>
                        <a:cs typeface="Lato"/>
                        <a:sym typeface="Lato"/>
                      </a:endParaRPr>
                    </a:p>
                  </a:txBody>
                  <a:tcPr marT="91425" marB="91425" marR="91425" marL="91425">
                    <a:noFill/>
                  </a:tcPr>
                </a:tc>
              </a:tr>
              <a:tr h="381000">
                <a:tc>
                  <a:txBody>
                    <a:bodyPr/>
                    <a:lstStyle/>
                    <a:p>
                      <a:pPr indent="0" lvl="0" marL="0" rtl="0" algn="ctr">
                        <a:spcBef>
                          <a:spcPts val="0"/>
                        </a:spcBef>
                        <a:spcAft>
                          <a:spcPts val="0"/>
                        </a:spcAft>
                        <a:buNone/>
                      </a:pPr>
                      <a:r>
                        <a:rPr b="1" lang="en-US">
                          <a:solidFill>
                            <a:schemeClr val="lt1"/>
                          </a:solidFill>
                          <a:latin typeface="Lato"/>
                          <a:ea typeface="Lato"/>
                          <a:cs typeface="Lato"/>
                          <a:sym typeface="Lato"/>
                        </a:rPr>
                        <a:t>WAN Link</a:t>
                      </a:r>
                      <a:endParaRPr b="1">
                        <a:solidFill>
                          <a:schemeClr val="lt1"/>
                        </a:solidFill>
                        <a:latin typeface="Lato"/>
                        <a:ea typeface="Lato"/>
                        <a:cs typeface="Lato"/>
                        <a:sym typeface="Lato"/>
                      </a:endParaRPr>
                    </a:p>
                  </a:txBody>
                  <a:tcPr marT="91425" marB="91425" marR="91425" marL="91425">
                    <a:noFill/>
                  </a:tcPr>
                </a:tc>
                <a:tc>
                  <a:txBody>
                    <a:bodyPr/>
                    <a:lstStyle/>
                    <a:p>
                      <a:pPr indent="0" lvl="0" marL="0" rtl="0" algn="ctr">
                        <a:spcBef>
                          <a:spcPts val="0"/>
                        </a:spcBef>
                        <a:spcAft>
                          <a:spcPts val="0"/>
                        </a:spcAft>
                        <a:buNone/>
                      </a:pPr>
                      <a:r>
                        <a:rPr b="1" lang="en-US" sz="1200">
                          <a:solidFill>
                            <a:schemeClr val="lt1"/>
                          </a:solidFill>
                          <a:latin typeface="Lato"/>
                          <a:ea typeface="Lato"/>
                          <a:cs typeface="Lato"/>
                          <a:sym typeface="Lato"/>
                        </a:rPr>
                        <a:t>N/A</a:t>
                      </a:r>
                      <a:endParaRPr b="1" sz="1200">
                        <a:solidFill>
                          <a:schemeClr val="lt1"/>
                        </a:solidFill>
                        <a:latin typeface="Lato"/>
                        <a:ea typeface="Lato"/>
                        <a:cs typeface="Lato"/>
                        <a:sym typeface="Lato"/>
                      </a:endParaRPr>
                    </a:p>
                  </a:txBody>
                  <a:tcPr marT="91425" marB="91425" marR="91425" marL="91425">
                    <a:noFill/>
                  </a:tcPr>
                </a:tc>
                <a:tc>
                  <a:txBody>
                    <a:bodyPr/>
                    <a:lstStyle/>
                    <a:p>
                      <a:pPr indent="0" lvl="0" marL="0" rtl="0" algn="ctr">
                        <a:spcBef>
                          <a:spcPts val="0"/>
                        </a:spcBef>
                        <a:spcAft>
                          <a:spcPts val="0"/>
                        </a:spcAft>
                        <a:buNone/>
                      </a:pPr>
                      <a:r>
                        <a:rPr b="1" lang="en-US" sz="1200">
                          <a:solidFill>
                            <a:schemeClr val="lt1"/>
                          </a:solidFill>
                          <a:latin typeface="Lato"/>
                          <a:ea typeface="Lato"/>
                          <a:cs typeface="Lato"/>
                          <a:sym typeface="Lato"/>
                        </a:rPr>
                        <a:t>192.168.1.0/30</a:t>
                      </a:r>
                      <a:endParaRPr b="1" sz="1200">
                        <a:solidFill>
                          <a:schemeClr val="lt1"/>
                        </a:solidFill>
                        <a:latin typeface="Lato"/>
                        <a:ea typeface="Lato"/>
                        <a:cs typeface="Lato"/>
                        <a:sym typeface="Lato"/>
                      </a:endParaRPr>
                    </a:p>
                  </a:txBody>
                  <a:tcPr marT="91425" marB="91425" marR="91425" marL="91425">
                    <a:noFill/>
                  </a:tcPr>
                </a:tc>
                <a:tc>
                  <a:txBody>
                    <a:bodyPr/>
                    <a:lstStyle/>
                    <a:p>
                      <a:pPr indent="0" lvl="0" marL="0" rtl="0" algn="ctr">
                        <a:spcBef>
                          <a:spcPts val="0"/>
                        </a:spcBef>
                        <a:spcAft>
                          <a:spcPts val="0"/>
                        </a:spcAft>
                        <a:buNone/>
                      </a:pPr>
                      <a:r>
                        <a:rPr b="1" lang="en-US" sz="1200">
                          <a:solidFill>
                            <a:schemeClr val="lt1"/>
                          </a:solidFill>
                          <a:latin typeface="Lato"/>
                          <a:ea typeface="Lato"/>
                          <a:cs typeface="Lato"/>
                          <a:sym typeface="Lato"/>
                        </a:rPr>
                        <a:t>Core-SW: 192.168.1.1 → R1: 192.168.1.2</a:t>
                      </a:r>
                      <a:endParaRPr b="1" sz="1200">
                        <a:solidFill>
                          <a:schemeClr val="lt1"/>
                        </a:solidFill>
                        <a:latin typeface="Lato"/>
                        <a:ea typeface="Lato"/>
                        <a:cs typeface="Lato"/>
                        <a:sym typeface="Lato"/>
                      </a:endParaRPr>
                    </a:p>
                  </a:txBody>
                  <a:tcPr marT="91425" marB="91425" marR="91425" marL="91425">
                    <a:noFill/>
                  </a:tcPr>
                </a:tc>
                <a:tc>
                  <a:txBody>
                    <a:bodyPr/>
                    <a:lstStyle/>
                    <a:p>
                      <a:pPr indent="0" lvl="0" marL="0" rtl="0" algn="ctr">
                        <a:spcBef>
                          <a:spcPts val="0"/>
                        </a:spcBef>
                        <a:spcAft>
                          <a:spcPts val="0"/>
                        </a:spcAft>
                        <a:buNone/>
                      </a:pPr>
                      <a:r>
                        <a:rPr b="1" lang="en-US" sz="1200">
                          <a:solidFill>
                            <a:schemeClr val="lt1"/>
                          </a:solidFill>
                          <a:latin typeface="Lato"/>
                          <a:ea typeface="Lato"/>
                          <a:cs typeface="Lato"/>
                          <a:sym typeface="Lato"/>
                        </a:rPr>
                        <a:t>N/A</a:t>
                      </a:r>
                      <a:endParaRPr b="1" sz="1200">
                        <a:solidFill>
                          <a:schemeClr val="lt1"/>
                        </a:solidFill>
                        <a:latin typeface="Lato"/>
                        <a:ea typeface="Lato"/>
                        <a:cs typeface="Lato"/>
                        <a:sym typeface="Lato"/>
                      </a:endParaRPr>
                    </a:p>
                  </a:txBody>
                  <a:tcPr marT="91425" marB="91425" marR="91425" marL="91425">
                    <a:noFill/>
                  </a:tcPr>
                </a:tc>
              </a:tr>
            </a:tbl>
          </a:graphicData>
        </a:graphic>
      </p:graphicFrame>
      <p:pic>
        <p:nvPicPr>
          <p:cNvPr id="190" name="Google Shape;190;p22"/>
          <p:cNvPicPr preferRelativeResize="0"/>
          <p:nvPr/>
        </p:nvPicPr>
        <p:blipFill rotWithShape="1">
          <a:blip r:embed="rId4">
            <a:alphaModFix/>
          </a:blip>
          <a:srcRect b="11567" l="0" r="0" t="11574"/>
          <a:stretch/>
        </p:blipFill>
        <p:spPr>
          <a:xfrm>
            <a:off x="339825" y="6140525"/>
            <a:ext cx="1214557" cy="466725"/>
          </a:xfrm>
          <a:prstGeom prst="rect">
            <a:avLst/>
          </a:prstGeom>
          <a:noFill/>
          <a:ln>
            <a:noFill/>
          </a:ln>
        </p:spPr>
      </p:pic>
      <p:sp>
        <p:nvSpPr>
          <p:cNvPr id="191" name="Google Shape;191;p22"/>
          <p:cNvSpPr txBox="1"/>
          <p:nvPr/>
        </p:nvSpPr>
        <p:spPr>
          <a:xfrm>
            <a:off x="9717300" y="6451000"/>
            <a:ext cx="1973700" cy="2925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700"/>
              <a:buFont typeface="Arial"/>
              <a:buNone/>
            </a:pPr>
            <a:r>
              <a:rPr b="0" i="0" lang="en-US" sz="700" u="none" cap="none" strike="noStrike">
                <a:solidFill>
                  <a:schemeClr val="lt1"/>
                </a:solidFill>
                <a:latin typeface="Nunito"/>
                <a:ea typeface="Nunito"/>
                <a:cs typeface="Nunito"/>
                <a:sym typeface="Nunito"/>
              </a:rPr>
              <a:t>MO-IT104 Computer Networks</a:t>
            </a:r>
            <a:endParaRPr b="0" i="0" sz="700" u="none" cap="none" strike="noStrike">
              <a:solidFill>
                <a:schemeClr val="lt1"/>
              </a:solidFill>
              <a:latin typeface="Nunito"/>
              <a:ea typeface="Nunito"/>
              <a:cs typeface="Nunito"/>
              <a:sym typeface="Nuni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5" name="Shape 195"/>
        <p:cNvGrpSpPr/>
        <p:nvPr/>
      </p:nvGrpSpPr>
      <p:grpSpPr>
        <a:xfrm>
          <a:off x="0" y="0"/>
          <a:ext cx="0" cy="0"/>
          <a:chOff x="0" y="0"/>
          <a:chExt cx="0" cy="0"/>
        </a:xfrm>
      </p:grpSpPr>
      <p:pic>
        <p:nvPicPr>
          <p:cNvPr descr="image.png" id="196" name="Google Shape;196;p23"/>
          <p:cNvPicPr preferRelativeResize="0"/>
          <p:nvPr/>
        </p:nvPicPr>
        <p:blipFill rotWithShape="1">
          <a:blip r:embed="rId4">
            <a:alphaModFix/>
          </a:blip>
          <a:srcRect b="0" l="0" r="0" t="0"/>
          <a:stretch/>
        </p:blipFill>
        <p:spPr>
          <a:xfrm>
            <a:off x="6334125" y="2181225"/>
            <a:ext cx="5286375" cy="3333750"/>
          </a:xfrm>
          <a:prstGeom prst="rect">
            <a:avLst/>
          </a:prstGeom>
          <a:noFill/>
          <a:ln>
            <a:noFill/>
          </a:ln>
        </p:spPr>
      </p:pic>
      <p:sp>
        <p:nvSpPr>
          <p:cNvPr id="197" name="Google Shape;197;p23"/>
          <p:cNvSpPr txBox="1"/>
          <p:nvPr/>
        </p:nvSpPr>
        <p:spPr>
          <a:xfrm>
            <a:off x="535850" y="2181225"/>
            <a:ext cx="5286300" cy="2079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E5E7EB"/>
                </a:solidFill>
                <a:latin typeface="Lato"/>
                <a:ea typeface="Lato"/>
                <a:cs typeface="Lato"/>
                <a:sym typeface="Lato"/>
              </a:rPr>
              <a:t>The access layer is where end-user devices connect to the network.</a:t>
            </a:r>
            <a:endParaRPr/>
          </a:p>
        </p:txBody>
      </p:sp>
      <p:pic>
        <p:nvPicPr>
          <p:cNvPr descr="image.png" id="198" name="Google Shape;198;p23"/>
          <p:cNvPicPr preferRelativeResize="0"/>
          <p:nvPr/>
        </p:nvPicPr>
        <p:blipFill rotWithShape="1">
          <a:blip r:embed="rId5">
            <a:alphaModFix/>
          </a:blip>
          <a:srcRect b="0" l="0" r="0" t="0"/>
          <a:stretch/>
        </p:blipFill>
        <p:spPr>
          <a:xfrm>
            <a:off x="6334125" y="2181225"/>
            <a:ext cx="5286375" cy="3333750"/>
          </a:xfrm>
          <a:prstGeom prst="rect">
            <a:avLst/>
          </a:prstGeom>
          <a:noFill/>
          <a:ln>
            <a:noFill/>
          </a:ln>
        </p:spPr>
      </p:pic>
      <p:sp>
        <p:nvSpPr>
          <p:cNvPr id="199" name="Google Shape;199;p23"/>
          <p:cNvSpPr txBox="1"/>
          <p:nvPr/>
        </p:nvSpPr>
        <p:spPr>
          <a:xfrm>
            <a:off x="678725" y="2609850"/>
            <a:ext cx="95400" cy="2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E5E7EB"/>
                </a:solidFill>
                <a:latin typeface="Lato"/>
                <a:ea typeface="Lato"/>
                <a:cs typeface="Lato"/>
                <a:sym typeface="Lato"/>
              </a:rPr>
              <a:t>•</a:t>
            </a:r>
            <a:endParaRPr/>
          </a:p>
        </p:txBody>
      </p:sp>
      <p:sp>
        <p:nvSpPr>
          <p:cNvPr id="200" name="Google Shape;200;p23"/>
          <p:cNvSpPr txBox="1"/>
          <p:nvPr/>
        </p:nvSpPr>
        <p:spPr>
          <a:xfrm>
            <a:off x="773975" y="2609850"/>
            <a:ext cx="5048400" cy="831300"/>
          </a:xfrm>
          <a:prstGeom prst="rect">
            <a:avLst/>
          </a:prstGeom>
          <a:noFill/>
          <a:ln>
            <a:noFill/>
          </a:ln>
        </p:spPr>
        <p:txBody>
          <a:bodyPr anchorCtr="0" anchor="t" bIns="0" lIns="9525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E5E7EB"/>
                </a:solidFill>
                <a:latin typeface="Lato"/>
                <a:ea typeface="Lato"/>
                <a:cs typeface="Lato"/>
                <a:sym typeface="Lato"/>
              </a:rPr>
              <a:t>Access Switches:</a:t>
            </a:r>
            <a:r>
              <a:rPr b="0" i="0" lang="en-US" sz="1350" u="none" cap="none" strike="noStrike">
                <a:solidFill>
                  <a:srgbClr val="E5E7EB"/>
                </a:solidFill>
                <a:latin typeface="Lato"/>
                <a:ea typeface="Lato"/>
                <a:cs typeface="Lato"/>
                <a:sym typeface="Lato"/>
              </a:rPr>
              <a:t> </a:t>
            </a:r>
            <a:r>
              <a:rPr lang="en-US" sz="1350">
                <a:solidFill>
                  <a:srgbClr val="E5E7EB"/>
                </a:solidFill>
                <a:latin typeface="Lato"/>
                <a:ea typeface="Lato"/>
                <a:cs typeface="Lato"/>
                <a:sym typeface="Lato"/>
              </a:rPr>
              <a:t>Connects end-user devices such as PCs and printers. Each department uses a dedicated Access Switch (e.g., SALES-SW, HR-SW) to organize and manage connections.</a:t>
            </a:r>
            <a:endParaRPr sz="1350">
              <a:solidFill>
                <a:srgbClr val="E5E7EB"/>
              </a:solidFill>
              <a:latin typeface="Lato"/>
              <a:ea typeface="Lato"/>
              <a:cs typeface="Lato"/>
              <a:sym typeface="Lato"/>
            </a:endParaRPr>
          </a:p>
        </p:txBody>
      </p:sp>
      <p:sp>
        <p:nvSpPr>
          <p:cNvPr id="201" name="Google Shape;201;p23"/>
          <p:cNvSpPr txBox="1"/>
          <p:nvPr/>
        </p:nvSpPr>
        <p:spPr>
          <a:xfrm>
            <a:off x="678725" y="3620400"/>
            <a:ext cx="160800" cy="2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E5E7EB"/>
                </a:solidFill>
                <a:latin typeface="Lato"/>
                <a:ea typeface="Lato"/>
                <a:cs typeface="Lato"/>
                <a:sym typeface="Lato"/>
              </a:rPr>
              <a:t>•</a:t>
            </a:r>
            <a:endParaRPr/>
          </a:p>
        </p:txBody>
      </p:sp>
      <p:sp>
        <p:nvSpPr>
          <p:cNvPr id="202" name="Google Shape;202;p23"/>
          <p:cNvSpPr txBox="1"/>
          <p:nvPr/>
        </p:nvSpPr>
        <p:spPr>
          <a:xfrm>
            <a:off x="773975" y="3599213"/>
            <a:ext cx="5048400" cy="831300"/>
          </a:xfrm>
          <a:prstGeom prst="rect">
            <a:avLst/>
          </a:prstGeom>
          <a:noFill/>
          <a:ln>
            <a:noFill/>
          </a:ln>
        </p:spPr>
        <p:txBody>
          <a:bodyPr anchorCtr="0" anchor="t" bIns="0" lIns="9525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E5E7EB"/>
                </a:solidFill>
                <a:latin typeface="Lato"/>
                <a:ea typeface="Lato"/>
                <a:cs typeface="Lato"/>
                <a:sym typeface="Lato"/>
              </a:rPr>
              <a:t>Departmental Isolation:</a:t>
            </a:r>
            <a:r>
              <a:rPr lang="en-US" sz="1350">
                <a:solidFill>
                  <a:srgbClr val="E5E7EB"/>
                </a:solidFill>
                <a:latin typeface="Lato"/>
                <a:ea typeface="Lato"/>
                <a:cs typeface="Lato"/>
                <a:sym typeface="Lato"/>
              </a:rPr>
              <a:t> VLANs provide logical segmentation, ensuring each department has isolated network traffic and its own subnet.</a:t>
            </a:r>
            <a:endParaRPr/>
          </a:p>
        </p:txBody>
      </p:sp>
      <p:sp>
        <p:nvSpPr>
          <p:cNvPr id="203" name="Google Shape;203;p23"/>
          <p:cNvSpPr txBox="1"/>
          <p:nvPr/>
        </p:nvSpPr>
        <p:spPr>
          <a:xfrm>
            <a:off x="678725" y="4588600"/>
            <a:ext cx="95400" cy="2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E5E7EB"/>
                </a:solidFill>
                <a:latin typeface="Lato"/>
                <a:ea typeface="Lato"/>
                <a:cs typeface="Lato"/>
                <a:sym typeface="Lato"/>
              </a:rPr>
              <a:t>•</a:t>
            </a:r>
            <a:endParaRPr/>
          </a:p>
        </p:txBody>
      </p:sp>
      <p:sp>
        <p:nvSpPr>
          <p:cNvPr id="204" name="Google Shape;204;p23"/>
          <p:cNvSpPr txBox="1"/>
          <p:nvPr/>
        </p:nvSpPr>
        <p:spPr>
          <a:xfrm>
            <a:off x="774050" y="4588600"/>
            <a:ext cx="5048400" cy="831300"/>
          </a:xfrm>
          <a:prstGeom prst="rect">
            <a:avLst/>
          </a:prstGeom>
          <a:noFill/>
          <a:ln>
            <a:noFill/>
          </a:ln>
        </p:spPr>
        <p:txBody>
          <a:bodyPr anchorCtr="0" anchor="t" bIns="0" lIns="95250" spcFirstLastPara="1" rIns="0" wrap="square" tIns="0">
            <a:spAutoFit/>
          </a:bodyPr>
          <a:lstStyle/>
          <a:p>
            <a:pPr indent="0" lvl="0" marL="0" marR="0" rtl="0" algn="l">
              <a:lnSpc>
                <a:spcPct val="150000"/>
              </a:lnSpc>
              <a:spcBef>
                <a:spcPts val="0"/>
              </a:spcBef>
              <a:spcAft>
                <a:spcPts val="0"/>
              </a:spcAft>
              <a:buNone/>
            </a:pPr>
            <a:r>
              <a:rPr b="1" lang="en-US" sz="1350">
                <a:solidFill>
                  <a:srgbClr val="E5E7EB"/>
                </a:solidFill>
                <a:latin typeface="Lato"/>
                <a:ea typeface="Lato"/>
                <a:cs typeface="Lato"/>
                <a:sym typeface="Lato"/>
              </a:rPr>
              <a:t>Local intra-department traffic (devices within the same VLAN): Stays within the Access Switch, reducing load on the Core, while inter-department traffic is routed by the Core Switch.</a:t>
            </a:r>
            <a:endParaRPr/>
          </a:p>
        </p:txBody>
      </p:sp>
      <p:sp>
        <p:nvSpPr>
          <p:cNvPr id="205" name="Google Shape;205;p23"/>
          <p:cNvSpPr txBox="1"/>
          <p:nvPr/>
        </p:nvSpPr>
        <p:spPr>
          <a:xfrm>
            <a:off x="571500" y="571500"/>
            <a:ext cx="1160145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0AEEF"/>
                </a:solidFill>
                <a:latin typeface="Urbanist"/>
                <a:ea typeface="Urbanist"/>
                <a:cs typeface="Urbanist"/>
                <a:sym typeface="Urbanist"/>
              </a:rPr>
              <a:t>Access Layer &amp; Segmentation</a:t>
            </a:r>
            <a:endParaRPr/>
          </a:p>
        </p:txBody>
      </p:sp>
      <p:pic>
        <p:nvPicPr>
          <p:cNvPr id="206" name="Google Shape;206;p23"/>
          <p:cNvPicPr preferRelativeResize="0"/>
          <p:nvPr/>
        </p:nvPicPr>
        <p:blipFill rotWithShape="1">
          <a:blip r:embed="rId6">
            <a:alphaModFix/>
          </a:blip>
          <a:srcRect b="11567" l="0" r="0" t="11574"/>
          <a:stretch/>
        </p:blipFill>
        <p:spPr>
          <a:xfrm>
            <a:off x="339825" y="6140525"/>
            <a:ext cx="1214557" cy="466725"/>
          </a:xfrm>
          <a:prstGeom prst="rect">
            <a:avLst/>
          </a:prstGeom>
          <a:noFill/>
          <a:ln>
            <a:noFill/>
          </a:ln>
        </p:spPr>
      </p:pic>
      <p:sp>
        <p:nvSpPr>
          <p:cNvPr id="207" name="Google Shape;207;p23"/>
          <p:cNvSpPr txBox="1"/>
          <p:nvPr/>
        </p:nvSpPr>
        <p:spPr>
          <a:xfrm>
            <a:off x="9717300" y="6451000"/>
            <a:ext cx="1973700" cy="2925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700"/>
              <a:buFont typeface="Arial"/>
              <a:buNone/>
            </a:pPr>
            <a:r>
              <a:rPr b="0" i="0" lang="en-US" sz="700" u="none" cap="none" strike="noStrike">
                <a:solidFill>
                  <a:schemeClr val="lt1"/>
                </a:solidFill>
                <a:latin typeface="Nunito"/>
                <a:ea typeface="Nunito"/>
                <a:cs typeface="Nunito"/>
                <a:sym typeface="Nunito"/>
              </a:rPr>
              <a:t>MO-IT104 Computer Networks</a:t>
            </a:r>
            <a:endParaRPr b="0" i="0" sz="700" u="none" cap="none" strike="noStrike">
              <a:solidFill>
                <a:schemeClr val="lt1"/>
              </a:solidFill>
              <a:latin typeface="Nunito"/>
              <a:ea typeface="Nunito"/>
              <a:cs typeface="Nunito"/>
              <a:sym typeface="Nuni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1" name="Shape 211"/>
        <p:cNvGrpSpPr/>
        <p:nvPr/>
      </p:nvGrpSpPr>
      <p:grpSpPr>
        <a:xfrm>
          <a:off x="0" y="0"/>
          <a:ext cx="0" cy="0"/>
          <a:chOff x="0" y="0"/>
          <a:chExt cx="0" cy="0"/>
        </a:xfrm>
      </p:grpSpPr>
      <p:pic>
        <p:nvPicPr>
          <p:cNvPr descr="image.png" id="212" name="Google Shape;212;p24"/>
          <p:cNvPicPr preferRelativeResize="0"/>
          <p:nvPr/>
        </p:nvPicPr>
        <p:blipFill rotWithShape="1">
          <a:blip r:embed="rId4">
            <a:alphaModFix/>
          </a:blip>
          <a:srcRect b="0" l="0" r="0" t="0"/>
          <a:stretch/>
        </p:blipFill>
        <p:spPr>
          <a:xfrm>
            <a:off x="571500" y="2562225"/>
            <a:ext cx="3429000" cy="3543300"/>
          </a:xfrm>
          <a:prstGeom prst="rect">
            <a:avLst/>
          </a:prstGeom>
          <a:noFill/>
          <a:ln>
            <a:noFill/>
          </a:ln>
        </p:spPr>
      </p:pic>
      <p:pic>
        <p:nvPicPr>
          <p:cNvPr descr="image.png" id="213" name="Google Shape;213;p24"/>
          <p:cNvPicPr preferRelativeResize="0"/>
          <p:nvPr/>
        </p:nvPicPr>
        <p:blipFill rotWithShape="1">
          <a:blip r:embed="rId5">
            <a:alphaModFix/>
          </a:blip>
          <a:srcRect b="0" l="0" r="0" t="0"/>
          <a:stretch/>
        </p:blipFill>
        <p:spPr>
          <a:xfrm>
            <a:off x="4381500" y="2562225"/>
            <a:ext cx="3429000" cy="3543300"/>
          </a:xfrm>
          <a:prstGeom prst="rect">
            <a:avLst/>
          </a:prstGeom>
          <a:noFill/>
          <a:ln>
            <a:noFill/>
          </a:ln>
        </p:spPr>
      </p:pic>
      <p:pic>
        <p:nvPicPr>
          <p:cNvPr descr="image.png" id="214" name="Google Shape;214;p24"/>
          <p:cNvPicPr preferRelativeResize="0"/>
          <p:nvPr/>
        </p:nvPicPr>
        <p:blipFill rotWithShape="1">
          <a:blip r:embed="rId6">
            <a:alphaModFix/>
          </a:blip>
          <a:srcRect b="0" l="0" r="0" t="0"/>
          <a:stretch/>
        </p:blipFill>
        <p:spPr>
          <a:xfrm>
            <a:off x="8191500" y="2562225"/>
            <a:ext cx="3429000" cy="3543300"/>
          </a:xfrm>
          <a:prstGeom prst="rect">
            <a:avLst/>
          </a:prstGeom>
          <a:noFill/>
          <a:ln>
            <a:noFill/>
          </a:ln>
        </p:spPr>
      </p:pic>
      <p:sp>
        <p:nvSpPr>
          <p:cNvPr id="215" name="Google Shape;215;p24"/>
          <p:cNvSpPr txBox="1"/>
          <p:nvPr/>
        </p:nvSpPr>
        <p:spPr>
          <a:xfrm>
            <a:off x="571500" y="1762125"/>
            <a:ext cx="11049000" cy="5143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E5E7EB"/>
                </a:solidFill>
                <a:latin typeface="Lato"/>
                <a:ea typeface="Lato"/>
                <a:cs typeface="Lato"/>
                <a:sym typeface="Lato"/>
              </a:rPr>
              <a:t>This architecture is built to support </a:t>
            </a:r>
            <a:r>
              <a:rPr b="1" i="0" lang="en-US" sz="1350" u="none" cap="none" strike="noStrike">
                <a:solidFill>
                  <a:srgbClr val="E5E7EB"/>
                </a:solidFill>
                <a:latin typeface="Lato"/>
                <a:ea typeface="Lato"/>
                <a:cs typeface="Lato"/>
                <a:sym typeface="Lato"/>
              </a:rPr>
              <a:t>Virtual LANs (VLANs)</a:t>
            </a:r>
            <a:r>
              <a:rPr b="0" i="0" lang="en-US" sz="1350" u="none" cap="none" strike="noStrike">
                <a:solidFill>
                  <a:srgbClr val="E5E7EB"/>
                </a:solidFill>
                <a:latin typeface="Lato"/>
                <a:ea typeface="Lato"/>
                <a:cs typeface="Lato"/>
                <a:sym typeface="Lato"/>
              </a:rPr>
              <a:t>. The departmental switches ("Accounting", "HR", "IT") correspond to separate VLANs, which provides three key advantages:</a:t>
            </a:r>
            <a:endParaRPr/>
          </a:p>
        </p:txBody>
      </p:sp>
      <p:sp>
        <p:nvSpPr>
          <p:cNvPr id="216" name="Google Shape;216;p24"/>
          <p:cNvSpPr txBox="1"/>
          <p:nvPr/>
        </p:nvSpPr>
        <p:spPr>
          <a:xfrm>
            <a:off x="925829" y="3571875"/>
            <a:ext cx="2720340" cy="3619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400" u="none" cap="none" strike="noStrike">
                <a:solidFill>
                  <a:srgbClr val="FFFFFF"/>
                </a:solidFill>
                <a:latin typeface="Urbanist"/>
                <a:ea typeface="Urbanist"/>
                <a:cs typeface="Urbanist"/>
                <a:sym typeface="Urbanist"/>
              </a:rPr>
              <a:t>Enhanced Security</a:t>
            </a:r>
            <a:endParaRPr/>
          </a:p>
        </p:txBody>
      </p:sp>
      <p:sp>
        <p:nvSpPr>
          <p:cNvPr id="217" name="Google Shape;217;p24"/>
          <p:cNvSpPr txBox="1"/>
          <p:nvPr/>
        </p:nvSpPr>
        <p:spPr>
          <a:xfrm>
            <a:off x="866775" y="4248150"/>
            <a:ext cx="2838450" cy="10287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350" u="none" cap="none" strike="noStrike">
                <a:solidFill>
                  <a:srgbClr val="E5E7EB"/>
                </a:solidFill>
                <a:latin typeface="Lato"/>
                <a:ea typeface="Lato"/>
                <a:cs typeface="Lato"/>
                <a:sym typeface="Lato"/>
              </a:rPr>
              <a:t>Isolates sensitive data (e.g., Accounting) from other departments. A breach in one segment is contained and cannot easily spread.</a:t>
            </a:r>
            <a:endParaRPr/>
          </a:p>
        </p:txBody>
      </p:sp>
      <p:sp>
        <p:nvSpPr>
          <p:cNvPr id="218" name="Google Shape;218;p24"/>
          <p:cNvSpPr txBox="1"/>
          <p:nvPr/>
        </p:nvSpPr>
        <p:spPr>
          <a:xfrm>
            <a:off x="4605813" y="3571875"/>
            <a:ext cx="2980372" cy="723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400" u="none" cap="none" strike="noStrike">
                <a:solidFill>
                  <a:srgbClr val="FFFFFF"/>
                </a:solidFill>
                <a:latin typeface="Urbanist"/>
                <a:ea typeface="Urbanist"/>
                <a:cs typeface="Urbanist"/>
                <a:sym typeface="Urbanist"/>
              </a:rPr>
              <a:t>Improved Performance</a:t>
            </a:r>
            <a:endParaRPr/>
          </a:p>
        </p:txBody>
      </p:sp>
      <p:sp>
        <p:nvSpPr>
          <p:cNvPr id="219" name="Google Shape;219;p24"/>
          <p:cNvSpPr txBox="1"/>
          <p:nvPr/>
        </p:nvSpPr>
        <p:spPr>
          <a:xfrm>
            <a:off x="4676775" y="4610100"/>
            <a:ext cx="2838450" cy="10287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350" u="none" cap="none" strike="noStrike">
                <a:solidFill>
                  <a:srgbClr val="E5E7EB"/>
                </a:solidFill>
                <a:latin typeface="Lato"/>
                <a:ea typeface="Lato"/>
                <a:cs typeface="Lato"/>
                <a:sym typeface="Lato"/>
              </a:rPr>
              <a:t>Reduces broadcast traffic across the entire network. Broadcasts are confined to their own VLAN, freeing up bandwidth.</a:t>
            </a:r>
            <a:endParaRPr/>
          </a:p>
        </p:txBody>
      </p:sp>
      <p:sp>
        <p:nvSpPr>
          <p:cNvPr id="220" name="Google Shape;220;p24"/>
          <p:cNvSpPr txBox="1"/>
          <p:nvPr/>
        </p:nvSpPr>
        <p:spPr>
          <a:xfrm>
            <a:off x="8415813" y="3571875"/>
            <a:ext cx="2980372" cy="723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400" u="none" cap="none" strike="noStrike">
                <a:solidFill>
                  <a:srgbClr val="FFFFFF"/>
                </a:solidFill>
                <a:latin typeface="Urbanist"/>
                <a:ea typeface="Urbanist"/>
                <a:cs typeface="Urbanist"/>
                <a:sym typeface="Urbanist"/>
              </a:rPr>
              <a:t>Simplified Management</a:t>
            </a:r>
            <a:endParaRPr/>
          </a:p>
        </p:txBody>
      </p:sp>
      <p:sp>
        <p:nvSpPr>
          <p:cNvPr id="221" name="Google Shape;221;p24"/>
          <p:cNvSpPr txBox="1"/>
          <p:nvPr/>
        </p:nvSpPr>
        <p:spPr>
          <a:xfrm>
            <a:off x="8486775" y="4610100"/>
            <a:ext cx="2838450" cy="10287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350" u="none" cap="none" strike="noStrike">
                <a:solidFill>
                  <a:srgbClr val="E5E7EB"/>
                </a:solidFill>
                <a:latin typeface="Lato"/>
                <a:ea typeface="Lato"/>
                <a:cs typeface="Lato"/>
                <a:sym typeface="Lato"/>
              </a:rPr>
              <a:t>Allows for easier application of security policies and network rules on a per-department basis from the central core switch.</a:t>
            </a:r>
            <a:endParaRPr/>
          </a:p>
        </p:txBody>
      </p:sp>
      <p:pic>
        <p:nvPicPr>
          <p:cNvPr descr="image.png" id="222" name="Google Shape;222;p24"/>
          <p:cNvPicPr preferRelativeResize="0"/>
          <p:nvPr/>
        </p:nvPicPr>
        <p:blipFill rotWithShape="1">
          <a:blip r:embed="rId7">
            <a:alphaModFix/>
          </a:blip>
          <a:srcRect b="0" l="0" r="0" t="0"/>
          <a:stretch/>
        </p:blipFill>
        <p:spPr>
          <a:xfrm>
            <a:off x="2057400" y="2876550"/>
            <a:ext cx="457200" cy="457200"/>
          </a:xfrm>
          <a:prstGeom prst="rect">
            <a:avLst/>
          </a:prstGeom>
          <a:noFill/>
          <a:ln>
            <a:noFill/>
          </a:ln>
        </p:spPr>
      </p:pic>
      <p:pic>
        <p:nvPicPr>
          <p:cNvPr descr="image.png" id="223" name="Google Shape;223;p24"/>
          <p:cNvPicPr preferRelativeResize="0"/>
          <p:nvPr/>
        </p:nvPicPr>
        <p:blipFill rotWithShape="1">
          <a:blip r:embed="rId8">
            <a:alphaModFix/>
          </a:blip>
          <a:srcRect b="0" l="0" r="0" t="0"/>
          <a:stretch/>
        </p:blipFill>
        <p:spPr>
          <a:xfrm>
            <a:off x="5867400" y="2876550"/>
            <a:ext cx="457200" cy="457200"/>
          </a:xfrm>
          <a:prstGeom prst="rect">
            <a:avLst/>
          </a:prstGeom>
          <a:noFill/>
          <a:ln>
            <a:noFill/>
          </a:ln>
        </p:spPr>
      </p:pic>
      <p:pic>
        <p:nvPicPr>
          <p:cNvPr descr="image.png" id="224" name="Google Shape;224;p24"/>
          <p:cNvPicPr preferRelativeResize="0"/>
          <p:nvPr/>
        </p:nvPicPr>
        <p:blipFill rotWithShape="1">
          <a:blip r:embed="rId9">
            <a:alphaModFix/>
          </a:blip>
          <a:srcRect b="0" l="0" r="0" t="0"/>
          <a:stretch/>
        </p:blipFill>
        <p:spPr>
          <a:xfrm>
            <a:off x="9648825" y="2876550"/>
            <a:ext cx="514350" cy="457200"/>
          </a:xfrm>
          <a:prstGeom prst="rect">
            <a:avLst/>
          </a:prstGeom>
          <a:noFill/>
          <a:ln>
            <a:noFill/>
          </a:ln>
        </p:spPr>
      </p:pic>
      <p:sp>
        <p:nvSpPr>
          <p:cNvPr id="225" name="Google Shape;225;p24"/>
          <p:cNvSpPr txBox="1"/>
          <p:nvPr/>
        </p:nvSpPr>
        <p:spPr>
          <a:xfrm>
            <a:off x="571500" y="571500"/>
            <a:ext cx="1160145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0AEEF"/>
                </a:solidFill>
                <a:latin typeface="Urbanist"/>
                <a:ea typeface="Urbanist"/>
                <a:cs typeface="Urbanist"/>
                <a:sym typeface="Urbanist"/>
              </a:rPr>
              <a:t>The Power of Segmentation: VLANs</a:t>
            </a:r>
            <a:endParaRPr/>
          </a:p>
        </p:txBody>
      </p:sp>
      <p:pic>
        <p:nvPicPr>
          <p:cNvPr id="226" name="Google Shape;226;p24"/>
          <p:cNvPicPr preferRelativeResize="0"/>
          <p:nvPr/>
        </p:nvPicPr>
        <p:blipFill rotWithShape="1">
          <a:blip r:embed="rId10">
            <a:alphaModFix/>
          </a:blip>
          <a:srcRect b="11567" l="0" r="0" t="11574"/>
          <a:stretch/>
        </p:blipFill>
        <p:spPr>
          <a:xfrm>
            <a:off x="339825" y="6140525"/>
            <a:ext cx="1214557" cy="466725"/>
          </a:xfrm>
          <a:prstGeom prst="rect">
            <a:avLst/>
          </a:prstGeom>
          <a:noFill/>
          <a:ln>
            <a:noFill/>
          </a:ln>
        </p:spPr>
      </p:pic>
      <p:sp>
        <p:nvSpPr>
          <p:cNvPr id="227" name="Google Shape;227;p24"/>
          <p:cNvSpPr txBox="1"/>
          <p:nvPr/>
        </p:nvSpPr>
        <p:spPr>
          <a:xfrm>
            <a:off x="9717300" y="6451000"/>
            <a:ext cx="1973700" cy="2925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700"/>
              <a:buFont typeface="Arial"/>
              <a:buNone/>
            </a:pPr>
            <a:r>
              <a:rPr b="0" i="0" lang="en-US" sz="700" u="none" cap="none" strike="noStrike">
                <a:solidFill>
                  <a:schemeClr val="lt1"/>
                </a:solidFill>
                <a:latin typeface="Nunito"/>
                <a:ea typeface="Nunito"/>
                <a:cs typeface="Nunito"/>
                <a:sym typeface="Nunito"/>
              </a:rPr>
              <a:t>MO-IT104 Computer Networks</a:t>
            </a:r>
            <a:endParaRPr b="0" i="0" sz="700" u="none" cap="none" strike="noStrike">
              <a:solidFill>
                <a:schemeClr val="lt1"/>
              </a:solidFill>
              <a:latin typeface="Nunito"/>
              <a:ea typeface="Nunito"/>
              <a:cs typeface="Nunito"/>
              <a:sym typeface="Nuni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827"/>
        </a:solidFill>
      </p:bgPr>
    </p:bg>
    <p:spTree>
      <p:nvGrpSpPr>
        <p:cNvPr id="231" name="Shape 231"/>
        <p:cNvGrpSpPr/>
        <p:nvPr/>
      </p:nvGrpSpPr>
      <p:grpSpPr>
        <a:xfrm>
          <a:off x="0" y="0"/>
          <a:ext cx="0" cy="0"/>
          <a:chOff x="0" y="0"/>
          <a:chExt cx="0" cy="0"/>
        </a:xfrm>
      </p:grpSpPr>
      <p:pic>
        <p:nvPicPr>
          <p:cNvPr descr="image.png" id="232" name="Google Shape;232;p2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33" name="Google Shape;233;p25"/>
          <p:cNvPicPr preferRelativeResize="0"/>
          <p:nvPr/>
        </p:nvPicPr>
        <p:blipFill rotWithShape="1">
          <a:blip r:embed="rId4">
            <a:alphaModFix/>
          </a:blip>
          <a:srcRect b="0" l="0" r="0" t="0"/>
          <a:stretch/>
        </p:blipFill>
        <p:spPr>
          <a:xfrm>
            <a:off x="571500" y="1943100"/>
            <a:ext cx="3429000" cy="2143125"/>
          </a:xfrm>
          <a:prstGeom prst="rect">
            <a:avLst/>
          </a:prstGeom>
          <a:noFill/>
          <a:ln>
            <a:noFill/>
          </a:ln>
        </p:spPr>
      </p:pic>
      <p:pic>
        <p:nvPicPr>
          <p:cNvPr descr="image.png" id="234" name="Google Shape;234;p25"/>
          <p:cNvPicPr preferRelativeResize="0"/>
          <p:nvPr/>
        </p:nvPicPr>
        <p:blipFill rotWithShape="1">
          <a:blip r:embed="rId5">
            <a:alphaModFix/>
          </a:blip>
          <a:srcRect b="0" l="0" r="0" t="0"/>
          <a:stretch/>
        </p:blipFill>
        <p:spPr>
          <a:xfrm>
            <a:off x="4381500" y="1943100"/>
            <a:ext cx="3429000" cy="2143125"/>
          </a:xfrm>
          <a:prstGeom prst="rect">
            <a:avLst/>
          </a:prstGeom>
          <a:noFill/>
          <a:ln>
            <a:noFill/>
          </a:ln>
        </p:spPr>
      </p:pic>
      <p:pic>
        <p:nvPicPr>
          <p:cNvPr descr="image.png" id="235" name="Google Shape;235;p25"/>
          <p:cNvPicPr preferRelativeResize="0"/>
          <p:nvPr/>
        </p:nvPicPr>
        <p:blipFill rotWithShape="1">
          <a:blip r:embed="rId6">
            <a:alphaModFix/>
          </a:blip>
          <a:srcRect b="0" l="0" r="0" t="0"/>
          <a:stretch/>
        </p:blipFill>
        <p:spPr>
          <a:xfrm>
            <a:off x="8191500" y="1943100"/>
            <a:ext cx="3429000" cy="2143125"/>
          </a:xfrm>
          <a:prstGeom prst="rect">
            <a:avLst/>
          </a:prstGeom>
          <a:noFill/>
          <a:ln>
            <a:noFill/>
          </a:ln>
        </p:spPr>
      </p:pic>
      <p:sp>
        <p:nvSpPr>
          <p:cNvPr id="236" name="Google Shape;236;p25"/>
          <p:cNvSpPr txBox="1"/>
          <p:nvPr/>
        </p:nvSpPr>
        <p:spPr>
          <a:xfrm>
            <a:off x="485775" y="4276725"/>
            <a:ext cx="3600600" cy="369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2400">
                <a:solidFill>
                  <a:srgbClr val="FFFFFF"/>
                </a:solidFill>
                <a:latin typeface="Urbanist"/>
                <a:ea typeface="Urbanist"/>
                <a:cs typeface="Urbanist"/>
                <a:sym typeface="Urbanist"/>
              </a:rPr>
              <a:t>Decentralized Printing</a:t>
            </a:r>
            <a:endParaRPr/>
          </a:p>
        </p:txBody>
      </p:sp>
      <p:sp>
        <p:nvSpPr>
          <p:cNvPr id="237" name="Google Shape;237;p25"/>
          <p:cNvSpPr txBox="1"/>
          <p:nvPr/>
        </p:nvSpPr>
        <p:spPr>
          <a:xfrm>
            <a:off x="571500" y="4810125"/>
            <a:ext cx="3429000" cy="8313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lang="en-US" sz="1350">
                <a:solidFill>
                  <a:srgbClr val="E5E7EB"/>
                </a:solidFill>
                <a:latin typeface="Lato"/>
                <a:ea typeface="Lato"/>
                <a:cs typeface="Lato"/>
                <a:sym typeface="Lato"/>
              </a:rPr>
              <a:t>Printers are directly connected to their departmental access switches for local, direct printing </a:t>
            </a:r>
            <a:r>
              <a:rPr lang="en-US" sz="1350">
                <a:solidFill>
                  <a:srgbClr val="E5E7EB"/>
                </a:solidFill>
                <a:latin typeface="Lato"/>
                <a:ea typeface="Lato"/>
                <a:cs typeface="Lato"/>
                <a:sym typeface="Lato"/>
              </a:rPr>
              <a:t>access</a:t>
            </a:r>
            <a:r>
              <a:rPr lang="en-US" sz="1350">
                <a:solidFill>
                  <a:srgbClr val="E5E7EB"/>
                </a:solidFill>
                <a:latin typeface="Lato"/>
                <a:ea typeface="Lato"/>
                <a:cs typeface="Lato"/>
                <a:sym typeface="Lato"/>
              </a:rPr>
              <a:t>.</a:t>
            </a:r>
            <a:endParaRPr/>
          </a:p>
        </p:txBody>
      </p:sp>
      <p:sp>
        <p:nvSpPr>
          <p:cNvPr id="238" name="Google Shape;238;p25"/>
          <p:cNvSpPr txBox="1"/>
          <p:nvPr/>
        </p:nvSpPr>
        <p:spPr>
          <a:xfrm>
            <a:off x="4295775" y="4276725"/>
            <a:ext cx="3600450" cy="3619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400" u="none" cap="none" strike="noStrike">
                <a:solidFill>
                  <a:srgbClr val="FFFFFF"/>
                </a:solidFill>
                <a:latin typeface="Urbanist"/>
                <a:ea typeface="Urbanist"/>
                <a:cs typeface="Urbanist"/>
                <a:sym typeface="Urbanist"/>
              </a:rPr>
              <a:t>Internet &amp; WAN Access</a:t>
            </a:r>
            <a:endParaRPr/>
          </a:p>
        </p:txBody>
      </p:sp>
      <p:sp>
        <p:nvSpPr>
          <p:cNvPr id="239" name="Google Shape;239;p25"/>
          <p:cNvSpPr txBox="1"/>
          <p:nvPr/>
        </p:nvSpPr>
        <p:spPr>
          <a:xfrm>
            <a:off x="4381500" y="4810125"/>
            <a:ext cx="3429000" cy="51435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350" u="none" cap="none" strike="noStrike">
                <a:solidFill>
                  <a:srgbClr val="E5E7EB"/>
                </a:solidFill>
                <a:latin typeface="Lato"/>
                <a:ea typeface="Lato"/>
                <a:cs typeface="Lato"/>
                <a:sym typeface="Lato"/>
              </a:rPr>
              <a:t>Secure, managed internet access is provided to all segments via the central WAN router.</a:t>
            </a:r>
            <a:endParaRPr/>
          </a:p>
        </p:txBody>
      </p:sp>
      <p:sp>
        <p:nvSpPr>
          <p:cNvPr id="240" name="Google Shape;240;p25"/>
          <p:cNvSpPr txBox="1"/>
          <p:nvPr/>
        </p:nvSpPr>
        <p:spPr>
          <a:xfrm>
            <a:off x="8105775" y="4276725"/>
            <a:ext cx="3666900" cy="369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2400">
                <a:solidFill>
                  <a:srgbClr val="FFFFFF"/>
                </a:solidFill>
                <a:latin typeface="Urbanist"/>
                <a:ea typeface="Urbanist"/>
                <a:cs typeface="Urbanist"/>
                <a:sym typeface="Urbanist"/>
              </a:rPr>
              <a:t>Centralized DHCP Service</a:t>
            </a:r>
            <a:endParaRPr/>
          </a:p>
        </p:txBody>
      </p:sp>
      <p:sp>
        <p:nvSpPr>
          <p:cNvPr id="241" name="Google Shape;241;p25"/>
          <p:cNvSpPr txBox="1"/>
          <p:nvPr/>
        </p:nvSpPr>
        <p:spPr>
          <a:xfrm>
            <a:off x="8191500" y="4810125"/>
            <a:ext cx="3468300" cy="11430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lang="en-US" sz="1350">
                <a:solidFill>
                  <a:srgbClr val="E5E7EB"/>
                </a:solidFill>
                <a:latin typeface="Lato"/>
                <a:ea typeface="Lato"/>
                <a:cs typeface="Lato"/>
                <a:sym typeface="Lato"/>
              </a:rPr>
              <a:t>The Core Layer 3 Switch automatically assigns IP addresses to all devices across VLANs, simplifying device setup and network expansion.</a:t>
            </a:r>
            <a:endParaRPr/>
          </a:p>
        </p:txBody>
      </p:sp>
      <p:sp>
        <p:nvSpPr>
          <p:cNvPr id="242" name="Google Shape;242;p25"/>
          <p:cNvSpPr txBox="1"/>
          <p:nvPr/>
        </p:nvSpPr>
        <p:spPr>
          <a:xfrm>
            <a:off x="571500" y="571500"/>
            <a:ext cx="1160145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0AEEF"/>
                </a:solidFill>
                <a:latin typeface="Urbanist"/>
                <a:ea typeface="Urbanist"/>
                <a:cs typeface="Urbanist"/>
                <a:sym typeface="Urbanist"/>
              </a:rPr>
              <a:t>Key Network Services</a:t>
            </a:r>
            <a:endParaRPr/>
          </a:p>
        </p:txBody>
      </p:sp>
      <p:pic>
        <p:nvPicPr>
          <p:cNvPr descr="Print out, print files, printer, printing, publish document icon (Provided by Getty Images)" id="243" name="Google Shape;243;p25"/>
          <p:cNvPicPr preferRelativeResize="0"/>
          <p:nvPr/>
        </p:nvPicPr>
        <p:blipFill>
          <a:blip r:embed="rId7">
            <a:alphaModFix/>
          </a:blip>
          <a:stretch>
            <a:fillRect/>
          </a:stretch>
        </p:blipFill>
        <p:spPr>
          <a:xfrm>
            <a:off x="1400725" y="2129387"/>
            <a:ext cx="1770552" cy="1770552"/>
          </a:xfrm>
          <a:prstGeom prst="rect">
            <a:avLst/>
          </a:prstGeom>
          <a:noFill/>
          <a:ln>
            <a:noFill/>
          </a:ln>
        </p:spPr>
      </p:pic>
      <p:pic>
        <p:nvPicPr>
          <p:cNvPr descr="cloud storage icon vector. Isolated contour symbol illustration (Provided by Getty Images)" id="244" name="Google Shape;244;p25"/>
          <p:cNvPicPr preferRelativeResize="0"/>
          <p:nvPr/>
        </p:nvPicPr>
        <p:blipFill>
          <a:blip r:embed="rId8">
            <a:alphaModFix/>
          </a:blip>
          <a:stretch>
            <a:fillRect/>
          </a:stretch>
        </p:blipFill>
        <p:spPr>
          <a:xfrm>
            <a:off x="5289850" y="2129387"/>
            <a:ext cx="1770552" cy="1770552"/>
          </a:xfrm>
          <a:prstGeom prst="rect">
            <a:avLst/>
          </a:prstGeom>
          <a:noFill/>
          <a:ln>
            <a:noFill/>
          </a:ln>
        </p:spPr>
      </p:pic>
      <p:pic>
        <p:nvPicPr>
          <p:cNvPr descr="Cloud computing concept. Technology data center on cloud service. 3d rendering illustration (Provided by Getty Images)" id="245" name="Google Shape;245;p25"/>
          <p:cNvPicPr preferRelativeResize="0"/>
          <p:nvPr/>
        </p:nvPicPr>
        <p:blipFill>
          <a:blip r:embed="rId9">
            <a:alphaModFix/>
          </a:blip>
          <a:stretch>
            <a:fillRect/>
          </a:stretch>
        </p:blipFill>
        <p:spPr>
          <a:xfrm>
            <a:off x="8755570" y="2247899"/>
            <a:ext cx="2300846" cy="1533526"/>
          </a:xfrm>
          <a:prstGeom prst="rect">
            <a:avLst/>
          </a:prstGeom>
          <a:noFill/>
          <a:ln>
            <a:noFill/>
          </a:ln>
        </p:spPr>
      </p:pic>
      <p:pic>
        <p:nvPicPr>
          <p:cNvPr id="246" name="Google Shape;246;p25"/>
          <p:cNvPicPr preferRelativeResize="0"/>
          <p:nvPr/>
        </p:nvPicPr>
        <p:blipFill rotWithShape="1">
          <a:blip r:embed="rId10">
            <a:alphaModFix/>
          </a:blip>
          <a:srcRect b="11567" l="0" r="0" t="11574"/>
          <a:stretch/>
        </p:blipFill>
        <p:spPr>
          <a:xfrm>
            <a:off x="339825" y="6140525"/>
            <a:ext cx="1214557" cy="466725"/>
          </a:xfrm>
          <a:prstGeom prst="rect">
            <a:avLst/>
          </a:prstGeom>
          <a:noFill/>
          <a:ln>
            <a:noFill/>
          </a:ln>
        </p:spPr>
      </p:pic>
      <p:sp>
        <p:nvSpPr>
          <p:cNvPr id="247" name="Google Shape;247;p25"/>
          <p:cNvSpPr txBox="1"/>
          <p:nvPr/>
        </p:nvSpPr>
        <p:spPr>
          <a:xfrm>
            <a:off x="9717300" y="6451000"/>
            <a:ext cx="1973700" cy="2925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700"/>
              <a:buFont typeface="Arial"/>
              <a:buNone/>
            </a:pPr>
            <a:r>
              <a:rPr b="0" i="0" lang="en-US" sz="700" u="none" cap="none" strike="noStrike">
                <a:solidFill>
                  <a:schemeClr val="lt1"/>
                </a:solidFill>
                <a:latin typeface="Nunito"/>
                <a:ea typeface="Nunito"/>
                <a:cs typeface="Nunito"/>
                <a:sym typeface="Nunito"/>
              </a:rPr>
              <a:t>MO-IT104 Computer Networks</a:t>
            </a:r>
            <a:endParaRPr b="0" i="0" sz="700" u="none" cap="none" strike="noStrike">
              <a:solidFill>
                <a:schemeClr val="lt1"/>
              </a:solidFill>
              <a:latin typeface="Nunito"/>
              <a:ea typeface="Nunito"/>
              <a:cs typeface="Nunito"/>
              <a:sym typeface="Nuni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827"/>
        </a:solidFill>
      </p:bgPr>
    </p:bg>
    <p:spTree>
      <p:nvGrpSpPr>
        <p:cNvPr id="251" name="Shape 251"/>
        <p:cNvGrpSpPr/>
        <p:nvPr/>
      </p:nvGrpSpPr>
      <p:grpSpPr>
        <a:xfrm>
          <a:off x="0" y="0"/>
          <a:ext cx="0" cy="0"/>
          <a:chOff x="0" y="0"/>
          <a:chExt cx="0" cy="0"/>
        </a:xfrm>
      </p:grpSpPr>
      <p:pic>
        <p:nvPicPr>
          <p:cNvPr descr="image.png" id="252" name="Google Shape;252;p2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53" name="Google Shape;253;p26"/>
          <p:cNvSpPr txBox="1"/>
          <p:nvPr/>
        </p:nvSpPr>
        <p:spPr>
          <a:xfrm>
            <a:off x="2190750" y="2438400"/>
            <a:ext cx="8191500" cy="5143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FFFFFF"/>
                </a:solidFill>
                <a:latin typeface="Lato"/>
                <a:ea typeface="Lato"/>
                <a:cs typeface="Lato"/>
                <a:sym typeface="Lato"/>
              </a:rPr>
              <a:t>Scalability:</a:t>
            </a:r>
            <a:r>
              <a:rPr b="0" i="0" lang="en-US" sz="1350" u="none" cap="none" strike="noStrike">
                <a:solidFill>
                  <a:srgbClr val="E5E7EB"/>
                </a:solidFill>
                <a:latin typeface="Lato"/>
                <a:ea typeface="Lato"/>
                <a:cs typeface="Lato"/>
                <a:sym typeface="Lato"/>
              </a:rPr>
              <a:t> Easily add new departments or more users by simply adding a new access switch to the core. The hierarchical design scales cleanly.</a:t>
            </a:r>
            <a:endParaRPr/>
          </a:p>
        </p:txBody>
      </p:sp>
      <p:sp>
        <p:nvSpPr>
          <p:cNvPr id="254" name="Google Shape;254;p26"/>
          <p:cNvSpPr txBox="1"/>
          <p:nvPr/>
        </p:nvSpPr>
        <p:spPr>
          <a:xfrm>
            <a:off x="2190750" y="3143250"/>
            <a:ext cx="8191500" cy="5143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FFFFFF"/>
                </a:solidFill>
                <a:latin typeface="Lato"/>
                <a:ea typeface="Lato"/>
                <a:cs typeface="Lato"/>
                <a:sym typeface="Lato"/>
              </a:rPr>
              <a:t>Performance:</a:t>
            </a:r>
            <a:r>
              <a:rPr b="0" i="0" lang="en-US" sz="1350" u="none" cap="none" strike="noStrike">
                <a:solidFill>
                  <a:srgbClr val="E5E7EB"/>
                </a:solidFill>
                <a:latin typeface="Lato"/>
                <a:ea typeface="Lato"/>
                <a:cs typeface="Lato"/>
                <a:sym typeface="Lato"/>
              </a:rPr>
              <a:t> The switched, segmented design minimizes congestion and provides high-speed pathways from end-to-end.</a:t>
            </a:r>
            <a:endParaRPr/>
          </a:p>
        </p:txBody>
      </p:sp>
      <p:sp>
        <p:nvSpPr>
          <p:cNvPr id="255" name="Google Shape;255;p26"/>
          <p:cNvSpPr txBox="1"/>
          <p:nvPr/>
        </p:nvSpPr>
        <p:spPr>
          <a:xfrm>
            <a:off x="2190750" y="3848100"/>
            <a:ext cx="8191500" cy="5143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FFFFFF"/>
                </a:solidFill>
                <a:latin typeface="Lato"/>
                <a:ea typeface="Lato"/>
                <a:cs typeface="Lato"/>
                <a:sym typeface="Lato"/>
              </a:rPr>
              <a:t>Manageability:</a:t>
            </a:r>
            <a:r>
              <a:rPr b="0" i="0" lang="en-US" sz="1350" u="none" cap="none" strike="noStrike">
                <a:solidFill>
                  <a:srgbClr val="E5E7EB"/>
                </a:solidFill>
                <a:latin typeface="Lato"/>
                <a:ea typeface="Lato"/>
                <a:cs typeface="Lato"/>
                <a:sym typeface="Lato"/>
              </a:rPr>
              <a:t> The hierarchical model is logical and easy to troubleshoot. Problems are isolated to their specific segment.</a:t>
            </a:r>
            <a:endParaRPr/>
          </a:p>
        </p:txBody>
      </p:sp>
      <p:sp>
        <p:nvSpPr>
          <p:cNvPr id="256" name="Google Shape;256;p26"/>
          <p:cNvSpPr txBox="1"/>
          <p:nvPr/>
        </p:nvSpPr>
        <p:spPr>
          <a:xfrm>
            <a:off x="2190750" y="4552950"/>
            <a:ext cx="8191500" cy="5143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FFFFFF"/>
                </a:solidFill>
                <a:latin typeface="Lato"/>
                <a:ea typeface="Lato"/>
                <a:cs typeface="Lato"/>
                <a:sym typeface="Lato"/>
              </a:rPr>
              <a:t>Security:</a:t>
            </a:r>
            <a:r>
              <a:rPr b="0" i="0" lang="en-US" sz="1350" u="none" cap="none" strike="noStrike">
                <a:solidFill>
                  <a:srgbClr val="E5E7EB"/>
                </a:solidFill>
                <a:latin typeface="Lato"/>
                <a:ea typeface="Lato"/>
                <a:cs typeface="Lato"/>
                <a:sym typeface="Lato"/>
              </a:rPr>
              <a:t> The foundation for a secure environment is built-in via VLAN segmentation, which is a modern security best practice.</a:t>
            </a:r>
            <a:endParaRPr/>
          </a:p>
        </p:txBody>
      </p:sp>
      <p:pic>
        <p:nvPicPr>
          <p:cNvPr descr="image.png" id="257" name="Google Shape;257;p26"/>
          <p:cNvPicPr preferRelativeResize="0"/>
          <p:nvPr/>
        </p:nvPicPr>
        <p:blipFill rotWithShape="1">
          <a:blip r:embed="rId4">
            <a:alphaModFix/>
          </a:blip>
          <a:srcRect b="0" l="0" r="0" t="0"/>
          <a:stretch/>
        </p:blipFill>
        <p:spPr>
          <a:xfrm>
            <a:off x="1809750" y="2486025"/>
            <a:ext cx="200025" cy="228600"/>
          </a:xfrm>
          <a:prstGeom prst="rect">
            <a:avLst/>
          </a:prstGeom>
          <a:noFill/>
          <a:ln>
            <a:noFill/>
          </a:ln>
        </p:spPr>
      </p:pic>
      <p:pic>
        <p:nvPicPr>
          <p:cNvPr descr="image.png" id="258" name="Google Shape;258;p26"/>
          <p:cNvPicPr preferRelativeResize="0"/>
          <p:nvPr/>
        </p:nvPicPr>
        <p:blipFill rotWithShape="1">
          <a:blip r:embed="rId5">
            <a:alphaModFix/>
          </a:blip>
          <a:srcRect b="0" l="0" r="0" t="0"/>
          <a:stretch/>
        </p:blipFill>
        <p:spPr>
          <a:xfrm>
            <a:off x="1809750" y="3190875"/>
            <a:ext cx="200025" cy="228600"/>
          </a:xfrm>
          <a:prstGeom prst="rect">
            <a:avLst/>
          </a:prstGeom>
          <a:noFill/>
          <a:ln>
            <a:noFill/>
          </a:ln>
        </p:spPr>
      </p:pic>
      <p:pic>
        <p:nvPicPr>
          <p:cNvPr descr="image.png" id="259" name="Google Shape;259;p26"/>
          <p:cNvPicPr preferRelativeResize="0"/>
          <p:nvPr/>
        </p:nvPicPr>
        <p:blipFill rotWithShape="1">
          <a:blip r:embed="rId6">
            <a:alphaModFix/>
          </a:blip>
          <a:srcRect b="0" l="0" r="0" t="0"/>
          <a:stretch/>
        </p:blipFill>
        <p:spPr>
          <a:xfrm>
            <a:off x="1809750" y="3895725"/>
            <a:ext cx="228600" cy="228600"/>
          </a:xfrm>
          <a:prstGeom prst="rect">
            <a:avLst/>
          </a:prstGeom>
          <a:noFill/>
          <a:ln>
            <a:noFill/>
          </a:ln>
        </p:spPr>
      </p:pic>
      <p:pic>
        <p:nvPicPr>
          <p:cNvPr descr="image.png" id="260" name="Google Shape;260;p26"/>
          <p:cNvPicPr preferRelativeResize="0"/>
          <p:nvPr/>
        </p:nvPicPr>
        <p:blipFill rotWithShape="1">
          <a:blip r:embed="rId7">
            <a:alphaModFix/>
          </a:blip>
          <a:srcRect b="0" l="0" r="0" t="0"/>
          <a:stretch/>
        </p:blipFill>
        <p:spPr>
          <a:xfrm>
            <a:off x="1809750" y="4600575"/>
            <a:ext cx="200025" cy="228600"/>
          </a:xfrm>
          <a:prstGeom prst="rect">
            <a:avLst/>
          </a:prstGeom>
          <a:noFill/>
          <a:ln>
            <a:noFill/>
          </a:ln>
        </p:spPr>
      </p:pic>
      <p:sp>
        <p:nvSpPr>
          <p:cNvPr id="261" name="Google Shape;261;p26"/>
          <p:cNvSpPr txBox="1"/>
          <p:nvPr/>
        </p:nvSpPr>
        <p:spPr>
          <a:xfrm>
            <a:off x="571500" y="571500"/>
            <a:ext cx="1160145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0AEEF"/>
                </a:solidFill>
                <a:latin typeface="Urbanist"/>
                <a:ea typeface="Urbanist"/>
                <a:cs typeface="Urbanist"/>
                <a:sym typeface="Urbanist"/>
              </a:rPr>
              <a:t>Analysis: Strengths of this Solution</a:t>
            </a:r>
            <a:endParaRPr/>
          </a:p>
        </p:txBody>
      </p:sp>
      <p:pic>
        <p:nvPicPr>
          <p:cNvPr id="262" name="Google Shape;262;p26"/>
          <p:cNvPicPr preferRelativeResize="0"/>
          <p:nvPr/>
        </p:nvPicPr>
        <p:blipFill rotWithShape="1">
          <a:blip r:embed="rId8">
            <a:alphaModFix/>
          </a:blip>
          <a:srcRect b="11567" l="0" r="0" t="11574"/>
          <a:stretch/>
        </p:blipFill>
        <p:spPr>
          <a:xfrm>
            <a:off x="339825" y="6140525"/>
            <a:ext cx="1214557" cy="466725"/>
          </a:xfrm>
          <a:prstGeom prst="rect">
            <a:avLst/>
          </a:prstGeom>
          <a:noFill/>
          <a:ln>
            <a:noFill/>
          </a:ln>
        </p:spPr>
      </p:pic>
      <p:sp>
        <p:nvSpPr>
          <p:cNvPr id="263" name="Google Shape;263;p26"/>
          <p:cNvSpPr txBox="1"/>
          <p:nvPr/>
        </p:nvSpPr>
        <p:spPr>
          <a:xfrm>
            <a:off x="9717300" y="6451000"/>
            <a:ext cx="1973700" cy="2925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700"/>
              <a:buFont typeface="Arial"/>
              <a:buNone/>
            </a:pPr>
            <a:r>
              <a:rPr b="0" i="0" lang="en-US" sz="700" u="none" cap="none" strike="noStrike">
                <a:solidFill>
                  <a:schemeClr val="lt1"/>
                </a:solidFill>
                <a:latin typeface="Nunito"/>
                <a:ea typeface="Nunito"/>
                <a:cs typeface="Nunito"/>
                <a:sym typeface="Nunito"/>
              </a:rPr>
              <a:t>MO-IT104 Computer Networks</a:t>
            </a:r>
            <a:endParaRPr b="0" i="0" sz="700" u="none" cap="none" strike="noStrike">
              <a:solidFill>
                <a:schemeClr val="lt1"/>
              </a:solidFill>
              <a:latin typeface="Nunito"/>
              <a:ea typeface="Nunito"/>
              <a:cs typeface="Nunito"/>
              <a:sym typeface="Nuni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827"/>
        </a:solidFill>
      </p:bgPr>
    </p:bg>
    <p:spTree>
      <p:nvGrpSpPr>
        <p:cNvPr id="267" name="Shape 267"/>
        <p:cNvGrpSpPr/>
        <p:nvPr/>
      </p:nvGrpSpPr>
      <p:grpSpPr>
        <a:xfrm>
          <a:off x="0" y="0"/>
          <a:ext cx="0" cy="0"/>
          <a:chOff x="0" y="0"/>
          <a:chExt cx="0" cy="0"/>
        </a:xfrm>
      </p:grpSpPr>
      <p:sp>
        <p:nvSpPr>
          <p:cNvPr id="268" name="Google Shape;268;p27"/>
          <p:cNvSpPr txBox="1"/>
          <p:nvPr/>
        </p:nvSpPr>
        <p:spPr>
          <a:xfrm>
            <a:off x="197100" y="452650"/>
            <a:ext cx="55506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0AEEF"/>
                </a:solidFill>
                <a:latin typeface="Urbanist"/>
                <a:ea typeface="Urbanist"/>
                <a:cs typeface="Urbanist"/>
                <a:sym typeface="Urbanist"/>
              </a:rPr>
              <a:t>The "Final Solution" Vision</a:t>
            </a:r>
            <a:endParaRPr/>
          </a:p>
        </p:txBody>
      </p:sp>
      <p:sp>
        <p:nvSpPr>
          <p:cNvPr id="269" name="Google Shape;269;p27"/>
          <p:cNvSpPr txBox="1"/>
          <p:nvPr/>
        </p:nvSpPr>
        <p:spPr>
          <a:xfrm>
            <a:off x="197100" y="1024600"/>
            <a:ext cx="5550600" cy="369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FFFFFF"/>
                </a:solidFill>
                <a:latin typeface="Urbanist"/>
                <a:ea typeface="Urbanist"/>
                <a:cs typeface="Urbanist"/>
                <a:sym typeface="Urbanist"/>
              </a:rPr>
              <a:t>A Resilient &amp; Future-Proof Network</a:t>
            </a:r>
            <a:endParaRPr/>
          </a:p>
        </p:txBody>
      </p:sp>
      <p:sp>
        <p:nvSpPr>
          <p:cNvPr id="270" name="Google Shape;270;p27"/>
          <p:cNvSpPr txBox="1"/>
          <p:nvPr/>
        </p:nvSpPr>
        <p:spPr>
          <a:xfrm>
            <a:off x="197100" y="1669800"/>
            <a:ext cx="5286300" cy="54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lang="en-US" sz="1350">
                <a:solidFill>
                  <a:srgbClr val="E5E7EB"/>
                </a:solidFill>
                <a:latin typeface="Lato"/>
                <a:ea typeface="Lato"/>
                <a:cs typeface="Lato"/>
                <a:sym typeface="Lato"/>
              </a:rPr>
              <a:t>W</a:t>
            </a:r>
            <a:r>
              <a:rPr b="0" i="0" lang="en-US" sz="1350" u="none" cap="none" strike="noStrike">
                <a:solidFill>
                  <a:srgbClr val="E5E7EB"/>
                </a:solidFill>
                <a:latin typeface="Lato"/>
                <a:ea typeface="Lato"/>
                <a:cs typeface="Lato"/>
                <a:sym typeface="Lato"/>
              </a:rPr>
              <a:t>e elevate the initial design from a functional network to a truly resilient, enterprise-grade infrastructure.</a:t>
            </a:r>
            <a:endParaRPr/>
          </a:p>
        </p:txBody>
      </p:sp>
      <p:sp>
        <p:nvSpPr>
          <p:cNvPr id="271" name="Google Shape;271;p27"/>
          <p:cNvSpPr txBox="1"/>
          <p:nvPr/>
        </p:nvSpPr>
        <p:spPr>
          <a:xfrm>
            <a:off x="197100" y="2282024"/>
            <a:ext cx="5286300" cy="8727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lang="en-US" sz="1350">
                <a:solidFill>
                  <a:srgbClr val="E5E7EB"/>
                </a:solidFill>
                <a:latin typeface="Lato"/>
                <a:ea typeface="Lato"/>
                <a:cs typeface="Lato"/>
                <a:sym typeface="Lato"/>
              </a:rPr>
              <a:t>This solution establishes a stable foundation that can be expanded into a high-availability network by adding redundancy, security appliances, and monitoring systems in the future.</a:t>
            </a:r>
            <a:endParaRPr/>
          </a:p>
        </p:txBody>
      </p:sp>
      <p:pic>
        <p:nvPicPr>
          <p:cNvPr descr="5G Communication Technology of Internet Network (Provided by Getty Images)" id="272" name="Google Shape;272;p27"/>
          <p:cNvPicPr preferRelativeResize="0"/>
          <p:nvPr/>
        </p:nvPicPr>
        <p:blipFill>
          <a:blip r:embed="rId3">
            <a:alphaModFix/>
          </a:blip>
          <a:stretch>
            <a:fillRect/>
          </a:stretch>
        </p:blipFill>
        <p:spPr>
          <a:xfrm>
            <a:off x="6372303" y="0"/>
            <a:ext cx="11245143" cy="6858000"/>
          </a:xfrm>
          <a:prstGeom prst="rect">
            <a:avLst/>
          </a:prstGeom>
          <a:noFill/>
          <a:ln>
            <a:noFill/>
          </a:ln>
        </p:spPr>
      </p:pic>
      <p:pic>
        <p:nvPicPr>
          <p:cNvPr id="273" name="Google Shape;273;p27"/>
          <p:cNvPicPr preferRelativeResize="0"/>
          <p:nvPr/>
        </p:nvPicPr>
        <p:blipFill rotWithShape="1">
          <a:blip r:embed="rId4">
            <a:alphaModFix/>
          </a:blip>
          <a:srcRect b="11567" l="0" r="0" t="11574"/>
          <a:stretch/>
        </p:blipFill>
        <p:spPr>
          <a:xfrm>
            <a:off x="339825" y="6140525"/>
            <a:ext cx="1214557" cy="466725"/>
          </a:xfrm>
          <a:prstGeom prst="rect">
            <a:avLst/>
          </a:prstGeom>
          <a:noFill/>
          <a:ln>
            <a:noFill/>
          </a:ln>
        </p:spPr>
      </p:pic>
      <p:sp>
        <p:nvSpPr>
          <p:cNvPr id="274" name="Google Shape;274;p27"/>
          <p:cNvSpPr txBox="1"/>
          <p:nvPr/>
        </p:nvSpPr>
        <p:spPr>
          <a:xfrm>
            <a:off x="4398600" y="6227638"/>
            <a:ext cx="1973700" cy="2925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700"/>
              <a:buFont typeface="Arial"/>
              <a:buNone/>
            </a:pPr>
            <a:r>
              <a:rPr b="0" i="0" lang="en-US" sz="700" u="none" cap="none" strike="noStrike">
                <a:solidFill>
                  <a:schemeClr val="lt1"/>
                </a:solidFill>
                <a:latin typeface="Nunito"/>
                <a:ea typeface="Nunito"/>
                <a:cs typeface="Nunito"/>
                <a:sym typeface="Nunito"/>
              </a:rPr>
              <a:t>MO-IT104 Computer Networks</a:t>
            </a:r>
            <a:endParaRPr b="0" i="0" sz="700" u="none" cap="none" strike="noStrike">
              <a:solidFill>
                <a:schemeClr val="lt1"/>
              </a:solidFill>
              <a:latin typeface="Nunito"/>
              <a:ea typeface="Nunito"/>
              <a:cs typeface="Nunito"/>
              <a:sym typeface="Nuni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8" name="Shape 278"/>
        <p:cNvGrpSpPr/>
        <p:nvPr/>
      </p:nvGrpSpPr>
      <p:grpSpPr>
        <a:xfrm>
          <a:off x="0" y="0"/>
          <a:ext cx="0" cy="0"/>
          <a:chOff x="0" y="0"/>
          <a:chExt cx="0" cy="0"/>
        </a:xfrm>
      </p:grpSpPr>
      <p:sp>
        <p:nvSpPr>
          <p:cNvPr id="279" name="Google Shape;279;p28"/>
          <p:cNvSpPr txBox="1"/>
          <p:nvPr/>
        </p:nvSpPr>
        <p:spPr>
          <a:xfrm>
            <a:off x="2650569" y="2257425"/>
            <a:ext cx="6891000" cy="1616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5250">
                <a:solidFill>
                  <a:srgbClr val="FFFFFF"/>
                </a:solidFill>
                <a:latin typeface="Urbanist"/>
                <a:ea typeface="Urbanist"/>
                <a:cs typeface="Urbanist"/>
                <a:sym typeface="Urbanist"/>
              </a:rPr>
              <a:t>Solution Verification and Testing</a:t>
            </a:r>
            <a:endParaRPr/>
          </a:p>
        </p:txBody>
      </p:sp>
      <p:pic>
        <p:nvPicPr>
          <p:cNvPr id="280" name="Google Shape;280;p28"/>
          <p:cNvPicPr preferRelativeResize="0"/>
          <p:nvPr/>
        </p:nvPicPr>
        <p:blipFill rotWithShape="1">
          <a:blip r:embed="rId4">
            <a:alphaModFix/>
          </a:blip>
          <a:srcRect b="11567" l="0" r="0" t="11574"/>
          <a:stretch/>
        </p:blipFill>
        <p:spPr>
          <a:xfrm>
            <a:off x="339825" y="6140525"/>
            <a:ext cx="1214557" cy="4667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4" name="Shape 284"/>
        <p:cNvGrpSpPr/>
        <p:nvPr/>
      </p:nvGrpSpPr>
      <p:grpSpPr>
        <a:xfrm>
          <a:off x="0" y="0"/>
          <a:ext cx="0" cy="0"/>
          <a:chOff x="0" y="0"/>
          <a:chExt cx="0" cy="0"/>
        </a:xfrm>
      </p:grpSpPr>
      <p:pic>
        <p:nvPicPr>
          <p:cNvPr descr="image.png" id="285" name="Google Shape;285;p29"/>
          <p:cNvPicPr preferRelativeResize="0"/>
          <p:nvPr/>
        </p:nvPicPr>
        <p:blipFill rotWithShape="1">
          <a:blip r:embed="rId4">
            <a:alphaModFix/>
          </a:blip>
          <a:srcRect b="0" l="0" r="0" t="0"/>
          <a:stretch/>
        </p:blipFill>
        <p:spPr>
          <a:xfrm>
            <a:off x="571500" y="1857375"/>
            <a:ext cx="3429000" cy="3543300"/>
          </a:xfrm>
          <a:prstGeom prst="rect">
            <a:avLst/>
          </a:prstGeom>
          <a:noFill/>
          <a:ln>
            <a:noFill/>
          </a:ln>
        </p:spPr>
      </p:pic>
      <p:pic>
        <p:nvPicPr>
          <p:cNvPr descr="image.png" id="286" name="Google Shape;286;p29"/>
          <p:cNvPicPr preferRelativeResize="0"/>
          <p:nvPr/>
        </p:nvPicPr>
        <p:blipFill rotWithShape="1">
          <a:blip r:embed="rId5">
            <a:alphaModFix/>
          </a:blip>
          <a:srcRect b="0" l="0" r="0" t="0"/>
          <a:stretch/>
        </p:blipFill>
        <p:spPr>
          <a:xfrm>
            <a:off x="4381500" y="1857375"/>
            <a:ext cx="3429000" cy="3543300"/>
          </a:xfrm>
          <a:prstGeom prst="rect">
            <a:avLst/>
          </a:prstGeom>
          <a:noFill/>
          <a:ln>
            <a:noFill/>
          </a:ln>
        </p:spPr>
      </p:pic>
      <p:pic>
        <p:nvPicPr>
          <p:cNvPr descr="image.png" id="287" name="Google Shape;287;p29"/>
          <p:cNvPicPr preferRelativeResize="0"/>
          <p:nvPr/>
        </p:nvPicPr>
        <p:blipFill rotWithShape="1">
          <a:blip r:embed="rId6">
            <a:alphaModFix/>
          </a:blip>
          <a:srcRect b="0" l="0" r="0" t="0"/>
          <a:stretch/>
        </p:blipFill>
        <p:spPr>
          <a:xfrm>
            <a:off x="8191500" y="1857375"/>
            <a:ext cx="3429000" cy="3543300"/>
          </a:xfrm>
          <a:prstGeom prst="rect">
            <a:avLst/>
          </a:prstGeom>
          <a:noFill/>
          <a:ln>
            <a:noFill/>
          </a:ln>
        </p:spPr>
      </p:pic>
      <p:sp>
        <p:nvSpPr>
          <p:cNvPr id="288" name="Google Shape;288;p29"/>
          <p:cNvSpPr txBox="1"/>
          <p:nvPr/>
        </p:nvSpPr>
        <p:spPr>
          <a:xfrm>
            <a:off x="571513" y="1033200"/>
            <a:ext cx="11049000" cy="2079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lang="en-US" sz="1350">
                <a:solidFill>
                  <a:srgbClr val="E5E7EB"/>
                </a:solidFill>
                <a:latin typeface="Lato"/>
                <a:ea typeface="Lato"/>
                <a:cs typeface="Lato"/>
                <a:sym typeface="Lato"/>
              </a:rPr>
              <a:t>Three k</a:t>
            </a:r>
            <a:r>
              <a:rPr lang="en-US" sz="1350">
                <a:solidFill>
                  <a:srgbClr val="E5E7EB"/>
                </a:solidFill>
                <a:latin typeface="Lato"/>
                <a:ea typeface="Lato"/>
                <a:cs typeface="Lato"/>
                <a:sym typeface="Lato"/>
              </a:rPr>
              <a:t>ey tests were performed to validate the complete data path, all of which were 100% successful.</a:t>
            </a:r>
            <a:endParaRPr/>
          </a:p>
        </p:txBody>
      </p:sp>
      <p:sp>
        <p:nvSpPr>
          <p:cNvPr id="289" name="Google Shape;289;p29"/>
          <p:cNvSpPr txBox="1"/>
          <p:nvPr/>
        </p:nvSpPr>
        <p:spPr>
          <a:xfrm>
            <a:off x="866625" y="3461225"/>
            <a:ext cx="2838600" cy="5196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1" lang="en-US" sz="1350">
                <a:solidFill>
                  <a:srgbClr val="E5E7EB"/>
                </a:solidFill>
                <a:latin typeface="Lato"/>
                <a:ea typeface="Lato"/>
                <a:cs typeface="Lato"/>
                <a:sym typeface="Lato"/>
              </a:rPr>
              <a:t>Test </a:t>
            </a:r>
            <a:r>
              <a:rPr lang="en-US" sz="1350">
                <a:solidFill>
                  <a:srgbClr val="E5E7EB"/>
                </a:solidFill>
                <a:latin typeface="Lato"/>
                <a:ea typeface="Lato"/>
                <a:cs typeface="Lato"/>
                <a:sym typeface="Lato"/>
              </a:rPr>
              <a:t>PC_Accounting 1 pings Printer_Accounting = </a:t>
            </a:r>
            <a:r>
              <a:rPr b="1" lang="en-US" sz="1350">
                <a:solidFill>
                  <a:srgbClr val="E5E7EB"/>
                </a:solidFill>
                <a:latin typeface="Lato"/>
                <a:ea typeface="Lato"/>
                <a:cs typeface="Lato"/>
                <a:sym typeface="Lato"/>
              </a:rPr>
              <a:t>0% loss</a:t>
            </a:r>
            <a:endParaRPr b="1"/>
          </a:p>
        </p:txBody>
      </p:sp>
      <p:sp>
        <p:nvSpPr>
          <p:cNvPr id="290" name="Google Shape;290;p29"/>
          <p:cNvSpPr txBox="1"/>
          <p:nvPr/>
        </p:nvSpPr>
        <p:spPr>
          <a:xfrm>
            <a:off x="4676700" y="3525075"/>
            <a:ext cx="2838600" cy="5196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1" lang="en-US" sz="1350">
                <a:solidFill>
                  <a:srgbClr val="E5E7EB"/>
                </a:solidFill>
                <a:latin typeface="Lato"/>
                <a:ea typeface="Lato"/>
                <a:cs typeface="Lato"/>
                <a:sym typeface="Lato"/>
              </a:rPr>
              <a:t>Test </a:t>
            </a:r>
            <a:r>
              <a:rPr lang="en-US" sz="1350">
                <a:solidFill>
                  <a:srgbClr val="E5E7EB"/>
                </a:solidFill>
                <a:latin typeface="Lato"/>
                <a:ea typeface="Lato"/>
                <a:cs typeface="Lato"/>
                <a:sym typeface="Lato"/>
              </a:rPr>
              <a:t>PC_Sales_10 pings PC_IT_8</a:t>
            </a:r>
            <a:endParaRPr sz="1350">
              <a:solidFill>
                <a:srgbClr val="E5E7EB"/>
              </a:solidFill>
              <a:latin typeface="Lato"/>
              <a:ea typeface="Lato"/>
              <a:cs typeface="Lato"/>
              <a:sym typeface="Lato"/>
            </a:endParaRPr>
          </a:p>
          <a:p>
            <a:pPr indent="0" lvl="0" marL="0" marR="0" rtl="0" algn="ctr">
              <a:lnSpc>
                <a:spcPct val="150000"/>
              </a:lnSpc>
              <a:spcBef>
                <a:spcPts val="0"/>
              </a:spcBef>
              <a:spcAft>
                <a:spcPts val="0"/>
              </a:spcAft>
              <a:buNone/>
            </a:pPr>
            <a:r>
              <a:rPr lang="en-US" sz="1350">
                <a:solidFill>
                  <a:srgbClr val="E5E7EB"/>
                </a:solidFill>
                <a:latin typeface="Lato"/>
                <a:ea typeface="Lato"/>
                <a:cs typeface="Lato"/>
                <a:sym typeface="Lato"/>
              </a:rPr>
              <a:t>= </a:t>
            </a:r>
            <a:r>
              <a:rPr b="1" lang="en-US" sz="1350">
                <a:solidFill>
                  <a:srgbClr val="E5E7EB"/>
                </a:solidFill>
                <a:latin typeface="Lato"/>
                <a:ea typeface="Lato"/>
                <a:cs typeface="Lato"/>
                <a:sym typeface="Lato"/>
              </a:rPr>
              <a:t>0% loss</a:t>
            </a:r>
            <a:endParaRPr sz="1350">
              <a:solidFill>
                <a:srgbClr val="E5E7EB"/>
              </a:solidFill>
              <a:latin typeface="Lato"/>
              <a:ea typeface="Lato"/>
              <a:cs typeface="Lato"/>
              <a:sym typeface="Lato"/>
            </a:endParaRPr>
          </a:p>
        </p:txBody>
      </p:sp>
      <p:sp>
        <p:nvSpPr>
          <p:cNvPr id="291" name="Google Shape;291;p29"/>
          <p:cNvSpPr txBox="1"/>
          <p:nvPr/>
        </p:nvSpPr>
        <p:spPr>
          <a:xfrm>
            <a:off x="571500" y="571500"/>
            <a:ext cx="116016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000">
                <a:solidFill>
                  <a:srgbClr val="00AEEF"/>
                </a:solidFill>
                <a:latin typeface="Urbanist"/>
                <a:ea typeface="Urbanist"/>
                <a:cs typeface="Urbanist"/>
                <a:sym typeface="Urbanist"/>
              </a:rPr>
              <a:t>Testing Connectivity</a:t>
            </a:r>
            <a:endParaRPr/>
          </a:p>
        </p:txBody>
      </p:sp>
      <p:pic>
        <p:nvPicPr>
          <p:cNvPr descr="Cloud Storage Icon (Provided by Getty Images)" id="292" name="Google Shape;292;p29"/>
          <p:cNvPicPr preferRelativeResize="0"/>
          <p:nvPr/>
        </p:nvPicPr>
        <p:blipFill>
          <a:blip r:embed="rId7">
            <a:alphaModFix/>
          </a:blip>
          <a:stretch>
            <a:fillRect/>
          </a:stretch>
        </p:blipFill>
        <p:spPr>
          <a:xfrm>
            <a:off x="1541575" y="2047413"/>
            <a:ext cx="1315277" cy="1315302"/>
          </a:xfrm>
          <a:prstGeom prst="rect">
            <a:avLst/>
          </a:prstGeom>
          <a:noFill/>
          <a:ln>
            <a:noFill/>
          </a:ln>
        </p:spPr>
      </p:pic>
      <p:pic>
        <p:nvPicPr>
          <p:cNvPr descr="Cloud Icon (Provided by Getty Images)" id="293" name="Google Shape;293;p29"/>
          <p:cNvPicPr preferRelativeResize="0"/>
          <p:nvPr/>
        </p:nvPicPr>
        <p:blipFill>
          <a:blip r:embed="rId8">
            <a:alphaModFix/>
          </a:blip>
          <a:stretch>
            <a:fillRect/>
          </a:stretch>
        </p:blipFill>
        <p:spPr>
          <a:xfrm>
            <a:off x="5362438" y="1994100"/>
            <a:ext cx="1467126" cy="1467126"/>
          </a:xfrm>
          <a:prstGeom prst="rect">
            <a:avLst/>
          </a:prstGeom>
          <a:noFill/>
          <a:ln>
            <a:noFill/>
          </a:ln>
        </p:spPr>
      </p:pic>
      <p:pic>
        <p:nvPicPr>
          <p:cNvPr descr="Server flat icon. Data storage blue icons in trendy flat style. Computer storage gradient style design, designed for web and app. Eps 10. (Provided by Getty Images)" id="294" name="Google Shape;294;p29"/>
          <p:cNvPicPr preferRelativeResize="0"/>
          <p:nvPr/>
        </p:nvPicPr>
        <p:blipFill>
          <a:blip r:embed="rId9">
            <a:alphaModFix/>
          </a:blip>
          <a:stretch>
            <a:fillRect/>
          </a:stretch>
        </p:blipFill>
        <p:spPr>
          <a:xfrm>
            <a:off x="9172513" y="1994100"/>
            <a:ext cx="1467126" cy="1467126"/>
          </a:xfrm>
          <a:prstGeom prst="rect">
            <a:avLst/>
          </a:prstGeom>
          <a:noFill/>
          <a:ln>
            <a:noFill/>
          </a:ln>
        </p:spPr>
      </p:pic>
      <p:sp>
        <p:nvSpPr>
          <p:cNvPr id="295" name="Google Shape;295;p29"/>
          <p:cNvSpPr txBox="1"/>
          <p:nvPr/>
        </p:nvSpPr>
        <p:spPr>
          <a:xfrm>
            <a:off x="926675" y="4144950"/>
            <a:ext cx="2838600" cy="11430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lang="en-US" sz="1350">
                <a:solidFill>
                  <a:schemeClr val="lt1"/>
                </a:solidFill>
                <a:latin typeface="Lato"/>
                <a:ea typeface="Lato"/>
                <a:cs typeface="Lato"/>
                <a:sym typeface="Lato"/>
              </a:rPr>
              <a:t>It proves that local Layer 2 switching, port configuration, and VLAN membership are correct within each department.</a:t>
            </a:r>
            <a:endParaRPr sz="1350">
              <a:solidFill>
                <a:schemeClr val="lt1"/>
              </a:solidFill>
              <a:latin typeface="Lato"/>
              <a:ea typeface="Lato"/>
              <a:cs typeface="Lato"/>
              <a:sym typeface="Lato"/>
            </a:endParaRPr>
          </a:p>
        </p:txBody>
      </p:sp>
      <p:sp>
        <p:nvSpPr>
          <p:cNvPr id="296" name="Google Shape;296;p29"/>
          <p:cNvSpPr txBox="1"/>
          <p:nvPr/>
        </p:nvSpPr>
        <p:spPr>
          <a:xfrm>
            <a:off x="779913" y="1527825"/>
            <a:ext cx="2838600" cy="2079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1" lang="en-US" sz="1350">
                <a:solidFill>
                  <a:srgbClr val="E5E7EB"/>
                </a:solidFill>
                <a:latin typeface="Lato"/>
                <a:ea typeface="Lato"/>
                <a:cs typeface="Lato"/>
                <a:sym typeface="Lato"/>
              </a:rPr>
              <a:t>Local Access (Intra-VLAN)</a:t>
            </a:r>
            <a:endParaRPr b="1"/>
          </a:p>
        </p:txBody>
      </p:sp>
      <p:sp>
        <p:nvSpPr>
          <p:cNvPr id="297" name="Google Shape;297;p29"/>
          <p:cNvSpPr txBox="1"/>
          <p:nvPr/>
        </p:nvSpPr>
        <p:spPr>
          <a:xfrm>
            <a:off x="4676688" y="1457325"/>
            <a:ext cx="2838600" cy="2079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1" lang="en-US" sz="1350">
                <a:solidFill>
                  <a:srgbClr val="E5E7EB"/>
                </a:solidFill>
                <a:latin typeface="Lato"/>
                <a:ea typeface="Lato"/>
                <a:cs typeface="Lato"/>
                <a:sym typeface="Lato"/>
              </a:rPr>
              <a:t>Routed Access (Inter-VLAN)</a:t>
            </a:r>
            <a:endParaRPr b="1"/>
          </a:p>
        </p:txBody>
      </p:sp>
      <p:sp>
        <p:nvSpPr>
          <p:cNvPr id="298" name="Google Shape;298;p29"/>
          <p:cNvSpPr txBox="1"/>
          <p:nvPr/>
        </p:nvSpPr>
        <p:spPr>
          <a:xfrm>
            <a:off x="8486775" y="1457325"/>
            <a:ext cx="2838600" cy="2079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1" lang="en-US" sz="1350">
                <a:solidFill>
                  <a:srgbClr val="E5E7EB"/>
                </a:solidFill>
                <a:latin typeface="Lato"/>
                <a:ea typeface="Lato"/>
                <a:cs typeface="Lato"/>
                <a:sym typeface="Lato"/>
              </a:rPr>
              <a:t>Internet Access</a:t>
            </a:r>
            <a:endParaRPr b="1"/>
          </a:p>
        </p:txBody>
      </p:sp>
      <p:sp>
        <p:nvSpPr>
          <p:cNvPr id="299" name="Google Shape;299;p29"/>
          <p:cNvSpPr txBox="1"/>
          <p:nvPr/>
        </p:nvSpPr>
        <p:spPr>
          <a:xfrm>
            <a:off x="4676700" y="4190150"/>
            <a:ext cx="2838600" cy="11007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lang="en-US" sz="1300">
                <a:solidFill>
                  <a:schemeClr val="lt1"/>
                </a:solidFill>
                <a:latin typeface="Lato"/>
                <a:ea typeface="Lato"/>
                <a:cs typeface="Lato"/>
                <a:sym typeface="Lato"/>
              </a:rPr>
              <a:t>it proves that Layer 3 Inter-VLAN routing is fully operational on the Multilayer Core Switch. Departments can access each other as permitted.</a:t>
            </a:r>
            <a:endParaRPr sz="1300">
              <a:solidFill>
                <a:schemeClr val="lt1"/>
              </a:solidFill>
              <a:latin typeface="Lato"/>
              <a:ea typeface="Lato"/>
              <a:cs typeface="Lato"/>
              <a:sym typeface="Lato"/>
            </a:endParaRPr>
          </a:p>
        </p:txBody>
      </p:sp>
      <p:sp>
        <p:nvSpPr>
          <p:cNvPr id="300" name="Google Shape;300;p29"/>
          <p:cNvSpPr txBox="1"/>
          <p:nvPr/>
        </p:nvSpPr>
        <p:spPr>
          <a:xfrm>
            <a:off x="8486775" y="3525075"/>
            <a:ext cx="2838600" cy="5196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1" lang="en-US" sz="1350">
                <a:solidFill>
                  <a:srgbClr val="E5E7EB"/>
                </a:solidFill>
                <a:latin typeface="Lato"/>
                <a:ea typeface="Lato"/>
                <a:cs typeface="Lato"/>
                <a:sym typeface="Lato"/>
              </a:rPr>
              <a:t>Test </a:t>
            </a:r>
            <a:r>
              <a:rPr lang="en-US" sz="1350">
                <a:solidFill>
                  <a:srgbClr val="E5E7EB"/>
                </a:solidFill>
                <a:latin typeface="Lato"/>
                <a:ea typeface="Lato"/>
                <a:cs typeface="Lato"/>
                <a:sym typeface="Lato"/>
              </a:rPr>
              <a:t>PC</a:t>
            </a:r>
            <a:r>
              <a:rPr lang="en-US" sz="1350">
                <a:solidFill>
                  <a:srgbClr val="E5E7EB"/>
                </a:solidFill>
                <a:latin typeface="Lato"/>
                <a:ea typeface="Lato"/>
                <a:cs typeface="Lato"/>
                <a:sym typeface="Lato"/>
              </a:rPr>
              <a:t>_HR_25  pings Router</a:t>
            </a:r>
            <a:endParaRPr sz="1350">
              <a:solidFill>
                <a:srgbClr val="E5E7EB"/>
              </a:solidFill>
              <a:latin typeface="Lato"/>
              <a:ea typeface="Lato"/>
              <a:cs typeface="Lato"/>
              <a:sym typeface="Lato"/>
            </a:endParaRPr>
          </a:p>
          <a:p>
            <a:pPr indent="0" lvl="0" marL="0" marR="0" rtl="0" algn="ctr">
              <a:lnSpc>
                <a:spcPct val="150000"/>
              </a:lnSpc>
              <a:spcBef>
                <a:spcPts val="0"/>
              </a:spcBef>
              <a:spcAft>
                <a:spcPts val="0"/>
              </a:spcAft>
              <a:buNone/>
            </a:pPr>
            <a:r>
              <a:rPr lang="en-US" sz="1350">
                <a:solidFill>
                  <a:srgbClr val="E5E7EB"/>
                </a:solidFill>
                <a:latin typeface="Lato"/>
                <a:ea typeface="Lato"/>
                <a:cs typeface="Lato"/>
                <a:sym typeface="Lato"/>
              </a:rPr>
              <a:t>= </a:t>
            </a:r>
            <a:r>
              <a:rPr b="1" lang="en-US" sz="1350">
                <a:solidFill>
                  <a:srgbClr val="E5E7EB"/>
                </a:solidFill>
                <a:latin typeface="Lato"/>
                <a:ea typeface="Lato"/>
                <a:cs typeface="Lato"/>
                <a:sym typeface="Lato"/>
              </a:rPr>
              <a:t>0% loss</a:t>
            </a:r>
            <a:endParaRPr sz="1350">
              <a:solidFill>
                <a:srgbClr val="E5E7EB"/>
              </a:solidFill>
              <a:latin typeface="Lato"/>
              <a:ea typeface="Lato"/>
              <a:cs typeface="Lato"/>
              <a:sym typeface="Lato"/>
            </a:endParaRPr>
          </a:p>
        </p:txBody>
      </p:sp>
      <p:sp>
        <p:nvSpPr>
          <p:cNvPr id="301" name="Google Shape;301;p29"/>
          <p:cNvSpPr txBox="1"/>
          <p:nvPr/>
        </p:nvSpPr>
        <p:spPr>
          <a:xfrm>
            <a:off x="8486700" y="4190150"/>
            <a:ext cx="2838600" cy="8004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lang="en-US" sz="1300">
                <a:solidFill>
                  <a:schemeClr val="lt1"/>
                </a:solidFill>
                <a:latin typeface="Lato"/>
                <a:ea typeface="Lato"/>
                <a:cs typeface="Lato"/>
                <a:sym typeface="Lato"/>
              </a:rPr>
              <a:t>Proves the Static Default Route is correctly configured, giving all internal devices a path to the internet.</a:t>
            </a:r>
            <a:endParaRPr sz="1500">
              <a:solidFill>
                <a:schemeClr val="lt1"/>
              </a:solidFill>
              <a:latin typeface="Lato"/>
              <a:ea typeface="Lato"/>
              <a:cs typeface="Lato"/>
              <a:sym typeface="Lato"/>
            </a:endParaRPr>
          </a:p>
        </p:txBody>
      </p:sp>
      <p:sp>
        <p:nvSpPr>
          <p:cNvPr id="302" name="Google Shape;302;p29"/>
          <p:cNvSpPr txBox="1"/>
          <p:nvPr/>
        </p:nvSpPr>
        <p:spPr>
          <a:xfrm>
            <a:off x="571488" y="5719475"/>
            <a:ext cx="11049000" cy="231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1500">
                <a:solidFill>
                  <a:schemeClr val="lt1"/>
                </a:solidFill>
                <a:latin typeface="Lato"/>
                <a:ea typeface="Lato"/>
                <a:cs typeface="Lato"/>
                <a:sym typeface="Lato"/>
              </a:rPr>
              <a:t>Overall Status:</a:t>
            </a:r>
            <a:r>
              <a:rPr lang="en-US" sz="1500">
                <a:solidFill>
                  <a:schemeClr val="lt1"/>
                </a:solidFill>
                <a:latin typeface="Lato"/>
                <a:ea typeface="Lato"/>
                <a:cs typeface="Lato"/>
                <a:sym typeface="Lato"/>
              </a:rPr>
              <a:t> The network is fully converged and 100% reachable, both internally and externally.</a:t>
            </a:r>
            <a:endParaRPr sz="1800">
              <a:solidFill>
                <a:schemeClr val="lt1"/>
              </a:solidFill>
              <a:latin typeface="Lato"/>
              <a:ea typeface="Lato"/>
              <a:cs typeface="Lato"/>
              <a:sym typeface="Lato"/>
            </a:endParaRPr>
          </a:p>
        </p:txBody>
      </p:sp>
      <p:pic>
        <p:nvPicPr>
          <p:cNvPr id="303" name="Google Shape;303;p29"/>
          <p:cNvPicPr preferRelativeResize="0"/>
          <p:nvPr/>
        </p:nvPicPr>
        <p:blipFill rotWithShape="1">
          <a:blip r:embed="rId10">
            <a:alphaModFix/>
          </a:blip>
          <a:srcRect b="11567" l="0" r="0" t="11574"/>
          <a:stretch/>
        </p:blipFill>
        <p:spPr>
          <a:xfrm>
            <a:off x="339825" y="6140525"/>
            <a:ext cx="1214557" cy="466725"/>
          </a:xfrm>
          <a:prstGeom prst="rect">
            <a:avLst/>
          </a:prstGeom>
          <a:noFill/>
          <a:ln>
            <a:noFill/>
          </a:ln>
        </p:spPr>
      </p:pic>
      <p:sp>
        <p:nvSpPr>
          <p:cNvPr id="304" name="Google Shape;304;p29"/>
          <p:cNvSpPr txBox="1"/>
          <p:nvPr/>
        </p:nvSpPr>
        <p:spPr>
          <a:xfrm>
            <a:off x="9717300" y="6451000"/>
            <a:ext cx="1973700" cy="2925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700"/>
              <a:buFont typeface="Arial"/>
              <a:buNone/>
            </a:pPr>
            <a:r>
              <a:rPr b="0" i="0" lang="en-US" sz="700" u="none" cap="none" strike="noStrike">
                <a:solidFill>
                  <a:schemeClr val="lt1"/>
                </a:solidFill>
                <a:latin typeface="Nunito"/>
                <a:ea typeface="Nunito"/>
                <a:cs typeface="Nunito"/>
                <a:sym typeface="Nunito"/>
              </a:rPr>
              <a:t>MO-IT104 Computer Networks</a:t>
            </a:r>
            <a:endParaRPr b="0" i="0" sz="700" u="none" cap="none" strike="noStrike">
              <a:solidFill>
                <a:schemeClr val="lt1"/>
              </a:solidFill>
              <a:latin typeface="Nunito"/>
              <a:ea typeface="Nunito"/>
              <a:cs typeface="Nunito"/>
              <a:sym typeface="Nuni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827"/>
        </a:solidFill>
      </p:bgPr>
    </p:bg>
    <p:spTree>
      <p:nvGrpSpPr>
        <p:cNvPr id="308" name="Shape 308"/>
        <p:cNvGrpSpPr/>
        <p:nvPr/>
      </p:nvGrpSpPr>
      <p:grpSpPr>
        <a:xfrm>
          <a:off x="0" y="0"/>
          <a:ext cx="0" cy="0"/>
          <a:chOff x="0" y="0"/>
          <a:chExt cx="0" cy="0"/>
        </a:xfrm>
      </p:grpSpPr>
      <p:sp>
        <p:nvSpPr>
          <p:cNvPr id="309" name="Google Shape;309;p30"/>
          <p:cNvSpPr txBox="1"/>
          <p:nvPr/>
        </p:nvSpPr>
        <p:spPr>
          <a:xfrm>
            <a:off x="366300" y="339250"/>
            <a:ext cx="114594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000">
                <a:solidFill>
                  <a:srgbClr val="00AEEF"/>
                </a:solidFill>
                <a:latin typeface="Urbanist"/>
                <a:ea typeface="Urbanist"/>
                <a:cs typeface="Urbanist"/>
                <a:sym typeface="Urbanist"/>
              </a:rPr>
              <a:t>Evidence</a:t>
            </a:r>
            <a:r>
              <a:rPr b="1" lang="en-US" sz="3000">
                <a:solidFill>
                  <a:srgbClr val="00AEEF"/>
                </a:solidFill>
                <a:latin typeface="Urbanist"/>
                <a:ea typeface="Urbanist"/>
                <a:cs typeface="Urbanist"/>
                <a:sym typeface="Urbanist"/>
              </a:rPr>
              <a:t>: Local intra-department connectivity</a:t>
            </a:r>
            <a:endParaRPr b="1" sz="3000">
              <a:solidFill>
                <a:srgbClr val="00AEEF"/>
              </a:solidFill>
              <a:latin typeface="Urbanist"/>
              <a:ea typeface="Urbanist"/>
              <a:cs typeface="Urbanist"/>
              <a:sym typeface="Urbanist"/>
            </a:endParaRPr>
          </a:p>
        </p:txBody>
      </p:sp>
      <p:pic>
        <p:nvPicPr>
          <p:cNvPr id="310" name="Google Shape;310;p30"/>
          <p:cNvPicPr preferRelativeResize="0"/>
          <p:nvPr/>
        </p:nvPicPr>
        <p:blipFill>
          <a:blip r:embed="rId3">
            <a:alphaModFix/>
          </a:blip>
          <a:stretch>
            <a:fillRect/>
          </a:stretch>
        </p:blipFill>
        <p:spPr>
          <a:xfrm>
            <a:off x="366300" y="980088"/>
            <a:ext cx="11459400" cy="5538675"/>
          </a:xfrm>
          <a:prstGeom prst="rect">
            <a:avLst/>
          </a:prstGeom>
          <a:noFill/>
          <a:ln>
            <a:noFill/>
          </a:ln>
        </p:spPr>
      </p:pic>
      <p:pic>
        <p:nvPicPr>
          <p:cNvPr id="311" name="Google Shape;311;p30"/>
          <p:cNvPicPr preferRelativeResize="0"/>
          <p:nvPr/>
        </p:nvPicPr>
        <p:blipFill rotWithShape="1">
          <a:blip r:embed="rId4">
            <a:alphaModFix/>
          </a:blip>
          <a:srcRect b="11567" l="0" r="0" t="11574"/>
          <a:stretch/>
        </p:blipFill>
        <p:spPr>
          <a:xfrm>
            <a:off x="1697900" y="6391275"/>
            <a:ext cx="1214557" cy="466725"/>
          </a:xfrm>
          <a:prstGeom prst="rect">
            <a:avLst/>
          </a:prstGeom>
          <a:noFill/>
          <a:ln>
            <a:noFill/>
          </a:ln>
        </p:spPr>
      </p:pic>
      <p:sp>
        <p:nvSpPr>
          <p:cNvPr id="312" name="Google Shape;312;p30"/>
          <p:cNvSpPr txBox="1"/>
          <p:nvPr/>
        </p:nvSpPr>
        <p:spPr>
          <a:xfrm>
            <a:off x="9717300" y="6451000"/>
            <a:ext cx="1973700" cy="2925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700"/>
              <a:buFont typeface="Arial"/>
              <a:buNone/>
            </a:pPr>
            <a:r>
              <a:rPr b="0" i="0" lang="en-US" sz="700" u="none" cap="none" strike="noStrike">
                <a:solidFill>
                  <a:schemeClr val="lt1"/>
                </a:solidFill>
                <a:latin typeface="Nunito"/>
                <a:ea typeface="Nunito"/>
                <a:cs typeface="Nunito"/>
                <a:sym typeface="Nunito"/>
              </a:rPr>
              <a:t>MO-IT104 Computer Networks</a:t>
            </a:r>
            <a:endParaRPr b="0" i="0" sz="700" u="none" cap="none" strike="noStrike">
              <a:solidFill>
                <a:schemeClr val="lt1"/>
              </a:solidFill>
              <a:latin typeface="Nunito"/>
              <a:ea typeface="Nunito"/>
              <a:cs typeface="Nunito"/>
              <a:sym typeface="Nuni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827"/>
        </a:solidFill>
      </p:bgPr>
    </p:bg>
    <p:spTree>
      <p:nvGrpSpPr>
        <p:cNvPr id="316" name="Shape 316"/>
        <p:cNvGrpSpPr/>
        <p:nvPr/>
      </p:nvGrpSpPr>
      <p:grpSpPr>
        <a:xfrm>
          <a:off x="0" y="0"/>
          <a:ext cx="0" cy="0"/>
          <a:chOff x="0" y="0"/>
          <a:chExt cx="0" cy="0"/>
        </a:xfrm>
      </p:grpSpPr>
      <p:pic>
        <p:nvPicPr>
          <p:cNvPr descr="image.png" id="317" name="Google Shape;317;p31"/>
          <p:cNvPicPr preferRelativeResize="0"/>
          <p:nvPr/>
        </p:nvPicPr>
        <p:blipFill rotWithShape="1">
          <a:blip r:embed="rId3">
            <a:alphaModFix/>
          </a:blip>
          <a:srcRect b="0" l="0" r="0" t="0"/>
          <a:stretch/>
        </p:blipFill>
        <p:spPr>
          <a:xfrm>
            <a:off x="-23775" y="-23775"/>
            <a:ext cx="12192000" cy="6858000"/>
          </a:xfrm>
          <a:prstGeom prst="rect">
            <a:avLst/>
          </a:prstGeom>
          <a:noFill/>
          <a:ln>
            <a:noFill/>
          </a:ln>
        </p:spPr>
      </p:pic>
      <p:sp>
        <p:nvSpPr>
          <p:cNvPr id="318" name="Google Shape;318;p31"/>
          <p:cNvSpPr txBox="1"/>
          <p:nvPr/>
        </p:nvSpPr>
        <p:spPr>
          <a:xfrm>
            <a:off x="295200" y="315975"/>
            <a:ext cx="66519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000">
                <a:solidFill>
                  <a:srgbClr val="00AEEF"/>
                </a:solidFill>
                <a:latin typeface="Urbanist"/>
                <a:ea typeface="Urbanist"/>
                <a:cs typeface="Urbanist"/>
                <a:sym typeface="Urbanist"/>
              </a:rPr>
              <a:t>Evidence: Inter-VLAN Connectivity</a:t>
            </a:r>
            <a:endParaRPr/>
          </a:p>
        </p:txBody>
      </p:sp>
      <p:pic>
        <p:nvPicPr>
          <p:cNvPr id="319" name="Google Shape;319;p31"/>
          <p:cNvPicPr preferRelativeResize="0"/>
          <p:nvPr/>
        </p:nvPicPr>
        <p:blipFill>
          <a:blip r:embed="rId4">
            <a:alphaModFix/>
          </a:blip>
          <a:stretch>
            <a:fillRect/>
          </a:stretch>
        </p:blipFill>
        <p:spPr>
          <a:xfrm>
            <a:off x="3934150" y="908450"/>
            <a:ext cx="7987077" cy="5735050"/>
          </a:xfrm>
          <a:prstGeom prst="rect">
            <a:avLst/>
          </a:prstGeom>
          <a:noFill/>
          <a:ln>
            <a:noFill/>
          </a:ln>
        </p:spPr>
      </p:pic>
      <p:sp>
        <p:nvSpPr>
          <p:cNvPr id="320" name="Google Shape;320;p31"/>
          <p:cNvSpPr txBox="1"/>
          <p:nvPr/>
        </p:nvSpPr>
        <p:spPr>
          <a:xfrm>
            <a:off x="295200" y="2415000"/>
            <a:ext cx="3280500" cy="2626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a:solidFill>
                  <a:schemeClr val="lt1"/>
                </a:solidFill>
                <a:latin typeface="Lato"/>
                <a:ea typeface="Lato"/>
                <a:cs typeface="Lato"/>
                <a:sym typeface="Lato"/>
              </a:rPr>
              <a:t>Explanation:</a:t>
            </a:r>
            <a:br>
              <a:rPr b="1" lang="en-US">
                <a:solidFill>
                  <a:schemeClr val="lt1"/>
                </a:solidFill>
                <a:latin typeface="Lato"/>
                <a:ea typeface="Lato"/>
                <a:cs typeface="Lato"/>
                <a:sym typeface="Lato"/>
              </a:rPr>
            </a:br>
            <a:r>
              <a:rPr b="1" lang="en-US">
                <a:solidFill>
                  <a:schemeClr val="lt1"/>
                </a:solidFill>
                <a:latin typeface="Lato"/>
                <a:ea typeface="Lato"/>
                <a:cs typeface="Lato"/>
                <a:sym typeface="Lato"/>
              </a:rPr>
              <a:t> </a:t>
            </a:r>
            <a:r>
              <a:rPr b="1" lang="en-US" sz="1200">
                <a:solidFill>
                  <a:schemeClr val="lt1"/>
                </a:solidFill>
                <a:latin typeface="Lato"/>
                <a:ea typeface="Lato"/>
                <a:cs typeface="Lato"/>
                <a:sym typeface="Lato"/>
              </a:rPr>
              <a:t>A device in Sales (VLAN 100) successfully communicated with a device in HR (VLAN 103).</a:t>
            </a:r>
            <a:br>
              <a:rPr b="1" lang="en-US" sz="1200">
                <a:solidFill>
                  <a:schemeClr val="lt1"/>
                </a:solidFill>
                <a:latin typeface="Lato"/>
                <a:ea typeface="Lato"/>
                <a:cs typeface="Lato"/>
                <a:sym typeface="Lato"/>
              </a:rPr>
            </a:br>
            <a:r>
              <a:rPr b="1" lang="en-US" sz="1200">
                <a:solidFill>
                  <a:schemeClr val="lt1"/>
                </a:solidFill>
                <a:latin typeface="Lato"/>
                <a:ea typeface="Lato"/>
                <a:cs typeface="Lato"/>
                <a:sym typeface="Lato"/>
              </a:rPr>
              <a:t> This verifies:</a:t>
            </a:r>
            <a:endParaRPr b="1" sz="1200">
              <a:solidFill>
                <a:schemeClr val="lt1"/>
              </a:solidFill>
              <a:latin typeface="Lato"/>
              <a:ea typeface="Lato"/>
              <a:cs typeface="Lato"/>
              <a:sym typeface="Lato"/>
            </a:endParaRPr>
          </a:p>
          <a:p>
            <a:pPr indent="-304800" lvl="0" marL="457200" rtl="0" algn="l">
              <a:lnSpc>
                <a:spcPct val="115000"/>
              </a:lnSpc>
              <a:spcBef>
                <a:spcPts val="1200"/>
              </a:spcBef>
              <a:spcAft>
                <a:spcPts val="0"/>
              </a:spcAft>
              <a:buClr>
                <a:schemeClr val="lt1"/>
              </a:buClr>
              <a:buSzPts val="1200"/>
              <a:buFont typeface="Lato"/>
              <a:buChar char="●"/>
            </a:pPr>
            <a:r>
              <a:rPr b="1" lang="en-US" sz="1200">
                <a:solidFill>
                  <a:schemeClr val="lt1"/>
                </a:solidFill>
                <a:latin typeface="Lato"/>
                <a:ea typeface="Lato"/>
                <a:cs typeface="Lato"/>
                <a:sym typeface="Lato"/>
              </a:rPr>
              <a:t>SVIs are configured correctly.</a:t>
            </a:r>
            <a:br>
              <a:rPr b="1" lang="en-US" sz="1200">
                <a:solidFill>
                  <a:schemeClr val="lt1"/>
                </a:solidFill>
                <a:latin typeface="Lato"/>
                <a:ea typeface="Lato"/>
                <a:cs typeface="Lato"/>
                <a:sym typeface="Lato"/>
              </a:rPr>
            </a:br>
            <a:endParaRPr b="1" sz="1200">
              <a:solidFill>
                <a:schemeClr val="lt1"/>
              </a:solidFill>
              <a:latin typeface="Lato"/>
              <a:ea typeface="Lato"/>
              <a:cs typeface="Lato"/>
              <a:sym typeface="Lato"/>
            </a:endParaRPr>
          </a:p>
          <a:p>
            <a:pPr indent="-304800" lvl="0" marL="457200" rtl="0" algn="l">
              <a:lnSpc>
                <a:spcPct val="115000"/>
              </a:lnSpc>
              <a:spcBef>
                <a:spcPts val="0"/>
              </a:spcBef>
              <a:spcAft>
                <a:spcPts val="0"/>
              </a:spcAft>
              <a:buClr>
                <a:schemeClr val="lt1"/>
              </a:buClr>
              <a:buSzPts val="1200"/>
              <a:buChar char="●"/>
            </a:pPr>
            <a:r>
              <a:rPr b="1" lang="en-US" sz="1200">
                <a:solidFill>
                  <a:schemeClr val="lt1"/>
                </a:solidFill>
                <a:latin typeface="Lato"/>
                <a:ea typeface="Lato"/>
                <a:cs typeface="Lato"/>
                <a:sym typeface="Lato"/>
              </a:rPr>
              <a:t>ip routing is enabled on the Core-SW.</a:t>
            </a:r>
            <a:br>
              <a:rPr b="1" lang="en-US" sz="1200">
                <a:solidFill>
                  <a:schemeClr val="lt1"/>
                </a:solidFill>
                <a:latin typeface="Lato"/>
                <a:ea typeface="Lato"/>
                <a:cs typeface="Lato"/>
                <a:sym typeface="Lato"/>
              </a:rPr>
            </a:br>
            <a:endParaRPr b="1" sz="1200">
              <a:solidFill>
                <a:schemeClr val="lt1"/>
              </a:solidFill>
              <a:latin typeface="Lato"/>
              <a:ea typeface="Lato"/>
              <a:cs typeface="Lato"/>
              <a:sym typeface="Lato"/>
            </a:endParaRPr>
          </a:p>
          <a:p>
            <a:pPr indent="-304800" lvl="0" marL="457200" rtl="0" algn="l">
              <a:lnSpc>
                <a:spcPct val="115000"/>
              </a:lnSpc>
              <a:spcBef>
                <a:spcPts val="0"/>
              </a:spcBef>
              <a:spcAft>
                <a:spcPts val="0"/>
              </a:spcAft>
              <a:buClr>
                <a:schemeClr val="lt1"/>
              </a:buClr>
              <a:buSzPts val="1200"/>
              <a:buFont typeface="Lato"/>
              <a:buChar char="●"/>
            </a:pPr>
            <a:r>
              <a:rPr b="1" lang="en-US" sz="1200">
                <a:solidFill>
                  <a:schemeClr val="lt1"/>
                </a:solidFill>
                <a:latin typeface="Lato"/>
                <a:ea typeface="Lato"/>
                <a:cs typeface="Lato"/>
                <a:sym typeface="Lato"/>
              </a:rPr>
              <a:t>VLAN trunk links are working.</a:t>
            </a:r>
            <a:endParaRPr b="1" sz="1200">
              <a:solidFill>
                <a:schemeClr val="lt1"/>
              </a:solidFill>
              <a:latin typeface="Lato"/>
              <a:ea typeface="Lato"/>
              <a:cs typeface="Lato"/>
              <a:sym typeface="Lato"/>
            </a:endParaRPr>
          </a:p>
          <a:p>
            <a:pPr indent="0" lvl="0" marL="0" rtl="0" algn="l">
              <a:spcBef>
                <a:spcPts val="1200"/>
              </a:spcBef>
              <a:spcAft>
                <a:spcPts val="0"/>
              </a:spcAft>
              <a:buNone/>
            </a:pPr>
            <a:r>
              <a:t/>
            </a:r>
            <a:endParaRPr sz="3200">
              <a:solidFill>
                <a:schemeClr val="dk1"/>
              </a:solidFill>
              <a:latin typeface="Calibri"/>
              <a:ea typeface="Calibri"/>
              <a:cs typeface="Calibri"/>
              <a:sym typeface="Calibri"/>
            </a:endParaRPr>
          </a:p>
        </p:txBody>
      </p:sp>
      <p:pic>
        <p:nvPicPr>
          <p:cNvPr id="321" name="Google Shape;321;p31"/>
          <p:cNvPicPr preferRelativeResize="0"/>
          <p:nvPr/>
        </p:nvPicPr>
        <p:blipFill rotWithShape="1">
          <a:blip r:embed="rId5">
            <a:alphaModFix/>
          </a:blip>
          <a:srcRect b="11567" l="0" r="0" t="11574"/>
          <a:stretch/>
        </p:blipFill>
        <p:spPr>
          <a:xfrm>
            <a:off x="339825" y="6140525"/>
            <a:ext cx="1214557" cy="466725"/>
          </a:xfrm>
          <a:prstGeom prst="rect">
            <a:avLst/>
          </a:prstGeom>
          <a:noFill/>
          <a:ln>
            <a:noFill/>
          </a:ln>
        </p:spPr>
      </p:pic>
      <p:sp>
        <p:nvSpPr>
          <p:cNvPr id="322" name="Google Shape;322;p31"/>
          <p:cNvSpPr txBox="1"/>
          <p:nvPr/>
        </p:nvSpPr>
        <p:spPr>
          <a:xfrm>
            <a:off x="9717300" y="6451000"/>
            <a:ext cx="1973700" cy="2925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700"/>
              <a:buFont typeface="Arial"/>
              <a:buNone/>
            </a:pPr>
            <a:r>
              <a:rPr b="0" i="0" lang="en-US" sz="700" u="none" cap="none" strike="noStrike">
                <a:solidFill>
                  <a:schemeClr val="lt1"/>
                </a:solidFill>
                <a:latin typeface="Nunito"/>
                <a:ea typeface="Nunito"/>
                <a:cs typeface="Nunito"/>
                <a:sym typeface="Nunito"/>
              </a:rPr>
              <a:t>MO-IT104 Computer Networks</a:t>
            </a:r>
            <a:endParaRPr b="0" i="0" sz="700" u="none" cap="none" strike="noStrike">
              <a:solidFill>
                <a:schemeClr val="lt1"/>
              </a:solidFill>
              <a:latin typeface="Nunito"/>
              <a:ea typeface="Nunito"/>
              <a:cs typeface="Nunito"/>
              <a:sym typeface="Nuni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827"/>
        </a:solidFill>
      </p:bgPr>
    </p:bg>
    <p:spTree>
      <p:nvGrpSpPr>
        <p:cNvPr id="326" name="Shape 326"/>
        <p:cNvGrpSpPr/>
        <p:nvPr/>
      </p:nvGrpSpPr>
      <p:grpSpPr>
        <a:xfrm>
          <a:off x="0" y="0"/>
          <a:ext cx="0" cy="0"/>
          <a:chOff x="0" y="0"/>
          <a:chExt cx="0" cy="0"/>
        </a:xfrm>
      </p:grpSpPr>
      <p:sp>
        <p:nvSpPr>
          <p:cNvPr id="327" name="Google Shape;327;p32"/>
          <p:cNvSpPr txBox="1"/>
          <p:nvPr/>
        </p:nvSpPr>
        <p:spPr>
          <a:xfrm>
            <a:off x="232750" y="541775"/>
            <a:ext cx="75168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000">
                <a:solidFill>
                  <a:srgbClr val="00AEEF"/>
                </a:solidFill>
                <a:latin typeface="Urbanist"/>
                <a:ea typeface="Urbanist"/>
                <a:cs typeface="Urbanist"/>
                <a:sym typeface="Urbanist"/>
              </a:rPr>
              <a:t>Evidence: External Network Reachability</a:t>
            </a:r>
            <a:endParaRPr/>
          </a:p>
        </p:txBody>
      </p:sp>
      <p:pic>
        <p:nvPicPr>
          <p:cNvPr id="328" name="Google Shape;328;p32"/>
          <p:cNvPicPr preferRelativeResize="0"/>
          <p:nvPr/>
        </p:nvPicPr>
        <p:blipFill>
          <a:blip r:embed="rId3">
            <a:alphaModFix/>
          </a:blip>
          <a:stretch>
            <a:fillRect/>
          </a:stretch>
        </p:blipFill>
        <p:spPr>
          <a:xfrm>
            <a:off x="3595400" y="1343075"/>
            <a:ext cx="8236724" cy="5195900"/>
          </a:xfrm>
          <a:prstGeom prst="rect">
            <a:avLst/>
          </a:prstGeom>
          <a:noFill/>
          <a:ln>
            <a:noFill/>
          </a:ln>
        </p:spPr>
      </p:pic>
      <p:sp>
        <p:nvSpPr>
          <p:cNvPr id="329" name="Google Shape;329;p32"/>
          <p:cNvSpPr txBox="1"/>
          <p:nvPr/>
        </p:nvSpPr>
        <p:spPr>
          <a:xfrm>
            <a:off x="112900" y="2345875"/>
            <a:ext cx="3137700" cy="2344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a:solidFill>
                  <a:schemeClr val="lt1"/>
                </a:solidFill>
                <a:latin typeface="Lato"/>
                <a:ea typeface="Lato"/>
                <a:cs typeface="Lato"/>
                <a:sym typeface="Lato"/>
              </a:rPr>
              <a:t>Explanation:</a:t>
            </a:r>
            <a:br>
              <a:rPr b="1" lang="en-US">
                <a:solidFill>
                  <a:schemeClr val="lt1"/>
                </a:solidFill>
                <a:latin typeface="Lato"/>
                <a:ea typeface="Lato"/>
                <a:cs typeface="Lato"/>
                <a:sym typeface="Lato"/>
              </a:rPr>
            </a:br>
            <a:r>
              <a:rPr b="1" lang="en-US" sz="1200">
                <a:solidFill>
                  <a:schemeClr val="lt1"/>
                </a:solidFill>
                <a:latin typeface="Lato"/>
                <a:ea typeface="Lato"/>
                <a:cs typeface="Lato"/>
                <a:sym typeface="Lato"/>
              </a:rPr>
              <a:t> Traffic from internal VLANs is successfully routed through the Core-SW to the edge router (R1).</a:t>
            </a:r>
            <a:br>
              <a:rPr b="1" lang="en-US" sz="1200">
                <a:solidFill>
                  <a:schemeClr val="lt1"/>
                </a:solidFill>
                <a:latin typeface="Lato"/>
                <a:ea typeface="Lato"/>
                <a:cs typeface="Lato"/>
                <a:sym typeface="Lato"/>
              </a:rPr>
            </a:br>
            <a:r>
              <a:rPr b="1" lang="en-US" sz="1200">
                <a:solidFill>
                  <a:schemeClr val="lt1"/>
                </a:solidFill>
                <a:latin typeface="Lato"/>
                <a:ea typeface="Lato"/>
                <a:cs typeface="Lato"/>
                <a:sym typeface="Lato"/>
              </a:rPr>
              <a:t> This confirms:</a:t>
            </a:r>
            <a:endParaRPr b="1" sz="1200">
              <a:solidFill>
                <a:schemeClr val="lt1"/>
              </a:solidFill>
              <a:latin typeface="Lato"/>
              <a:ea typeface="Lato"/>
              <a:cs typeface="Lato"/>
              <a:sym typeface="Lato"/>
            </a:endParaRPr>
          </a:p>
          <a:p>
            <a:pPr indent="-304800" lvl="0" marL="457200" rtl="0" algn="l">
              <a:lnSpc>
                <a:spcPct val="115000"/>
              </a:lnSpc>
              <a:spcBef>
                <a:spcPts val="1200"/>
              </a:spcBef>
              <a:spcAft>
                <a:spcPts val="0"/>
              </a:spcAft>
              <a:buClr>
                <a:schemeClr val="lt1"/>
              </a:buClr>
              <a:buSzPts val="1200"/>
              <a:buFont typeface="Lato"/>
              <a:buChar char="●"/>
            </a:pPr>
            <a:r>
              <a:rPr b="1" lang="en-US" sz="1200">
                <a:solidFill>
                  <a:schemeClr val="lt1"/>
                </a:solidFill>
                <a:latin typeface="Lato"/>
                <a:ea typeface="Lato"/>
                <a:cs typeface="Lato"/>
                <a:sym typeface="Lato"/>
              </a:rPr>
              <a:t>Routing path is valid</a:t>
            </a:r>
            <a:br>
              <a:rPr b="1" lang="en-US" sz="1200">
                <a:solidFill>
                  <a:schemeClr val="lt1"/>
                </a:solidFill>
                <a:latin typeface="Lato"/>
                <a:ea typeface="Lato"/>
                <a:cs typeface="Lato"/>
                <a:sym typeface="Lato"/>
              </a:rPr>
            </a:br>
            <a:endParaRPr b="1" sz="1200">
              <a:solidFill>
                <a:schemeClr val="lt1"/>
              </a:solidFill>
              <a:latin typeface="Lato"/>
              <a:ea typeface="Lato"/>
              <a:cs typeface="Lato"/>
              <a:sym typeface="Lato"/>
            </a:endParaRPr>
          </a:p>
          <a:p>
            <a:pPr indent="-304800" lvl="0" marL="457200" rtl="0" algn="l">
              <a:lnSpc>
                <a:spcPct val="115000"/>
              </a:lnSpc>
              <a:spcBef>
                <a:spcPts val="0"/>
              </a:spcBef>
              <a:spcAft>
                <a:spcPts val="0"/>
              </a:spcAft>
              <a:buClr>
                <a:schemeClr val="lt1"/>
              </a:buClr>
              <a:buSzPts val="1200"/>
              <a:buFont typeface="Lato"/>
              <a:buChar char="●"/>
            </a:pPr>
            <a:r>
              <a:rPr b="1" lang="en-US" sz="1200">
                <a:solidFill>
                  <a:schemeClr val="lt1"/>
                </a:solidFill>
                <a:latin typeface="Lato"/>
                <a:ea typeface="Lato"/>
                <a:cs typeface="Lato"/>
                <a:sym typeface="Lato"/>
              </a:rPr>
              <a:t>Default route is configured correctly</a:t>
            </a:r>
            <a:endParaRPr b="1" sz="1200">
              <a:solidFill>
                <a:schemeClr val="lt1"/>
              </a:solidFill>
              <a:latin typeface="Lato"/>
              <a:ea typeface="Lato"/>
              <a:cs typeface="Lato"/>
              <a:sym typeface="Lato"/>
            </a:endParaRPr>
          </a:p>
          <a:p>
            <a:pPr indent="0" lvl="0" marL="0" rtl="0" algn="l">
              <a:spcBef>
                <a:spcPts val="1200"/>
              </a:spcBef>
              <a:spcAft>
                <a:spcPts val="0"/>
              </a:spcAft>
              <a:buNone/>
            </a:pPr>
            <a:r>
              <a:t/>
            </a:r>
            <a:endParaRPr b="1" sz="3200">
              <a:solidFill>
                <a:schemeClr val="lt1"/>
              </a:solidFill>
              <a:latin typeface="Lato"/>
              <a:ea typeface="Lato"/>
              <a:cs typeface="Lato"/>
              <a:sym typeface="Lato"/>
            </a:endParaRPr>
          </a:p>
        </p:txBody>
      </p:sp>
      <p:pic>
        <p:nvPicPr>
          <p:cNvPr id="330" name="Google Shape;330;p32"/>
          <p:cNvPicPr preferRelativeResize="0"/>
          <p:nvPr/>
        </p:nvPicPr>
        <p:blipFill rotWithShape="1">
          <a:blip r:embed="rId4">
            <a:alphaModFix/>
          </a:blip>
          <a:srcRect b="11567" l="0" r="0" t="11574"/>
          <a:stretch/>
        </p:blipFill>
        <p:spPr>
          <a:xfrm>
            <a:off x="339825" y="6140525"/>
            <a:ext cx="1214557" cy="466725"/>
          </a:xfrm>
          <a:prstGeom prst="rect">
            <a:avLst/>
          </a:prstGeom>
          <a:noFill/>
          <a:ln>
            <a:noFill/>
          </a:ln>
        </p:spPr>
      </p:pic>
      <p:sp>
        <p:nvSpPr>
          <p:cNvPr id="331" name="Google Shape;331;p32"/>
          <p:cNvSpPr txBox="1"/>
          <p:nvPr/>
        </p:nvSpPr>
        <p:spPr>
          <a:xfrm>
            <a:off x="9717300" y="6451000"/>
            <a:ext cx="1973700" cy="2925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700"/>
              <a:buFont typeface="Arial"/>
              <a:buNone/>
            </a:pPr>
            <a:r>
              <a:rPr b="0" i="0" lang="en-US" sz="700" u="none" cap="none" strike="noStrike">
                <a:solidFill>
                  <a:schemeClr val="lt1"/>
                </a:solidFill>
                <a:latin typeface="Nunito"/>
                <a:ea typeface="Nunito"/>
                <a:cs typeface="Nunito"/>
                <a:sym typeface="Nunito"/>
              </a:rPr>
              <a:t>MO-IT104 Computer Networks</a:t>
            </a:r>
            <a:endParaRPr b="0" i="0" sz="700" u="none" cap="none" strike="noStrike">
              <a:solidFill>
                <a:schemeClr val="lt1"/>
              </a:solidFill>
              <a:latin typeface="Nunito"/>
              <a:ea typeface="Nunito"/>
              <a:cs typeface="Nunito"/>
              <a:sym typeface="Nuni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827"/>
        </a:solidFill>
      </p:bgPr>
    </p:bg>
    <p:spTree>
      <p:nvGrpSpPr>
        <p:cNvPr id="335" name="Shape 335"/>
        <p:cNvGrpSpPr/>
        <p:nvPr/>
      </p:nvGrpSpPr>
      <p:grpSpPr>
        <a:xfrm>
          <a:off x="0" y="0"/>
          <a:ext cx="0" cy="0"/>
          <a:chOff x="0" y="0"/>
          <a:chExt cx="0" cy="0"/>
        </a:xfrm>
      </p:grpSpPr>
      <p:pic>
        <p:nvPicPr>
          <p:cNvPr descr="image.png" id="336" name="Google Shape;336;p33"/>
          <p:cNvPicPr preferRelativeResize="0"/>
          <p:nvPr/>
        </p:nvPicPr>
        <p:blipFill rotWithShape="1">
          <a:blip r:embed="rId3">
            <a:alphaModFix/>
          </a:blip>
          <a:srcRect b="0" l="0" r="0" t="0"/>
          <a:stretch/>
        </p:blipFill>
        <p:spPr>
          <a:xfrm>
            <a:off x="-18825" y="0"/>
            <a:ext cx="12192000" cy="6858000"/>
          </a:xfrm>
          <a:prstGeom prst="rect">
            <a:avLst/>
          </a:prstGeom>
          <a:noFill/>
          <a:ln>
            <a:noFill/>
          </a:ln>
        </p:spPr>
      </p:pic>
      <p:sp>
        <p:nvSpPr>
          <p:cNvPr id="337" name="Google Shape;337;p33"/>
          <p:cNvSpPr txBox="1"/>
          <p:nvPr/>
        </p:nvSpPr>
        <p:spPr>
          <a:xfrm>
            <a:off x="309075" y="571500"/>
            <a:ext cx="118641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000">
                <a:solidFill>
                  <a:srgbClr val="00AEEF"/>
                </a:solidFill>
                <a:latin typeface="Urbanist"/>
                <a:ea typeface="Urbanist"/>
                <a:cs typeface="Urbanist"/>
                <a:sym typeface="Urbanist"/>
              </a:rPr>
              <a:t>Additional Evidence: DHCP Working</a:t>
            </a:r>
            <a:endParaRPr/>
          </a:p>
        </p:txBody>
      </p:sp>
      <p:pic>
        <p:nvPicPr>
          <p:cNvPr id="338" name="Google Shape;338;p33"/>
          <p:cNvPicPr preferRelativeResize="0"/>
          <p:nvPr/>
        </p:nvPicPr>
        <p:blipFill>
          <a:blip r:embed="rId4">
            <a:alphaModFix/>
          </a:blip>
          <a:stretch>
            <a:fillRect/>
          </a:stretch>
        </p:blipFill>
        <p:spPr>
          <a:xfrm>
            <a:off x="3856900" y="1319300"/>
            <a:ext cx="8004951" cy="5194024"/>
          </a:xfrm>
          <a:prstGeom prst="rect">
            <a:avLst/>
          </a:prstGeom>
          <a:noFill/>
          <a:ln>
            <a:noFill/>
          </a:ln>
        </p:spPr>
      </p:pic>
      <p:sp>
        <p:nvSpPr>
          <p:cNvPr id="339" name="Google Shape;339;p33"/>
          <p:cNvSpPr txBox="1"/>
          <p:nvPr/>
        </p:nvSpPr>
        <p:spPr>
          <a:xfrm>
            <a:off x="309075" y="1809600"/>
            <a:ext cx="3387600" cy="3238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sz="1600">
                <a:solidFill>
                  <a:schemeClr val="lt1"/>
                </a:solidFill>
                <a:latin typeface="Lato"/>
                <a:ea typeface="Lato"/>
                <a:cs typeface="Lato"/>
                <a:sym typeface="Lato"/>
              </a:rPr>
              <a:t>Explanation:</a:t>
            </a:r>
            <a:br>
              <a:rPr b="1" lang="en-US">
                <a:solidFill>
                  <a:schemeClr val="lt1"/>
                </a:solidFill>
                <a:latin typeface="Lato"/>
                <a:ea typeface="Lato"/>
                <a:cs typeface="Lato"/>
                <a:sym typeface="Lato"/>
              </a:rPr>
            </a:br>
            <a:r>
              <a:rPr b="1" lang="en-US" sz="1300">
                <a:solidFill>
                  <a:schemeClr val="lt1"/>
                </a:solidFill>
                <a:latin typeface="Lato"/>
                <a:ea typeface="Lato"/>
                <a:cs typeface="Lato"/>
                <a:sym typeface="Lato"/>
              </a:rPr>
              <a:t>Each VLAN receives IP addressing dynamically from the Core-SW DHCP service, confirming:</a:t>
            </a:r>
            <a:endParaRPr b="1" sz="1300">
              <a:solidFill>
                <a:schemeClr val="lt1"/>
              </a:solidFill>
              <a:latin typeface="Lato"/>
              <a:ea typeface="Lato"/>
              <a:cs typeface="Lato"/>
              <a:sym typeface="Lato"/>
            </a:endParaRPr>
          </a:p>
          <a:p>
            <a:pPr indent="-317500" lvl="0" marL="457200" rtl="0" algn="l">
              <a:lnSpc>
                <a:spcPct val="115000"/>
              </a:lnSpc>
              <a:spcBef>
                <a:spcPts val="1200"/>
              </a:spcBef>
              <a:spcAft>
                <a:spcPts val="0"/>
              </a:spcAft>
              <a:buClr>
                <a:schemeClr val="lt1"/>
              </a:buClr>
              <a:buSzPts val="1400"/>
              <a:buFont typeface="Lato"/>
              <a:buChar char="●"/>
            </a:pPr>
            <a:r>
              <a:rPr b="1" lang="en-US">
                <a:solidFill>
                  <a:schemeClr val="lt1"/>
                </a:solidFill>
                <a:latin typeface="Lato"/>
                <a:ea typeface="Lato"/>
                <a:cs typeface="Lato"/>
                <a:sym typeface="Lato"/>
              </a:rPr>
              <a:t>The VLAN exists on the Access-SW</a:t>
            </a:r>
            <a:br>
              <a:rPr b="1" lang="en-US">
                <a:solidFill>
                  <a:schemeClr val="lt1"/>
                </a:solidFill>
                <a:latin typeface="Lato"/>
                <a:ea typeface="Lato"/>
                <a:cs typeface="Lato"/>
                <a:sym typeface="Lato"/>
              </a:rPr>
            </a:br>
            <a:endParaRPr b="1">
              <a:solidFill>
                <a:schemeClr val="lt1"/>
              </a:solidFill>
              <a:latin typeface="Lato"/>
              <a:ea typeface="Lato"/>
              <a:cs typeface="Lato"/>
              <a:sym typeface="Lato"/>
            </a:endParaRPr>
          </a:p>
          <a:p>
            <a:pPr indent="-317500" lvl="0" marL="457200" rtl="0" algn="l">
              <a:lnSpc>
                <a:spcPct val="115000"/>
              </a:lnSpc>
              <a:spcBef>
                <a:spcPts val="0"/>
              </a:spcBef>
              <a:spcAft>
                <a:spcPts val="0"/>
              </a:spcAft>
              <a:buClr>
                <a:schemeClr val="lt1"/>
              </a:buClr>
              <a:buSzPts val="1400"/>
              <a:buFont typeface="Lato"/>
              <a:buChar char="●"/>
            </a:pPr>
            <a:r>
              <a:rPr b="1" lang="en-US">
                <a:solidFill>
                  <a:schemeClr val="lt1"/>
                </a:solidFill>
                <a:latin typeface="Lato"/>
                <a:ea typeface="Lato"/>
                <a:cs typeface="Lato"/>
                <a:sym typeface="Lato"/>
              </a:rPr>
              <a:t>The Trunk is passing the VLAN to the Core-SW</a:t>
            </a:r>
            <a:br>
              <a:rPr b="1" lang="en-US">
                <a:solidFill>
                  <a:schemeClr val="lt1"/>
                </a:solidFill>
                <a:latin typeface="Lato"/>
                <a:ea typeface="Lato"/>
                <a:cs typeface="Lato"/>
                <a:sym typeface="Lato"/>
              </a:rPr>
            </a:br>
            <a:endParaRPr b="1">
              <a:solidFill>
                <a:schemeClr val="lt1"/>
              </a:solidFill>
              <a:latin typeface="Lato"/>
              <a:ea typeface="Lato"/>
              <a:cs typeface="Lato"/>
              <a:sym typeface="Lato"/>
            </a:endParaRPr>
          </a:p>
          <a:p>
            <a:pPr indent="-317500" lvl="0" marL="457200" rtl="0" algn="l">
              <a:lnSpc>
                <a:spcPct val="115000"/>
              </a:lnSpc>
              <a:spcBef>
                <a:spcPts val="0"/>
              </a:spcBef>
              <a:spcAft>
                <a:spcPts val="0"/>
              </a:spcAft>
              <a:buClr>
                <a:schemeClr val="lt1"/>
              </a:buClr>
              <a:buSzPts val="1400"/>
              <a:buFont typeface="Lato"/>
              <a:buChar char="●"/>
            </a:pPr>
            <a:r>
              <a:rPr b="1" lang="en-US">
                <a:solidFill>
                  <a:schemeClr val="lt1"/>
                </a:solidFill>
                <a:latin typeface="Lato"/>
                <a:ea typeface="Lato"/>
                <a:cs typeface="Lato"/>
                <a:sym typeface="Lato"/>
              </a:rPr>
              <a:t>The correct DHCP pool is applied</a:t>
            </a:r>
            <a:endParaRPr b="1">
              <a:solidFill>
                <a:schemeClr val="lt1"/>
              </a:solidFill>
              <a:latin typeface="Lato"/>
              <a:ea typeface="Lato"/>
              <a:cs typeface="Lato"/>
              <a:sym typeface="Lato"/>
            </a:endParaRPr>
          </a:p>
          <a:p>
            <a:pPr indent="0" lvl="0" marL="0" rtl="0" algn="l">
              <a:spcBef>
                <a:spcPts val="1200"/>
              </a:spcBef>
              <a:spcAft>
                <a:spcPts val="0"/>
              </a:spcAft>
              <a:buNone/>
            </a:pPr>
            <a:r>
              <a:t/>
            </a:r>
            <a:endParaRPr sz="3200">
              <a:solidFill>
                <a:schemeClr val="dk1"/>
              </a:solidFill>
              <a:latin typeface="Calibri"/>
              <a:ea typeface="Calibri"/>
              <a:cs typeface="Calibri"/>
              <a:sym typeface="Calibri"/>
            </a:endParaRPr>
          </a:p>
        </p:txBody>
      </p:sp>
      <p:pic>
        <p:nvPicPr>
          <p:cNvPr id="340" name="Google Shape;340;p33"/>
          <p:cNvPicPr preferRelativeResize="0"/>
          <p:nvPr/>
        </p:nvPicPr>
        <p:blipFill rotWithShape="1">
          <a:blip r:embed="rId5">
            <a:alphaModFix/>
          </a:blip>
          <a:srcRect b="11567" l="0" r="0" t="11574"/>
          <a:stretch/>
        </p:blipFill>
        <p:spPr>
          <a:xfrm>
            <a:off x="339825" y="6140525"/>
            <a:ext cx="1214557" cy="4667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44" name="Shape 344"/>
        <p:cNvGrpSpPr/>
        <p:nvPr/>
      </p:nvGrpSpPr>
      <p:grpSpPr>
        <a:xfrm>
          <a:off x="0" y="0"/>
          <a:ext cx="0" cy="0"/>
          <a:chOff x="0" y="0"/>
          <a:chExt cx="0" cy="0"/>
        </a:xfrm>
      </p:grpSpPr>
      <p:sp>
        <p:nvSpPr>
          <p:cNvPr id="345" name="Google Shape;345;p34"/>
          <p:cNvSpPr txBox="1"/>
          <p:nvPr/>
        </p:nvSpPr>
        <p:spPr>
          <a:xfrm>
            <a:off x="1325252" y="2620950"/>
            <a:ext cx="9541500" cy="1616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5250">
                <a:solidFill>
                  <a:srgbClr val="FFFFFF"/>
                </a:solidFill>
                <a:latin typeface="Urbanist"/>
                <a:ea typeface="Urbanist"/>
                <a:cs typeface="Urbanist"/>
                <a:sym typeface="Urbanist"/>
              </a:rPr>
              <a:t>Lessons Learned &amp; Mitigation: VLAN Setup</a:t>
            </a:r>
            <a:endParaRPr/>
          </a:p>
        </p:txBody>
      </p:sp>
      <p:pic>
        <p:nvPicPr>
          <p:cNvPr id="346" name="Google Shape;346;p34"/>
          <p:cNvPicPr preferRelativeResize="0"/>
          <p:nvPr/>
        </p:nvPicPr>
        <p:blipFill rotWithShape="1">
          <a:blip r:embed="rId4">
            <a:alphaModFix/>
          </a:blip>
          <a:srcRect b="11567" l="0" r="0" t="11574"/>
          <a:stretch/>
        </p:blipFill>
        <p:spPr>
          <a:xfrm>
            <a:off x="339825" y="6140525"/>
            <a:ext cx="1214557" cy="466725"/>
          </a:xfrm>
          <a:prstGeom prst="rect">
            <a:avLst/>
          </a:prstGeom>
          <a:noFill/>
          <a:ln>
            <a:noFill/>
          </a:ln>
        </p:spPr>
      </p:pic>
      <p:sp>
        <p:nvSpPr>
          <p:cNvPr id="347" name="Google Shape;347;p34"/>
          <p:cNvSpPr txBox="1"/>
          <p:nvPr/>
        </p:nvSpPr>
        <p:spPr>
          <a:xfrm>
            <a:off x="9717300" y="6451000"/>
            <a:ext cx="1973700" cy="2925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700"/>
              <a:buFont typeface="Arial"/>
              <a:buNone/>
            </a:pPr>
            <a:r>
              <a:rPr b="0" i="0" lang="en-US" sz="700" u="none" cap="none" strike="noStrike">
                <a:solidFill>
                  <a:schemeClr val="lt1"/>
                </a:solidFill>
                <a:latin typeface="Nunito"/>
                <a:ea typeface="Nunito"/>
                <a:cs typeface="Nunito"/>
                <a:sym typeface="Nunito"/>
              </a:rPr>
              <a:t>MO-IT104 Computer Networks</a:t>
            </a:r>
            <a:endParaRPr b="0" i="0" sz="700" u="none" cap="none" strike="noStrike">
              <a:solidFill>
                <a:schemeClr val="lt1"/>
              </a:solidFill>
              <a:latin typeface="Nunito"/>
              <a:ea typeface="Nunito"/>
              <a:cs typeface="Nunito"/>
              <a:sym typeface="Nuni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827"/>
        </a:solidFill>
      </p:bgPr>
    </p:bg>
    <p:spTree>
      <p:nvGrpSpPr>
        <p:cNvPr id="351" name="Shape 351"/>
        <p:cNvGrpSpPr/>
        <p:nvPr/>
      </p:nvGrpSpPr>
      <p:grpSpPr>
        <a:xfrm>
          <a:off x="0" y="0"/>
          <a:ext cx="0" cy="0"/>
          <a:chOff x="0" y="0"/>
          <a:chExt cx="0" cy="0"/>
        </a:xfrm>
      </p:grpSpPr>
      <p:sp>
        <p:nvSpPr>
          <p:cNvPr id="352" name="Google Shape;352;p35"/>
          <p:cNvSpPr txBox="1"/>
          <p:nvPr/>
        </p:nvSpPr>
        <p:spPr>
          <a:xfrm>
            <a:off x="1936500" y="1048250"/>
            <a:ext cx="83190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000">
                <a:solidFill>
                  <a:srgbClr val="00AEEF"/>
                </a:solidFill>
                <a:latin typeface="Urbanist"/>
                <a:ea typeface="Urbanist"/>
                <a:cs typeface="Urbanist"/>
                <a:sym typeface="Urbanist"/>
              </a:rPr>
              <a:t>Risk Mitigation / Troubleshooting Summary</a:t>
            </a:r>
            <a:endParaRPr/>
          </a:p>
        </p:txBody>
      </p:sp>
      <p:graphicFrame>
        <p:nvGraphicFramePr>
          <p:cNvPr id="353" name="Google Shape;353;p35"/>
          <p:cNvGraphicFramePr/>
          <p:nvPr/>
        </p:nvGraphicFramePr>
        <p:xfrm>
          <a:off x="952500" y="2113975"/>
          <a:ext cx="3000000" cy="3000000"/>
        </p:xfrm>
        <a:graphic>
          <a:graphicData uri="http://schemas.openxmlformats.org/drawingml/2006/table">
            <a:tbl>
              <a:tblPr>
                <a:noFill/>
                <a:tableStyleId>{2D9941DB-C5CA-4354-9814-030D0BF2D622}</a:tableStyleId>
              </a:tblPr>
              <a:tblGrid>
                <a:gridCol w="2571750"/>
                <a:gridCol w="2571750"/>
                <a:gridCol w="2571750"/>
                <a:gridCol w="2571750"/>
              </a:tblGrid>
              <a:tr h="381000">
                <a:tc>
                  <a:txBody>
                    <a:bodyPr/>
                    <a:lstStyle/>
                    <a:p>
                      <a:pPr indent="0" lvl="0" marL="0" rtl="0" algn="ctr">
                        <a:lnSpc>
                          <a:spcPct val="115000"/>
                        </a:lnSpc>
                        <a:spcBef>
                          <a:spcPts val="0"/>
                        </a:spcBef>
                        <a:spcAft>
                          <a:spcPts val="0"/>
                        </a:spcAft>
                        <a:buNone/>
                      </a:pPr>
                      <a:r>
                        <a:rPr b="1" lang="en-US">
                          <a:solidFill>
                            <a:schemeClr val="lt1"/>
                          </a:solidFill>
                          <a:latin typeface="Lato"/>
                          <a:ea typeface="Lato"/>
                          <a:cs typeface="Lato"/>
                          <a:sym typeface="Lato"/>
                        </a:rPr>
                        <a:t>Issue</a:t>
                      </a:r>
                      <a:endParaRPr b="1">
                        <a:solidFill>
                          <a:schemeClr val="lt1"/>
                        </a:solidFill>
                        <a:latin typeface="Lato"/>
                        <a:ea typeface="Lato"/>
                        <a:cs typeface="Lato"/>
                        <a:sym typeface="Lato"/>
                      </a:endParaRPr>
                    </a:p>
                  </a:txBody>
                  <a:tcPr marT="91425" marB="91425" marR="91425" marL="91425">
                    <a:noFill/>
                  </a:tcPr>
                </a:tc>
                <a:tc>
                  <a:txBody>
                    <a:bodyPr/>
                    <a:lstStyle/>
                    <a:p>
                      <a:pPr indent="0" lvl="0" marL="0" rtl="0" algn="ctr">
                        <a:lnSpc>
                          <a:spcPct val="115000"/>
                        </a:lnSpc>
                        <a:spcBef>
                          <a:spcPts val="0"/>
                        </a:spcBef>
                        <a:spcAft>
                          <a:spcPts val="0"/>
                        </a:spcAft>
                        <a:buNone/>
                      </a:pPr>
                      <a:r>
                        <a:rPr b="1" lang="en-US">
                          <a:solidFill>
                            <a:schemeClr val="lt1"/>
                          </a:solidFill>
                          <a:latin typeface="Lato"/>
                          <a:ea typeface="Lato"/>
                          <a:cs typeface="Lato"/>
                          <a:sym typeface="Lato"/>
                        </a:rPr>
                        <a:t>Cause</a:t>
                      </a:r>
                      <a:endParaRPr b="1">
                        <a:solidFill>
                          <a:schemeClr val="lt1"/>
                        </a:solidFill>
                        <a:latin typeface="Lato"/>
                        <a:ea typeface="Lato"/>
                        <a:cs typeface="Lato"/>
                        <a:sym typeface="Lato"/>
                      </a:endParaRPr>
                    </a:p>
                  </a:txBody>
                  <a:tcPr marT="91425" marB="91425" marR="91425" marL="91425">
                    <a:noFill/>
                  </a:tcPr>
                </a:tc>
                <a:tc>
                  <a:txBody>
                    <a:bodyPr/>
                    <a:lstStyle/>
                    <a:p>
                      <a:pPr indent="0" lvl="0" marL="0" rtl="0" algn="ctr">
                        <a:lnSpc>
                          <a:spcPct val="115000"/>
                        </a:lnSpc>
                        <a:spcBef>
                          <a:spcPts val="0"/>
                        </a:spcBef>
                        <a:spcAft>
                          <a:spcPts val="0"/>
                        </a:spcAft>
                        <a:buNone/>
                      </a:pPr>
                      <a:r>
                        <a:rPr b="1" lang="en-US">
                          <a:solidFill>
                            <a:schemeClr val="lt1"/>
                          </a:solidFill>
                          <a:latin typeface="Lato"/>
                          <a:ea typeface="Lato"/>
                          <a:cs typeface="Lato"/>
                          <a:sym typeface="Lato"/>
                        </a:rPr>
                        <a:t>Resolution</a:t>
                      </a:r>
                      <a:endParaRPr b="1">
                        <a:solidFill>
                          <a:schemeClr val="lt1"/>
                        </a:solidFill>
                        <a:latin typeface="Lato"/>
                        <a:ea typeface="Lato"/>
                        <a:cs typeface="Lato"/>
                        <a:sym typeface="Lato"/>
                      </a:endParaRPr>
                    </a:p>
                  </a:txBody>
                  <a:tcPr marT="91425" marB="91425" marR="91425" marL="91425">
                    <a:noFill/>
                  </a:tcPr>
                </a:tc>
                <a:tc>
                  <a:txBody>
                    <a:bodyPr/>
                    <a:lstStyle/>
                    <a:p>
                      <a:pPr indent="0" lvl="0" marL="0" rtl="0" algn="ctr">
                        <a:lnSpc>
                          <a:spcPct val="115000"/>
                        </a:lnSpc>
                        <a:spcBef>
                          <a:spcPts val="0"/>
                        </a:spcBef>
                        <a:spcAft>
                          <a:spcPts val="0"/>
                        </a:spcAft>
                        <a:buNone/>
                      </a:pPr>
                      <a:r>
                        <a:rPr b="1" lang="en-US">
                          <a:solidFill>
                            <a:schemeClr val="lt1"/>
                          </a:solidFill>
                          <a:latin typeface="Lato"/>
                          <a:ea typeface="Lato"/>
                          <a:cs typeface="Lato"/>
                          <a:sym typeface="Lato"/>
                        </a:rPr>
                        <a:t>Key Indicator / How We Diagnosed It</a:t>
                      </a:r>
                      <a:endParaRPr b="1">
                        <a:solidFill>
                          <a:schemeClr val="lt1"/>
                        </a:solidFill>
                        <a:latin typeface="Lato"/>
                        <a:ea typeface="Lato"/>
                        <a:cs typeface="Lato"/>
                        <a:sym typeface="Lato"/>
                      </a:endParaRPr>
                    </a:p>
                  </a:txBody>
                  <a:tcPr marT="91425" marB="91425" marR="91425" marL="91425">
                    <a:noFill/>
                  </a:tcPr>
                </a:tc>
              </a:tr>
              <a:tr h="381000">
                <a:tc>
                  <a:txBody>
                    <a:bodyPr/>
                    <a:lstStyle/>
                    <a:p>
                      <a:pPr indent="0" lvl="0" marL="0" rtl="0" algn="ctr">
                        <a:spcBef>
                          <a:spcPts val="0"/>
                        </a:spcBef>
                        <a:spcAft>
                          <a:spcPts val="0"/>
                        </a:spcAft>
                        <a:buNone/>
                      </a:pPr>
                      <a:r>
                        <a:rPr b="1" lang="en-US" sz="1200">
                          <a:solidFill>
                            <a:schemeClr val="lt1"/>
                          </a:solidFill>
                          <a:latin typeface="Lato"/>
                          <a:ea typeface="Lato"/>
                          <a:cs typeface="Lato"/>
                          <a:sym typeface="Lato"/>
                        </a:rPr>
                        <a:t>VLAN Communication Failure</a:t>
                      </a:r>
                      <a:endParaRPr b="1" sz="1200">
                        <a:solidFill>
                          <a:schemeClr val="lt1"/>
                        </a:solidFill>
                        <a:latin typeface="Lato"/>
                        <a:ea typeface="Lato"/>
                        <a:cs typeface="Lato"/>
                        <a:sym typeface="Lato"/>
                      </a:endParaRPr>
                    </a:p>
                  </a:txBody>
                  <a:tcPr marT="91425" marB="91425" marR="91425" marL="91425">
                    <a:noFill/>
                  </a:tcPr>
                </a:tc>
                <a:tc>
                  <a:txBody>
                    <a:bodyPr/>
                    <a:lstStyle/>
                    <a:p>
                      <a:pPr indent="0" lvl="0" marL="0" rtl="0" algn="ctr">
                        <a:spcBef>
                          <a:spcPts val="0"/>
                        </a:spcBef>
                        <a:spcAft>
                          <a:spcPts val="0"/>
                        </a:spcAft>
                        <a:buNone/>
                      </a:pPr>
                      <a:r>
                        <a:rPr b="1" lang="en-US" sz="1200">
                          <a:solidFill>
                            <a:schemeClr val="lt1"/>
                          </a:solidFill>
                          <a:latin typeface="Lato"/>
                          <a:ea typeface="Lato"/>
                          <a:cs typeface="Lato"/>
                          <a:sym typeface="Lato"/>
                        </a:rPr>
                        <a:t>Required VLANs (100, 103, 104, 106, 107) were not created on the Access Switches and uplink ports were still in access mode.</a:t>
                      </a:r>
                      <a:endParaRPr b="1" sz="1200">
                        <a:solidFill>
                          <a:schemeClr val="lt1"/>
                        </a:solidFill>
                        <a:latin typeface="Lato"/>
                        <a:ea typeface="Lato"/>
                        <a:cs typeface="Lato"/>
                        <a:sym typeface="Lato"/>
                      </a:endParaRPr>
                    </a:p>
                  </a:txBody>
                  <a:tcPr marT="91425" marB="91425" marR="91425" marL="91425">
                    <a:noFill/>
                  </a:tcPr>
                </a:tc>
                <a:tc>
                  <a:txBody>
                    <a:bodyPr/>
                    <a:lstStyle/>
                    <a:p>
                      <a:pPr indent="0" lvl="0" marL="0" rtl="0" algn="ctr">
                        <a:spcBef>
                          <a:spcPts val="0"/>
                        </a:spcBef>
                        <a:spcAft>
                          <a:spcPts val="0"/>
                        </a:spcAft>
                        <a:buNone/>
                      </a:pPr>
                      <a:r>
                        <a:rPr b="1" lang="en-US" sz="1200">
                          <a:solidFill>
                            <a:schemeClr val="lt1"/>
                          </a:solidFill>
                          <a:latin typeface="Lato"/>
                          <a:ea typeface="Lato"/>
                          <a:cs typeface="Lato"/>
                          <a:sym typeface="Lato"/>
                        </a:rPr>
                        <a:t>Added VLANs to each Access Switch and set uplinks to switchport mode trunk.</a:t>
                      </a:r>
                      <a:endParaRPr b="1" sz="1200">
                        <a:solidFill>
                          <a:schemeClr val="lt1"/>
                        </a:solidFill>
                        <a:latin typeface="Lato"/>
                        <a:ea typeface="Lato"/>
                        <a:cs typeface="Lato"/>
                        <a:sym typeface="Lato"/>
                      </a:endParaRPr>
                    </a:p>
                  </a:txBody>
                  <a:tcPr marT="91425" marB="91425" marR="91425" marL="91425">
                    <a:noFill/>
                  </a:tcPr>
                </a:tc>
                <a:tc>
                  <a:txBody>
                    <a:bodyPr/>
                    <a:lstStyle/>
                    <a:p>
                      <a:pPr indent="0" lvl="0" marL="0" rtl="0" algn="ctr">
                        <a:spcBef>
                          <a:spcPts val="0"/>
                        </a:spcBef>
                        <a:spcAft>
                          <a:spcPts val="0"/>
                        </a:spcAft>
                        <a:buNone/>
                      </a:pPr>
                      <a:r>
                        <a:rPr b="1" lang="en-US" sz="1200">
                          <a:solidFill>
                            <a:schemeClr val="lt1"/>
                          </a:solidFill>
                          <a:latin typeface="Lato"/>
                          <a:ea typeface="Lato"/>
                          <a:cs typeface="Lato"/>
                          <a:sym typeface="Lato"/>
                        </a:rPr>
                        <a:t>show vlan brief on Access Switch did not list the VLANs → VLAN traffic was being dropped.</a:t>
                      </a:r>
                      <a:endParaRPr b="1" sz="1200">
                        <a:solidFill>
                          <a:schemeClr val="lt1"/>
                        </a:solidFill>
                        <a:latin typeface="Lato"/>
                        <a:ea typeface="Lato"/>
                        <a:cs typeface="Lato"/>
                        <a:sym typeface="Lato"/>
                      </a:endParaRPr>
                    </a:p>
                  </a:txBody>
                  <a:tcPr marT="91425" marB="91425" marR="91425" marL="91425">
                    <a:noFill/>
                  </a:tcPr>
                </a:tc>
              </a:tr>
              <a:tr h="381000">
                <a:tc>
                  <a:txBody>
                    <a:bodyPr/>
                    <a:lstStyle/>
                    <a:p>
                      <a:pPr indent="0" lvl="0" marL="0" rtl="0" algn="ctr">
                        <a:spcBef>
                          <a:spcPts val="0"/>
                        </a:spcBef>
                        <a:spcAft>
                          <a:spcPts val="0"/>
                        </a:spcAft>
                        <a:buNone/>
                      </a:pPr>
                      <a:r>
                        <a:rPr b="1" lang="en-US" sz="1200">
                          <a:solidFill>
                            <a:schemeClr val="lt1"/>
                          </a:solidFill>
                          <a:latin typeface="Lato"/>
                          <a:ea typeface="Lato"/>
                          <a:cs typeface="Lato"/>
                          <a:sym typeface="Lato"/>
                        </a:rPr>
                        <a:t>DHCP Address Conflicts</a:t>
                      </a:r>
                      <a:endParaRPr b="1" sz="1200">
                        <a:solidFill>
                          <a:schemeClr val="lt1"/>
                        </a:solidFill>
                        <a:latin typeface="Lato"/>
                        <a:ea typeface="Lato"/>
                        <a:cs typeface="Lato"/>
                        <a:sym typeface="Lato"/>
                      </a:endParaRPr>
                    </a:p>
                  </a:txBody>
                  <a:tcPr marT="91425" marB="91425" marR="91425" marL="91425">
                    <a:noFill/>
                  </a:tcPr>
                </a:tc>
                <a:tc>
                  <a:txBody>
                    <a:bodyPr/>
                    <a:lstStyle/>
                    <a:p>
                      <a:pPr indent="0" lvl="0" marL="0" rtl="0" algn="ctr">
                        <a:spcBef>
                          <a:spcPts val="0"/>
                        </a:spcBef>
                        <a:spcAft>
                          <a:spcPts val="0"/>
                        </a:spcAft>
                        <a:buNone/>
                      </a:pPr>
                      <a:r>
                        <a:rPr b="1" lang="en-US" sz="1200">
                          <a:solidFill>
                            <a:schemeClr val="lt1"/>
                          </a:solidFill>
                          <a:latin typeface="Lato"/>
                          <a:ea typeface="Lato"/>
                          <a:cs typeface="Lato"/>
                          <a:sym typeface="Lato"/>
                        </a:rPr>
                        <a:t>DHCP pools overlapped initial static device IPs.</a:t>
                      </a:r>
                      <a:endParaRPr b="1" sz="1200">
                        <a:solidFill>
                          <a:schemeClr val="lt1"/>
                        </a:solidFill>
                        <a:latin typeface="Lato"/>
                        <a:ea typeface="Lato"/>
                        <a:cs typeface="Lato"/>
                        <a:sym typeface="Lato"/>
                      </a:endParaRPr>
                    </a:p>
                  </a:txBody>
                  <a:tcPr marT="91425" marB="91425" marR="91425" marL="91425">
                    <a:noFill/>
                  </a:tcPr>
                </a:tc>
                <a:tc>
                  <a:txBody>
                    <a:bodyPr/>
                    <a:lstStyle/>
                    <a:p>
                      <a:pPr indent="0" lvl="0" marL="0" rtl="0" algn="ctr">
                        <a:spcBef>
                          <a:spcPts val="0"/>
                        </a:spcBef>
                        <a:spcAft>
                          <a:spcPts val="0"/>
                        </a:spcAft>
                        <a:buNone/>
                      </a:pPr>
                      <a:r>
                        <a:rPr b="1" lang="en-US" sz="1200">
                          <a:solidFill>
                            <a:schemeClr val="lt1"/>
                          </a:solidFill>
                          <a:latin typeface="Lato"/>
                          <a:ea typeface="Lato"/>
                          <a:cs typeface="Lato"/>
                          <a:sym typeface="Lato"/>
                        </a:rPr>
                        <a:t>Reserved/excluded static IP addresses and re-issued DHCP leases.</a:t>
                      </a:r>
                      <a:endParaRPr b="1" sz="1200">
                        <a:solidFill>
                          <a:schemeClr val="lt1"/>
                        </a:solidFill>
                        <a:latin typeface="Lato"/>
                        <a:ea typeface="Lato"/>
                        <a:cs typeface="Lato"/>
                        <a:sym typeface="Lato"/>
                      </a:endParaRPr>
                    </a:p>
                  </a:txBody>
                  <a:tcPr marT="91425" marB="91425" marR="91425" marL="91425">
                    <a:noFill/>
                  </a:tcPr>
                </a:tc>
                <a:tc>
                  <a:txBody>
                    <a:bodyPr/>
                    <a:lstStyle/>
                    <a:p>
                      <a:pPr indent="0" lvl="0" marL="0" rtl="0" algn="ctr">
                        <a:spcBef>
                          <a:spcPts val="0"/>
                        </a:spcBef>
                        <a:spcAft>
                          <a:spcPts val="0"/>
                        </a:spcAft>
                        <a:buNone/>
                      </a:pPr>
                      <a:r>
                        <a:rPr b="1" lang="en-US" sz="1200">
                          <a:solidFill>
                            <a:schemeClr val="lt1"/>
                          </a:solidFill>
                          <a:latin typeface="Lato"/>
                          <a:ea typeface="Lato"/>
                          <a:cs typeface="Lato"/>
                          <a:sym typeface="Lato"/>
                        </a:rPr>
                        <a:t>Devices received unexpected IPs / duplicate IP warnings.</a:t>
                      </a:r>
                      <a:endParaRPr b="1" sz="1200">
                        <a:solidFill>
                          <a:schemeClr val="lt1"/>
                        </a:solidFill>
                        <a:latin typeface="Lato"/>
                        <a:ea typeface="Lato"/>
                        <a:cs typeface="Lato"/>
                        <a:sym typeface="Lato"/>
                      </a:endParaRPr>
                    </a:p>
                  </a:txBody>
                  <a:tcPr marT="91425" marB="91425" marR="91425" marL="91425">
                    <a:noFill/>
                  </a:tcPr>
                </a:tc>
              </a:tr>
              <a:tr h="381000">
                <a:tc>
                  <a:txBody>
                    <a:bodyPr/>
                    <a:lstStyle/>
                    <a:p>
                      <a:pPr indent="0" lvl="0" marL="0" rtl="0" algn="ctr">
                        <a:spcBef>
                          <a:spcPts val="0"/>
                        </a:spcBef>
                        <a:spcAft>
                          <a:spcPts val="0"/>
                        </a:spcAft>
                        <a:buNone/>
                      </a:pPr>
                      <a:r>
                        <a:rPr b="1" lang="en-US" sz="1200">
                          <a:solidFill>
                            <a:schemeClr val="lt1"/>
                          </a:solidFill>
                          <a:latin typeface="Lato"/>
                          <a:ea typeface="Lato"/>
                          <a:cs typeface="Lato"/>
                          <a:sym typeface="Lato"/>
                        </a:rPr>
                        <a:t>Inter-VLAN Routing Failure (Early Stage)</a:t>
                      </a:r>
                      <a:endParaRPr b="1" sz="1200">
                        <a:solidFill>
                          <a:schemeClr val="lt1"/>
                        </a:solidFill>
                        <a:latin typeface="Lato"/>
                        <a:ea typeface="Lato"/>
                        <a:cs typeface="Lato"/>
                        <a:sym typeface="Lato"/>
                      </a:endParaRPr>
                    </a:p>
                  </a:txBody>
                  <a:tcPr marT="91425" marB="91425" marR="91425" marL="91425">
                    <a:noFill/>
                  </a:tcPr>
                </a:tc>
                <a:tc>
                  <a:txBody>
                    <a:bodyPr/>
                    <a:lstStyle/>
                    <a:p>
                      <a:pPr indent="0" lvl="0" marL="0" rtl="0" algn="ctr">
                        <a:spcBef>
                          <a:spcPts val="0"/>
                        </a:spcBef>
                        <a:spcAft>
                          <a:spcPts val="0"/>
                        </a:spcAft>
                        <a:buNone/>
                      </a:pPr>
                      <a:r>
                        <a:rPr b="1" lang="en-US" sz="1200">
                          <a:solidFill>
                            <a:schemeClr val="lt1"/>
                          </a:solidFill>
                          <a:latin typeface="Lato"/>
                          <a:ea typeface="Lato"/>
                          <a:cs typeface="Lato"/>
                          <a:sym typeface="Lato"/>
                        </a:rPr>
                        <a:t>ip routing was not enabled initially on the Core Switch.</a:t>
                      </a:r>
                      <a:endParaRPr b="1" sz="1200">
                        <a:solidFill>
                          <a:schemeClr val="lt1"/>
                        </a:solidFill>
                        <a:latin typeface="Lato"/>
                        <a:ea typeface="Lato"/>
                        <a:cs typeface="Lato"/>
                        <a:sym typeface="Lato"/>
                      </a:endParaRPr>
                    </a:p>
                  </a:txBody>
                  <a:tcPr marT="91425" marB="91425" marR="91425" marL="91425">
                    <a:noFill/>
                  </a:tcPr>
                </a:tc>
                <a:tc>
                  <a:txBody>
                    <a:bodyPr/>
                    <a:lstStyle/>
                    <a:p>
                      <a:pPr indent="0" lvl="0" marL="0" rtl="0" algn="ctr">
                        <a:spcBef>
                          <a:spcPts val="0"/>
                        </a:spcBef>
                        <a:spcAft>
                          <a:spcPts val="0"/>
                        </a:spcAft>
                        <a:buNone/>
                      </a:pPr>
                      <a:r>
                        <a:rPr b="1" lang="en-US" sz="1200">
                          <a:solidFill>
                            <a:schemeClr val="lt1"/>
                          </a:solidFill>
                          <a:latin typeface="Lato"/>
                          <a:ea typeface="Lato"/>
                          <a:cs typeface="Lato"/>
                          <a:sym typeface="Lato"/>
                        </a:rPr>
                        <a:t>Enabled Layer 3 routing with ip routing.</a:t>
                      </a:r>
                      <a:endParaRPr b="1" sz="1200">
                        <a:solidFill>
                          <a:schemeClr val="lt1"/>
                        </a:solidFill>
                        <a:latin typeface="Lato"/>
                        <a:ea typeface="Lato"/>
                        <a:cs typeface="Lato"/>
                        <a:sym typeface="Lato"/>
                      </a:endParaRPr>
                    </a:p>
                  </a:txBody>
                  <a:tcPr marT="91425" marB="91425" marR="91425" marL="91425">
                    <a:noFill/>
                  </a:tcPr>
                </a:tc>
                <a:tc>
                  <a:txBody>
                    <a:bodyPr/>
                    <a:lstStyle/>
                    <a:p>
                      <a:pPr indent="0" lvl="0" marL="0" rtl="0" algn="ctr">
                        <a:spcBef>
                          <a:spcPts val="0"/>
                        </a:spcBef>
                        <a:spcAft>
                          <a:spcPts val="0"/>
                        </a:spcAft>
                        <a:buNone/>
                      </a:pPr>
                      <a:r>
                        <a:rPr b="1" lang="en-US" sz="1200">
                          <a:solidFill>
                            <a:schemeClr val="lt1"/>
                          </a:solidFill>
                          <a:latin typeface="Lato"/>
                          <a:ea typeface="Lato"/>
                          <a:cs typeface="Lato"/>
                          <a:sym typeface="Lato"/>
                        </a:rPr>
                        <a:t>Pings between VLANs timed out until routing was enabled.</a:t>
                      </a:r>
                      <a:endParaRPr b="1" sz="1200">
                        <a:solidFill>
                          <a:schemeClr val="lt1"/>
                        </a:solidFill>
                        <a:latin typeface="Lato"/>
                        <a:ea typeface="Lato"/>
                        <a:cs typeface="Lato"/>
                        <a:sym typeface="Lato"/>
                      </a:endParaRPr>
                    </a:p>
                  </a:txBody>
                  <a:tcPr marT="91425" marB="91425" marR="91425" marL="91425">
                    <a:noFill/>
                  </a:tcPr>
                </a:tc>
              </a:tr>
              <a:tr h="381000">
                <a:tc>
                  <a:txBody>
                    <a:bodyPr/>
                    <a:lstStyle/>
                    <a:p>
                      <a:pPr indent="0" lvl="0" marL="0" rtl="0" algn="ctr">
                        <a:spcBef>
                          <a:spcPts val="0"/>
                        </a:spcBef>
                        <a:spcAft>
                          <a:spcPts val="0"/>
                        </a:spcAft>
                        <a:buNone/>
                      </a:pPr>
                      <a:r>
                        <a:rPr b="1" lang="en-US" sz="1200">
                          <a:solidFill>
                            <a:schemeClr val="lt1"/>
                          </a:solidFill>
                          <a:latin typeface="Lato"/>
                          <a:ea typeface="Lato"/>
                          <a:cs typeface="Lato"/>
                          <a:sym typeface="Lato"/>
                        </a:rPr>
                        <a:t>External Network Reachability Issue</a:t>
                      </a:r>
                      <a:endParaRPr b="1" sz="1200">
                        <a:solidFill>
                          <a:schemeClr val="lt1"/>
                        </a:solidFill>
                        <a:latin typeface="Lato"/>
                        <a:ea typeface="Lato"/>
                        <a:cs typeface="Lato"/>
                        <a:sym typeface="Lato"/>
                      </a:endParaRPr>
                    </a:p>
                  </a:txBody>
                  <a:tcPr marT="91425" marB="91425" marR="91425" marL="91425">
                    <a:noFill/>
                  </a:tcPr>
                </a:tc>
                <a:tc>
                  <a:txBody>
                    <a:bodyPr/>
                    <a:lstStyle/>
                    <a:p>
                      <a:pPr indent="0" lvl="0" marL="0" rtl="0" algn="ctr">
                        <a:spcBef>
                          <a:spcPts val="0"/>
                        </a:spcBef>
                        <a:spcAft>
                          <a:spcPts val="0"/>
                        </a:spcAft>
                        <a:buNone/>
                      </a:pPr>
                      <a:r>
                        <a:rPr b="1" lang="en-US" sz="1200">
                          <a:solidFill>
                            <a:schemeClr val="lt1"/>
                          </a:solidFill>
                          <a:latin typeface="Lato"/>
                          <a:ea typeface="Lato"/>
                          <a:cs typeface="Lato"/>
                          <a:sym typeface="Lato"/>
                        </a:rPr>
                        <a:t>Missing default static route to Edge Router.</a:t>
                      </a:r>
                      <a:endParaRPr b="1" sz="1200">
                        <a:solidFill>
                          <a:schemeClr val="lt1"/>
                        </a:solidFill>
                        <a:latin typeface="Lato"/>
                        <a:ea typeface="Lato"/>
                        <a:cs typeface="Lato"/>
                        <a:sym typeface="Lato"/>
                      </a:endParaRPr>
                    </a:p>
                  </a:txBody>
                  <a:tcPr marT="91425" marB="91425" marR="91425" marL="91425">
                    <a:noFill/>
                  </a:tcPr>
                </a:tc>
                <a:tc>
                  <a:txBody>
                    <a:bodyPr/>
                    <a:lstStyle/>
                    <a:p>
                      <a:pPr indent="0" lvl="0" marL="0" rtl="0" algn="ctr">
                        <a:spcBef>
                          <a:spcPts val="0"/>
                        </a:spcBef>
                        <a:spcAft>
                          <a:spcPts val="0"/>
                        </a:spcAft>
                        <a:buNone/>
                      </a:pPr>
                      <a:r>
                        <a:rPr b="1" lang="en-US" sz="1200">
                          <a:solidFill>
                            <a:schemeClr val="lt1"/>
                          </a:solidFill>
                          <a:latin typeface="Lato"/>
                          <a:ea typeface="Lato"/>
                          <a:cs typeface="Lato"/>
                          <a:sym typeface="Lato"/>
                        </a:rPr>
                        <a:t>Added ip route 0.0.0.0 0.0.0.0 192.168.1.2. For demo purposes, also added 8.8.8.8 on Loopback.</a:t>
                      </a:r>
                      <a:endParaRPr b="1" sz="1200">
                        <a:solidFill>
                          <a:schemeClr val="lt1"/>
                        </a:solidFill>
                        <a:latin typeface="Lato"/>
                        <a:ea typeface="Lato"/>
                        <a:cs typeface="Lato"/>
                        <a:sym typeface="Lato"/>
                      </a:endParaRPr>
                    </a:p>
                  </a:txBody>
                  <a:tcPr marT="91425" marB="91425" marR="91425" marL="91425">
                    <a:noFill/>
                  </a:tcPr>
                </a:tc>
                <a:tc>
                  <a:txBody>
                    <a:bodyPr/>
                    <a:lstStyle/>
                    <a:p>
                      <a:pPr indent="0" lvl="0" marL="0" rtl="0" algn="ctr">
                        <a:spcBef>
                          <a:spcPts val="0"/>
                        </a:spcBef>
                        <a:spcAft>
                          <a:spcPts val="0"/>
                        </a:spcAft>
                        <a:buNone/>
                      </a:pPr>
                      <a:r>
                        <a:rPr b="1" lang="en-US" sz="1200">
                          <a:solidFill>
                            <a:schemeClr val="lt1"/>
                          </a:solidFill>
                          <a:latin typeface="Lato"/>
                          <a:ea typeface="Lato"/>
                          <a:cs typeface="Lato"/>
                          <a:sym typeface="Lato"/>
                        </a:rPr>
                        <a:t>Pings to Edge Router interface (192.168.1.2) failed before route was set.</a:t>
                      </a:r>
                      <a:endParaRPr b="1" sz="1200">
                        <a:solidFill>
                          <a:schemeClr val="lt1"/>
                        </a:solidFill>
                        <a:latin typeface="Lato"/>
                        <a:ea typeface="Lato"/>
                        <a:cs typeface="Lato"/>
                        <a:sym typeface="Lato"/>
                      </a:endParaRPr>
                    </a:p>
                  </a:txBody>
                  <a:tcPr marT="91425" marB="91425" marR="91425" marL="91425">
                    <a:noFill/>
                  </a:tcPr>
                </a:tc>
              </a:tr>
            </a:tbl>
          </a:graphicData>
        </a:graphic>
      </p:graphicFrame>
      <p:pic>
        <p:nvPicPr>
          <p:cNvPr id="354" name="Google Shape;354;p35"/>
          <p:cNvPicPr preferRelativeResize="0"/>
          <p:nvPr/>
        </p:nvPicPr>
        <p:blipFill rotWithShape="1">
          <a:blip r:embed="rId3">
            <a:alphaModFix/>
          </a:blip>
          <a:srcRect b="11567" l="0" r="0" t="11574"/>
          <a:stretch/>
        </p:blipFill>
        <p:spPr>
          <a:xfrm>
            <a:off x="339825" y="6140525"/>
            <a:ext cx="1214557" cy="466725"/>
          </a:xfrm>
          <a:prstGeom prst="rect">
            <a:avLst/>
          </a:prstGeom>
          <a:noFill/>
          <a:ln>
            <a:noFill/>
          </a:ln>
        </p:spPr>
      </p:pic>
      <p:sp>
        <p:nvSpPr>
          <p:cNvPr id="355" name="Google Shape;355;p35"/>
          <p:cNvSpPr txBox="1"/>
          <p:nvPr/>
        </p:nvSpPr>
        <p:spPr>
          <a:xfrm>
            <a:off x="9717300" y="6451000"/>
            <a:ext cx="1973700" cy="2925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700"/>
              <a:buFont typeface="Arial"/>
              <a:buNone/>
            </a:pPr>
            <a:r>
              <a:rPr b="0" i="0" lang="en-US" sz="700" u="none" cap="none" strike="noStrike">
                <a:solidFill>
                  <a:schemeClr val="lt1"/>
                </a:solidFill>
                <a:latin typeface="Nunito"/>
                <a:ea typeface="Nunito"/>
                <a:cs typeface="Nunito"/>
                <a:sym typeface="Nunito"/>
              </a:rPr>
              <a:t>MO-IT104 Computer Networks</a:t>
            </a:r>
            <a:endParaRPr b="0" i="0" sz="700" u="none" cap="none" strike="noStrike">
              <a:solidFill>
                <a:schemeClr val="lt1"/>
              </a:solidFill>
              <a:latin typeface="Nunito"/>
              <a:ea typeface="Nunito"/>
              <a:cs typeface="Nunito"/>
              <a:sym typeface="Nuni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59" name="Shape 359"/>
        <p:cNvGrpSpPr/>
        <p:nvPr/>
      </p:nvGrpSpPr>
      <p:grpSpPr>
        <a:xfrm>
          <a:off x="0" y="0"/>
          <a:ext cx="0" cy="0"/>
          <a:chOff x="0" y="0"/>
          <a:chExt cx="0" cy="0"/>
        </a:xfrm>
      </p:grpSpPr>
      <p:sp>
        <p:nvSpPr>
          <p:cNvPr id="360" name="Google Shape;360;p36"/>
          <p:cNvSpPr txBox="1"/>
          <p:nvPr/>
        </p:nvSpPr>
        <p:spPr>
          <a:xfrm>
            <a:off x="1694102" y="2620800"/>
            <a:ext cx="8803800" cy="808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5250">
                <a:solidFill>
                  <a:srgbClr val="FFFFFF"/>
                </a:solidFill>
                <a:latin typeface="Urbanist"/>
                <a:ea typeface="Urbanist"/>
                <a:cs typeface="Urbanist"/>
                <a:sym typeface="Urbanist"/>
              </a:rPr>
              <a:t>Thank you</a:t>
            </a:r>
            <a:endParaRPr/>
          </a:p>
        </p:txBody>
      </p:sp>
      <p:sp>
        <p:nvSpPr>
          <p:cNvPr id="361" name="Google Shape;361;p36"/>
          <p:cNvSpPr txBox="1"/>
          <p:nvPr/>
        </p:nvSpPr>
        <p:spPr>
          <a:xfrm>
            <a:off x="2814612" y="3429000"/>
            <a:ext cx="6562800" cy="2154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t/>
            </a:r>
            <a:endParaRPr/>
          </a:p>
        </p:txBody>
      </p:sp>
      <p:sp>
        <p:nvSpPr>
          <p:cNvPr id="362" name="Google Shape;362;p36"/>
          <p:cNvSpPr txBox="1"/>
          <p:nvPr/>
        </p:nvSpPr>
        <p:spPr>
          <a:xfrm>
            <a:off x="297750" y="6197400"/>
            <a:ext cx="5232600" cy="66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chemeClr val="lt1"/>
                </a:solidFill>
                <a:latin typeface="Lato"/>
                <a:ea typeface="Lato"/>
                <a:cs typeface="Lato"/>
                <a:sym typeface="Lato"/>
              </a:rPr>
              <a:t>Richard Catorce</a:t>
            </a:r>
            <a:endParaRPr sz="2000">
              <a:solidFill>
                <a:schemeClr val="lt1"/>
              </a:solidFill>
              <a:latin typeface="Lato"/>
              <a:ea typeface="Lato"/>
              <a:cs typeface="Lato"/>
              <a:sym typeface="Lato"/>
            </a:endParaRPr>
          </a:p>
        </p:txBody>
      </p:sp>
      <p:sp>
        <p:nvSpPr>
          <p:cNvPr id="363" name="Google Shape;363;p36"/>
          <p:cNvSpPr txBox="1"/>
          <p:nvPr/>
        </p:nvSpPr>
        <p:spPr>
          <a:xfrm>
            <a:off x="297750" y="5662575"/>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solidFill>
                  <a:schemeClr val="lt1"/>
                </a:solidFill>
                <a:latin typeface="Lato"/>
                <a:ea typeface="Lato"/>
                <a:cs typeface="Lato"/>
                <a:sym typeface="Lato"/>
              </a:rPr>
              <a:t>Abdullah Alhadad</a:t>
            </a:r>
            <a:endParaRPr/>
          </a:p>
        </p:txBody>
      </p:sp>
      <p:sp>
        <p:nvSpPr>
          <p:cNvPr id="364" name="Google Shape;364;p36"/>
          <p:cNvSpPr txBox="1"/>
          <p:nvPr/>
        </p:nvSpPr>
        <p:spPr>
          <a:xfrm>
            <a:off x="297750" y="5220138"/>
            <a:ext cx="204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chemeClr val="lt1"/>
                </a:solidFill>
                <a:latin typeface="Lato"/>
                <a:ea typeface="Lato"/>
                <a:cs typeface="Lato"/>
                <a:sym typeface="Lato"/>
              </a:rPr>
              <a:t>Presented by:</a:t>
            </a:r>
            <a:endParaRPr b="1" sz="800"/>
          </a:p>
        </p:txBody>
      </p:sp>
      <p:sp>
        <p:nvSpPr>
          <p:cNvPr id="365" name="Google Shape;365;p36"/>
          <p:cNvSpPr txBox="1"/>
          <p:nvPr/>
        </p:nvSpPr>
        <p:spPr>
          <a:xfrm>
            <a:off x="2814625" y="5262363"/>
            <a:ext cx="204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chemeClr val="lt1"/>
                </a:solidFill>
                <a:latin typeface="Lato"/>
                <a:ea typeface="Lato"/>
                <a:cs typeface="Lato"/>
                <a:sym typeface="Lato"/>
              </a:rPr>
              <a:t>Section:</a:t>
            </a:r>
            <a:endParaRPr b="1" sz="800"/>
          </a:p>
        </p:txBody>
      </p:sp>
      <p:sp>
        <p:nvSpPr>
          <p:cNvPr id="366" name="Google Shape;366;p36"/>
          <p:cNvSpPr txBox="1"/>
          <p:nvPr/>
        </p:nvSpPr>
        <p:spPr>
          <a:xfrm>
            <a:off x="2814625" y="5662575"/>
            <a:ext cx="5232600" cy="66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chemeClr val="lt1"/>
                </a:solidFill>
                <a:latin typeface="Lato"/>
                <a:ea typeface="Lato"/>
                <a:cs typeface="Lato"/>
                <a:sym typeface="Lato"/>
              </a:rPr>
              <a:t>MO-IT104 - S2101</a:t>
            </a:r>
            <a:endParaRPr sz="2000">
              <a:solidFill>
                <a:schemeClr val="lt1"/>
              </a:solidFill>
              <a:latin typeface="Lato"/>
              <a:ea typeface="Lato"/>
              <a:cs typeface="Lato"/>
              <a:sym typeface="Lato"/>
            </a:endParaRPr>
          </a:p>
        </p:txBody>
      </p:sp>
      <p:pic>
        <p:nvPicPr>
          <p:cNvPr id="367" name="Google Shape;367;p36"/>
          <p:cNvPicPr preferRelativeResize="0"/>
          <p:nvPr/>
        </p:nvPicPr>
        <p:blipFill rotWithShape="1">
          <a:blip r:embed="rId4">
            <a:alphaModFix/>
          </a:blip>
          <a:srcRect b="11567" l="0" r="0" t="11574"/>
          <a:stretch/>
        </p:blipFill>
        <p:spPr>
          <a:xfrm>
            <a:off x="2814600" y="6294338"/>
            <a:ext cx="1214557" cy="466725"/>
          </a:xfrm>
          <a:prstGeom prst="rect">
            <a:avLst/>
          </a:prstGeom>
          <a:noFill/>
          <a:ln>
            <a:noFill/>
          </a:ln>
        </p:spPr>
      </p:pic>
      <p:sp>
        <p:nvSpPr>
          <p:cNvPr id="368" name="Google Shape;368;p36"/>
          <p:cNvSpPr txBox="1"/>
          <p:nvPr/>
        </p:nvSpPr>
        <p:spPr>
          <a:xfrm>
            <a:off x="9717300" y="6451000"/>
            <a:ext cx="1973700" cy="2925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700"/>
              <a:buFont typeface="Arial"/>
              <a:buNone/>
            </a:pPr>
            <a:r>
              <a:rPr b="0" i="0" lang="en-US" sz="700" u="none" cap="none" strike="noStrike">
                <a:solidFill>
                  <a:schemeClr val="lt1"/>
                </a:solidFill>
                <a:latin typeface="Nunito"/>
                <a:ea typeface="Nunito"/>
                <a:cs typeface="Nunito"/>
                <a:sym typeface="Nunito"/>
              </a:rPr>
              <a:t>MO-IT104 Computer Networks</a:t>
            </a:r>
            <a:endParaRPr b="0" i="0" sz="700" u="none" cap="none" strike="noStrike">
              <a:solidFill>
                <a:schemeClr val="lt1"/>
              </a:solidFill>
              <a:latin typeface="Nunito"/>
              <a:ea typeface="Nunito"/>
              <a:cs typeface="Nunito"/>
              <a:sym typeface="Nuni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